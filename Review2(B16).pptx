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8" r:id="rId3"/>
    <p:sldId id="266" r:id="rId4"/>
    <p:sldId id="270" r:id="rId5"/>
    <p:sldId id="274" r:id="rId6"/>
    <p:sldId id="260" r:id="rId7"/>
    <p:sldId id="275" r:id="rId8"/>
    <p:sldId id="271" r:id="rId9"/>
    <p:sldId id="276" r:id="rId10"/>
    <p:sldId id="277" r:id="rId11"/>
    <p:sldId id="272" r:id="rId12"/>
    <p:sldId id="273" r:id="rId13"/>
    <p:sldId id="264" r:id="rId14"/>
    <p:sldId id="265" r:id="rId15"/>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352" autoAdjust="0"/>
    <p:restoredTop sz="94692"/>
  </p:normalViewPr>
  <p:slideViewPr>
    <p:cSldViewPr>
      <p:cViewPr varScale="1">
        <p:scale>
          <a:sx n="114" d="100"/>
          <a:sy n="114" d="100"/>
        </p:scale>
        <p:origin x="336" y="11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0E791910-4FED-4A69-9027-872062396EBD}" type="datetimeFigureOut">
              <a:rPr lang="en-IN" smtClean="0"/>
              <a:t>06/04/26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23472F7-00EC-40F3-A111-228D446E4BD5}" type="slidenum">
              <a:rPr lang="en-IN" smtClean="0"/>
              <a:t>‹#›</a:t>
            </a:fld>
            <a:endParaRPr lang="en-IN"/>
          </a:p>
        </p:txBody>
      </p:sp>
    </p:spTree>
    <p:extLst>
      <p:ext uri="{BB962C8B-B14F-4D97-AF65-F5344CB8AC3E}">
        <p14:creationId xmlns:p14="http://schemas.microsoft.com/office/powerpoint/2010/main" val="1855936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t>1</a:t>
            </a:fld>
            <a:endParaRPr lang="en-IN"/>
          </a:p>
        </p:txBody>
      </p:sp>
    </p:spTree>
    <p:extLst>
      <p:ext uri="{BB962C8B-B14F-4D97-AF65-F5344CB8AC3E}">
        <p14:creationId xmlns:p14="http://schemas.microsoft.com/office/powerpoint/2010/main" val="1254589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t>2</a:t>
            </a:fld>
            <a:endParaRPr lang="en-IN"/>
          </a:p>
        </p:txBody>
      </p:sp>
    </p:spTree>
    <p:extLst>
      <p:ext uri="{BB962C8B-B14F-4D97-AF65-F5344CB8AC3E}">
        <p14:creationId xmlns:p14="http://schemas.microsoft.com/office/powerpoint/2010/main" val="18941654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t>3</a:t>
            </a:fld>
            <a:endParaRPr lang="en-IN"/>
          </a:p>
        </p:txBody>
      </p:sp>
    </p:spTree>
    <p:extLst>
      <p:ext uri="{BB962C8B-B14F-4D97-AF65-F5344CB8AC3E}">
        <p14:creationId xmlns:p14="http://schemas.microsoft.com/office/powerpoint/2010/main" val="1019407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91B03-F615-A851-B852-4B2DE9AE7A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EB038A-96C2-E48A-BA72-1A39AEA253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1A3454-109C-CD42-F5E4-2F6C9F0D5CB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6ADAE8A-78CE-5C94-8BAD-71DD20F3F310}"/>
              </a:ext>
            </a:extLst>
          </p:cNvPr>
          <p:cNvSpPr>
            <a:spLocks noGrp="1"/>
          </p:cNvSpPr>
          <p:nvPr>
            <p:ph type="sldNum" sz="quarter" idx="5"/>
          </p:nvPr>
        </p:nvSpPr>
        <p:spPr/>
        <p:txBody>
          <a:bodyPr/>
          <a:lstStyle/>
          <a:p>
            <a:fld id="{623472F7-00EC-40F3-A111-228D446E4BD5}" type="slidenum">
              <a:rPr lang="en-IN" smtClean="0"/>
              <a:t>4</a:t>
            </a:fld>
            <a:endParaRPr lang="en-IN"/>
          </a:p>
        </p:txBody>
      </p:sp>
    </p:spTree>
    <p:extLst>
      <p:ext uri="{BB962C8B-B14F-4D97-AF65-F5344CB8AC3E}">
        <p14:creationId xmlns:p14="http://schemas.microsoft.com/office/powerpoint/2010/main" val="34560276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23472F7-00EC-40F3-A111-228D446E4BD5}" type="slidenum">
              <a:rPr lang="en-IN" smtClean="0"/>
              <a:t>5</a:t>
            </a:fld>
            <a:endParaRPr lang="en-IN"/>
          </a:p>
        </p:txBody>
      </p:sp>
    </p:spTree>
    <p:extLst>
      <p:ext uri="{BB962C8B-B14F-4D97-AF65-F5344CB8AC3E}">
        <p14:creationId xmlns:p14="http://schemas.microsoft.com/office/powerpoint/2010/main" val="31668240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t>6</a:t>
            </a:fld>
            <a:endParaRPr lang="en-IN"/>
          </a:p>
        </p:txBody>
      </p:sp>
    </p:spTree>
    <p:extLst>
      <p:ext uri="{BB962C8B-B14F-4D97-AF65-F5344CB8AC3E}">
        <p14:creationId xmlns:p14="http://schemas.microsoft.com/office/powerpoint/2010/main" val="22259051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658CB-2BD4-ABBB-0C76-668CB1B0C6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12C1C1-AE70-47D0-B851-DD2D01DFF7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82695A-45AC-563D-6DB7-5F882887990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C06056F-D85E-F504-8276-35C213130D34}"/>
              </a:ext>
            </a:extLst>
          </p:cNvPr>
          <p:cNvSpPr>
            <a:spLocks noGrp="1"/>
          </p:cNvSpPr>
          <p:nvPr>
            <p:ph type="sldNum" sz="quarter" idx="5"/>
          </p:nvPr>
        </p:nvSpPr>
        <p:spPr/>
        <p:txBody>
          <a:bodyPr/>
          <a:lstStyle/>
          <a:p>
            <a:fld id="{623472F7-00EC-40F3-A111-228D446E4BD5}" type="slidenum">
              <a:rPr lang="en-IN" smtClean="0"/>
              <a:t>8</a:t>
            </a:fld>
            <a:endParaRPr lang="en-IN"/>
          </a:p>
        </p:txBody>
      </p:sp>
    </p:spTree>
    <p:extLst>
      <p:ext uri="{BB962C8B-B14F-4D97-AF65-F5344CB8AC3E}">
        <p14:creationId xmlns:p14="http://schemas.microsoft.com/office/powerpoint/2010/main" val="26941105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23472F7-00EC-40F3-A111-228D446E4BD5}" type="slidenum">
              <a:rPr lang="en-IN" smtClean="0"/>
              <a:t>10</a:t>
            </a:fld>
            <a:endParaRPr lang="en-IN"/>
          </a:p>
        </p:txBody>
      </p:sp>
    </p:spTree>
    <p:extLst>
      <p:ext uri="{BB962C8B-B14F-4D97-AF65-F5344CB8AC3E}">
        <p14:creationId xmlns:p14="http://schemas.microsoft.com/office/powerpoint/2010/main" val="37235413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F4336-D07D-1104-44EA-7EFA117EA2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1336D5-270E-735C-4953-51746F003E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01A8A2-254D-52B3-4525-133705AB6CD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D0FA7DA-1023-ACA4-D414-3ED18FA3E014}"/>
              </a:ext>
            </a:extLst>
          </p:cNvPr>
          <p:cNvSpPr>
            <a:spLocks noGrp="1"/>
          </p:cNvSpPr>
          <p:nvPr>
            <p:ph type="sldNum" sz="quarter" idx="5"/>
          </p:nvPr>
        </p:nvSpPr>
        <p:spPr/>
        <p:txBody>
          <a:bodyPr/>
          <a:lstStyle/>
          <a:p>
            <a:fld id="{623472F7-00EC-40F3-A111-228D446E4BD5}" type="slidenum">
              <a:rPr lang="en-IN" smtClean="0"/>
              <a:t>11</a:t>
            </a:fld>
            <a:endParaRPr lang="en-IN"/>
          </a:p>
        </p:txBody>
      </p:sp>
    </p:spTree>
    <p:extLst>
      <p:ext uri="{BB962C8B-B14F-4D97-AF65-F5344CB8AC3E}">
        <p14:creationId xmlns:p14="http://schemas.microsoft.com/office/powerpoint/2010/main" val="38634435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95466-6BC2-5D8F-CD03-52596A89E8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958373-E867-2212-A654-21300748A0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9D9D3D-A91C-B18F-75D4-E264DDE929C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6BAB591-B997-5C32-8C23-C58A8502FE04}"/>
              </a:ext>
            </a:extLst>
          </p:cNvPr>
          <p:cNvSpPr>
            <a:spLocks noGrp="1"/>
          </p:cNvSpPr>
          <p:nvPr>
            <p:ph type="sldNum" sz="quarter" idx="5"/>
          </p:nvPr>
        </p:nvSpPr>
        <p:spPr/>
        <p:txBody>
          <a:bodyPr/>
          <a:lstStyle/>
          <a:p>
            <a:fld id="{623472F7-00EC-40F3-A111-228D446E4BD5}" type="slidenum">
              <a:rPr lang="en-IN" smtClean="0"/>
              <a:t>12</a:t>
            </a:fld>
            <a:endParaRPr lang="en-IN"/>
          </a:p>
        </p:txBody>
      </p:sp>
    </p:spTree>
    <p:extLst>
      <p:ext uri="{BB962C8B-B14F-4D97-AF65-F5344CB8AC3E}">
        <p14:creationId xmlns:p14="http://schemas.microsoft.com/office/powerpoint/2010/main" val="17221485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t>13</a:t>
            </a:fld>
            <a:endParaRPr lang="en-IN"/>
          </a:p>
        </p:txBody>
      </p:sp>
    </p:spTree>
    <p:extLst>
      <p:ext uri="{BB962C8B-B14F-4D97-AF65-F5344CB8AC3E}">
        <p14:creationId xmlns:p14="http://schemas.microsoft.com/office/powerpoint/2010/main" val="824020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6" name="Holder 6"/>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7" name="Holder 7"/>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4" name="Holder 4"/>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5" name="Holder 5"/>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3" name="Holder 3"/>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4" name="Holder 4"/>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77238" y="6642827"/>
            <a:ext cx="5654040" cy="215265"/>
          </a:xfrm>
          <a:custGeom>
            <a:avLst/>
            <a:gdLst/>
            <a:ahLst/>
            <a:cxnLst/>
            <a:rect l="l" t="t" r="r" b="b"/>
            <a:pathLst>
              <a:path w="5654040" h="215265">
                <a:moveTo>
                  <a:pt x="5654038" y="215171"/>
                </a:moveTo>
                <a:lnTo>
                  <a:pt x="0" y="215171"/>
                </a:lnTo>
                <a:lnTo>
                  <a:pt x="0" y="0"/>
                </a:lnTo>
                <a:lnTo>
                  <a:pt x="5654038" y="0"/>
                </a:lnTo>
                <a:lnTo>
                  <a:pt x="5654038" y="215171"/>
                </a:lnTo>
                <a:close/>
              </a:path>
            </a:pathLst>
          </a:custGeom>
          <a:solidFill>
            <a:srgbClr val="002060"/>
          </a:solidFill>
        </p:spPr>
        <p:txBody>
          <a:bodyPr wrap="square" lIns="0" tIns="0" rIns="0" bIns="0" rtlCol="0"/>
          <a:lstStyle/>
          <a:p>
            <a:endParaRPr/>
          </a:p>
        </p:txBody>
      </p:sp>
      <p:sp>
        <p:nvSpPr>
          <p:cNvPr id="17" name="bg object 17"/>
          <p:cNvSpPr/>
          <p:nvPr/>
        </p:nvSpPr>
        <p:spPr>
          <a:xfrm>
            <a:off x="6431277" y="6641865"/>
            <a:ext cx="5323205" cy="216535"/>
          </a:xfrm>
          <a:custGeom>
            <a:avLst/>
            <a:gdLst/>
            <a:ahLst/>
            <a:cxnLst/>
            <a:rect l="l" t="t" r="r" b="b"/>
            <a:pathLst>
              <a:path w="5323205" h="216534">
                <a:moveTo>
                  <a:pt x="5322916" y="216133"/>
                </a:moveTo>
                <a:lnTo>
                  <a:pt x="0" y="216133"/>
                </a:lnTo>
                <a:lnTo>
                  <a:pt x="0" y="0"/>
                </a:lnTo>
                <a:lnTo>
                  <a:pt x="5322916" y="0"/>
                </a:lnTo>
                <a:lnTo>
                  <a:pt x="5322916" y="216133"/>
                </a:lnTo>
                <a:close/>
              </a:path>
            </a:pathLst>
          </a:custGeom>
          <a:solidFill>
            <a:srgbClr val="008080"/>
          </a:solidFill>
        </p:spPr>
        <p:txBody>
          <a:bodyPr wrap="square" lIns="0" tIns="0" rIns="0" bIns="0" rtlCol="0"/>
          <a:lstStyle/>
          <a:p>
            <a:endParaRPr/>
          </a:p>
        </p:txBody>
      </p:sp>
      <p:sp>
        <p:nvSpPr>
          <p:cNvPr id="18" name="bg object 18"/>
          <p:cNvSpPr/>
          <p:nvPr/>
        </p:nvSpPr>
        <p:spPr>
          <a:xfrm>
            <a:off x="11754195" y="6641864"/>
            <a:ext cx="438150" cy="216535"/>
          </a:xfrm>
          <a:custGeom>
            <a:avLst/>
            <a:gdLst/>
            <a:ahLst/>
            <a:cxnLst/>
            <a:rect l="l" t="t" r="r" b="b"/>
            <a:pathLst>
              <a:path w="438150" h="216534">
                <a:moveTo>
                  <a:pt x="437803" y="216132"/>
                </a:moveTo>
                <a:lnTo>
                  <a:pt x="0" y="216132"/>
                </a:lnTo>
                <a:lnTo>
                  <a:pt x="0" y="0"/>
                </a:lnTo>
                <a:lnTo>
                  <a:pt x="437803" y="0"/>
                </a:lnTo>
                <a:lnTo>
                  <a:pt x="437803" y="216132"/>
                </a:lnTo>
                <a:close/>
              </a:path>
            </a:pathLst>
          </a:custGeom>
          <a:solidFill>
            <a:srgbClr val="FFC000"/>
          </a:solidFill>
        </p:spPr>
        <p:txBody>
          <a:bodyPr wrap="square" lIns="0" tIns="0" rIns="0" bIns="0" rtlCol="0"/>
          <a:lstStyle/>
          <a:p>
            <a:endParaRPr/>
          </a:p>
        </p:txBody>
      </p:sp>
      <p:pic>
        <p:nvPicPr>
          <p:cNvPr id="19" name="bg object 19"/>
          <p:cNvPicPr/>
          <p:nvPr/>
        </p:nvPicPr>
        <p:blipFill>
          <a:blip r:embed="rId7" cstate="print"/>
          <a:stretch>
            <a:fillRect/>
          </a:stretch>
        </p:blipFill>
        <p:spPr>
          <a:xfrm>
            <a:off x="11506200" y="5956065"/>
            <a:ext cx="685799" cy="681643"/>
          </a:xfrm>
          <a:prstGeom prst="rect">
            <a:avLst/>
          </a:prstGeom>
        </p:spPr>
      </p:pic>
      <p:sp>
        <p:nvSpPr>
          <p:cNvPr id="20" name="bg object 20"/>
          <p:cNvSpPr/>
          <p:nvPr/>
        </p:nvSpPr>
        <p:spPr>
          <a:xfrm>
            <a:off x="0" y="6642827"/>
            <a:ext cx="777240" cy="215265"/>
          </a:xfrm>
          <a:custGeom>
            <a:avLst/>
            <a:gdLst/>
            <a:ahLst/>
            <a:cxnLst/>
            <a:rect l="l" t="t" r="r" b="b"/>
            <a:pathLst>
              <a:path w="777240" h="215265">
                <a:moveTo>
                  <a:pt x="777238" y="215171"/>
                </a:moveTo>
                <a:lnTo>
                  <a:pt x="0" y="215171"/>
                </a:lnTo>
                <a:lnTo>
                  <a:pt x="0" y="0"/>
                </a:lnTo>
                <a:lnTo>
                  <a:pt x="777238" y="0"/>
                </a:lnTo>
                <a:lnTo>
                  <a:pt x="777238" y="215171"/>
                </a:lnTo>
                <a:close/>
              </a:path>
            </a:pathLst>
          </a:custGeom>
          <a:solidFill>
            <a:srgbClr val="C55A11"/>
          </a:solidFill>
        </p:spPr>
        <p:txBody>
          <a:bodyPr wrap="square" lIns="0" tIns="0" rIns="0" bIns="0" rtlCol="0"/>
          <a:lstStyle/>
          <a:p>
            <a:endParaRPr/>
          </a:p>
        </p:txBody>
      </p:sp>
      <p:sp>
        <p:nvSpPr>
          <p:cNvPr id="21" name="bg object 21"/>
          <p:cNvSpPr/>
          <p:nvPr/>
        </p:nvSpPr>
        <p:spPr>
          <a:xfrm>
            <a:off x="-1" y="0"/>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a:p>
        </p:txBody>
      </p:sp>
      <p:sp>
        <p:nvSpPr>
          <p:cNvPr id="2" name="Holder 2"/>
          <p:cNvSpPr>
            <a:spLocks noGrp="1"/>
          </p:cNvSpPr>
          <p:nvPr>
            <p:ph type="title"/>
          </p:nvPr>
        </p:nvSpPr>
        <p:spPr>
          <a:xfrm>
            <a:off x="73025" y="-50596"/>
            <a:ext cx="3888104" cy="69596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41783" y="6629792"/>
            <a:ext cx="544830"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5" name="Holder 5"/>
          <p:cNvSpPr>
            <a:spLocks noGrp="1"/>
          </p:cNvSpPr>
          <p:nvPr>
            <p:ph type="dt" sz="half" idx="6"/>
          </p:nvPr>
        </p:nvSpPr>
        <p:spPr>
          <a:xfrm>
            <a:off x="1123125" y="6629792"/>
            <a:ext cx="4962525"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6" name="Holder 6"/>
          <p:cNvSpPr>
            <a:spLocks noGrp="1"/>
          </p:cNvSpPr>
          <p:nvPr>
            <p:ph type="sldNum" sz="quarter" idx="7"/>
          </p:nvPr>
        </p:nvSpPr>
        <p:spPr>
          <a:xfrm>
            <a:off x="11858823" y="6629309"/>
            <a:ext cx="228600" cy="250825"/>
          </a:xfrm>
          <a:prstGeom prst="rect">
            <a:avLst/>
          </a:prstGeom>
        </p:spPr>
        <p:txBody>
          <a:bodyPr wrap="square" lIns="0" tIns="0" rIns="0" bIns="0">
            <a:spAutoFit/>
          </a:bodyPr>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755008" y="6642101"/>
            <a:ext cx="11436992" cy="233679"/>
            <a:chOff x="753123" y="6600682"/>
            <a:chExt cx="11461310" cy="329426"/>
          </a:xfrm>
        </p:grpSpPr>
        <p:sp>
          <p:nvSpPr>
            <p:cNvPr id="3" name="object 3"/>
            <p:cNvSpPr/>
            <p:nvPr/>
          </p:nvSpPr>
          <p:spPr>
            <a:xfrm>
              <a:off x="753123" y="6600690"/>
              <a:ext cx="5887233" cy="325877"/>
            </a:xfrm>
            <a:custGeom>
              <a:avLst/>
              <a:gdLst/>
              <a:ahLst/>
              <a:cxnLst/>
              <a:rect l="l" t="t" r="r" b="b"/>
              <a:pathLst>
                <a:path w="5782309" h="220979">
                  <a:moveTo>
                    <a:pt x="5781821" y="220979"/>
                  </a:moveTo>
                  <a:lnTo>
                    <a:pt x="0" y="220979"/>
                  </a:lnTo>
                  <a:lnTo>
                    <a:pt x="0" y="0"/>
                  </a:lnTo>
                  <a:lnTo>
                    <a:pt x="5781821" y="0"/>
                  </a:lnTo>
                  <a:lnTo>
                    <a:pt x="5781821" y="220979"/>
                  </a:lnTo>
                  <a:close/>
                </a:path>
              </a:pathLst>
            </a:custGeom>
            <a:solidFill>
              <a:srgbClr val="002060"/>
            </a:solidFill>
          </p:spPr>
          <p:txBody>
            <a:bodyPr wrap="square" lIns="0" tIns="0" rIns="0" bIns="0" rtlCol="0" anchor="t"/>
            <a:lstStyle/>
            <a:p>
              <a:r>
                <a:rPr lang="en-US" sz="1600" dirty="0">
                  <a:solidFill>
                    <a:schemeClr val="bg1"/>
                  </a:solidFill>
                  <a:latin typeface="Times New Roman"/>
                  <a:cs typeface="Times New Roman"/>
                </a:rPr>
                <a:t>     </a:t>
              </a:r>
              <a:r>
                <a:rPr lang="en-US" sz="1600" dirty="0" err="1">
                  <a:solidFill>
                    <a:schemeClr val="bg1"/>
                  </a:solidFill>
                  <a:latin typeface="Times New Roman"/>
                  <a:cs typeface="Times New Roman"/>
                </a:rPr>
                <a:t>Dept.of.Computer</a:t>
              </a:r>
              <a:r>
                <a:rPr lang="en-US" sz="1600" dirty="0">
                  <a:solidFill>
                    <a:schemeClr val="bg1"/>
                  </a:solidFill>
                  <a:latin typeface="Times New Roman"/>
                  <a:cs typeface="Times New Roman"/>
                </a:rPr>
                <a:t> science and Engineering(AI&amp;ML)</a:t>
              </a:r>
              <a:endParaRPr lang="en-US" sz="1600" dirty="0">
                <a:solidFill>
                  <a:schemeClr val="bg1"/>
                </a:solidFill>
                <a:latin typeface="Times New Roman"/>
                <a:ea typeface="+mn-lt"/>
                <a:cs typeface="Times New Roman"/>
              </a:endParaRPr>
            </a:p>
          </p:txBody>
        </p:sp>
        <p:sp>
          <p:nvSpPr>
            <p:cNvPr id="4" name="object 4"/>
            <p:cNvSpPr/>
            <p:nvPr/>
          </p:nvSpPr>
          <p:spPr>
            <a:xfrm>
              <a:off x="6640356" y="6600682"/>
              <a:ext cx="4976650" cy="329426"/>
            </a:xfrm>
            <a:custGeom>
              <a:avLst/>
              <a:gdLst/>
              <a:ahLst/>
              <a:cxnLst/>
              <a:rect l="l" t="t" r="r" b="b"/>
              <a:pathLst>
                <a:path w="5195570" h="220979">
                  <a:moveTo>
                    <a:pt x="5195133" y="220979"/>
                  </a:moveTo>
                  <a:lnTo>
                    <a:pt x="0" y="220979"/>
                  </a:lnTo>
                  <a:lnTo>
                    <a:pt x="0" y="0"/>
                  </a:lnTo>
                  <a:lnTo>
                    <a:pt x="5195133" y="0"/>
                  </a:lnTo>
                  <a:lnTo>
                    <a:pt x="5195133" y="220979"/>
                  </a:lnTo>
                  <a:close/>
                </a:path>
              </a:pathLst>
            </a:custGeom>
            <a:solidFill>
              <a:srgbClr val="008080"/>
            </a:solidFill>
          </p:spPr>
          <p:txBody>
            <a:bodyPr wrap="square" lIns="0" tIns="0" rIns="0" bIns="0" rtlCol="0"/>
            <a:lstStyle/>
            <a:p>
              <a:endParaRPr/>
            </a:p>
          </p:txBody>
        </p:sp>
        <p:sp>
          <p:nvSpPr>
            <p:cNvPr id="5" name="object 5"/>
            <p:cNvSpPr/>
            <p:nvPr/>
          </p:nvSpPr>
          <p:spPr>
            <a:xfrm>
              <a:off x="11617006" y="6600683"/>
              <a:ext cx="597427" cy="329425"/>
            </a:xfrm>
            <a:custGeom>
              <a:avLst/>
              <a:gdLst/>
              <a:ahLst/>
              <a:cxnLst/>
              <a:rect l="l" t="t" r="r" b="b"/>
              <a:pathLst>
                <a:path w="438150" h="220979">
                  <a:moveTo>
                    <a:pt x="437803" y="220979"/>
                  </a:moveTo>
                  <a:lnTo>
                    <a:pt x="0" y="220979"/>
                  </a:lnTo>
                  <a:lnTo>
                    <a:pt x="0" y="0"/>
                  </a:lnTo>
                  <a:lnTo>
                    <a:pt x="437803" y="0"/>
                  </a:lnTo>
                  <a:lnTo>
                    <a:pt x="437803" y="220979"/>
                  </a:lnTo>
                  <a:close/>
                </a:path>
              </a:pathLst>
            </a:custGeom>
            <a:solidFill>
              <a:srgbClr val="FFC000"/>
            </a:solidFill>
          </p:spPr>
          <p:txBody>
            <a:bodyPr wrap="square" lIns="0" tIns="0" rIns="0" bIns="0" rtlCol="0"/>
            <a:lstStyle/>
            <a:p>
              <a:endParaRPr dirty="0"/>
            </a:p>
          </p:txBody>
        </p:sp>
      </p:grpSp>
      <p:sp>
        <p:nvSpPr>
          <p:cNvPr id="6" name="object 6"/>
          <p:cNvSpPr/>
          <p:nvPr/>
        </p:nvSpPr>
        <p:spPr>
          <a:xfrm>
            <a:off x="-1" y="-1"/>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a:p>
        </p:txBody>
      </p:sp>
      <p:sp>
        <p:nvSpPr>
          <p:cNvPr id="7" name="object 7"/>
          <p:cNvSpPr/>
          <p:nvPr/>
        </p:nvSpPr>
        <p:spPr>
          <a:xfrm>
            <a:off x="-1" y="6639597"/>
            <a:ext cx="782336" cy="218404"/>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pPr algn="ctr"/>
            <a:r>
              <a:rPr lang="en-IN" sz="1600" dirty="0">
                <a:solidFill>
                  <a:schemeClr val="bg1"/>
                </a:solidFill>
                <a:latin typeface="Times New Roman"/>
                <a:cs typeface="Times New Roman"/>
              </a:rPr>
              <a:t>B-16</a:t>
            </a:r>
            <a:endParaRPr sz="1600" dirty="0">
              <a:solidFill>
                <a:schemeClr val="bg1"/>
              </a:solidFill>
              <a:latin typeface="Times New Roman" panose="02020603050405020304" pitchFamily="18" charset="0"/>
              <a:cs typeface="Times New Roman" panose="02020603050405020304" pitchFamily="18" charset="0"/>
            </a:endParaRPr>
          </a:p>
        </p:txBody>
      </p:sp>
      <p:sp>
        <p:nvSpPr>
          <p:cNvPr id="8" name="object 8"/>
          <p:cNvSpPr txBox="1"/>
          <p:nvPr/>
        </p:nvSpPr>
        <p:spPr>
          <a:xfrm>
            <a:off x="5773588" y="1683897"/>
            <a:ext cx="2211174" cy="598241"/>
          </a:xfrm>
          <a:prstGeom prst="rect">
            <a:avLst/>
          </a:prstGeom>
        </p:spPr>
        <p:txBody>
          <a:bodyPr vert="horz" wrap="square" lIns="0" tIns="13335" rIns="0" bIns="0" rtlCol="0" anchor="t">
            <a:spAutoFit/>
          </a:bodyPr>
          <a:lstStyle/>
          <a:p>
            <a:pPr algn="ctr">
              <a:lnSpc>
                <a:spcPct val="100000"/>
              </a:lnSpc>
              <a:spcBef>
                <a:spcPts val="105"/>
              </a:spcBef>
            </a:pPr>
            <a:r>
              <a:rPr lang="en-IN" sz="2400" dirty="0">
                <a:latin typeface="Times New Roman"/>
                <a:cs typeface="Times New Roman"/>
              </a:rPr>
              <a:t>K. </a:t>
            </a:r>
            <a:r>
              <a:rPr lang="en-IN" sz="2400" dirty="0" err="1">
                <a:latin typeface="Times New Roman"/>
                <a:cs typeface="Times New Roman"/>
              </a:rPr>
              <a:t>Rashmi</a:t>
            </a:r>
            <a:endParaRPr sz="2400" dirty="0">
              <a:latin typeface="Times New Roman"/>
              <a:cs typeface="Times New Roman"/>
            </a:endParaRPr>
          </a:p>
          <a:p>
            <a:pPr marL="1905" algn="ctr">
              <a:lnSpc>
                <a:spcPct val="100000"/>
              </a:lnSpc>
              <a:spcBef>
                <a:spcPts val="35"/>
              </a:spcBef>
            </a:pPr>
            <a:r>
              <a:rPr sz="1400" dirty="0">
                <a:latin typeface="Times New Roman"/>
                <a:cs typeface="Times New Roman"/>
              </a:rPr>
              <a:t>Roll No. </a:t>
            </a:r>
            <a:r>
              <a:rPr sz="1400" spc="-10" dirty="0">
                <a:latin typeface="Times New Roman"/>
                <a:cs typeface="Times New Roman"/>
              </a:rPr>
              <a:t>2</a:t>
            </a:r>
            <a:r>
              <a:rPr lang="en-IN" sz="1400" spc="-10" dirty="0">
                <a:latin typeface="Times New Roman"/>
                <a:cs typeface="Times New Roman"/>
              </a:rPr>
              <a:t>24G1A3379</a:t>
            </a:r>
            <a:endParaRPr sz="1400" dirty="0">
              <a:latin typeface="Times New Roman"/>
              <a:cs typeface="Times New Roman"/>
            </a:endParaRPr>
          </a:p>
        </p:txBody>
      </p:sp>
      <p:sp>
        <p:nvSpPr>
          <p:cNvPr id="9" name="object 9"/>
          <p:cNvSpPr txBox="1"/>
          <p:nvPr/>
        </p:nvSpPr>
        <p:spPr>
          <a:xfrm>
            <a:off x="4800601" y="2417828"/>
            <a:ext cx="2819400" cy="734175"/>
          </a:xfrm>
          <a:prstGeom prst="rect">
            <a:avLst/>
          </a:prstGeom>
        </p:spPr>
        <p:txBody>
          <a:bodyPr vert="horz" wrap="square" lIns="0" tIns="71755" rIns="0" bIns="0" rtlCol="0" anchor="t">
            <a:spAutoFit/>
          </a:bodyPr>
          <a:lstStyle/>
          <a:p>
            <a:pPr algn="ctr">
              <a:spcBef>
                <a:spcPts val="565"/>
              </a:spcBef>
            </a:pPr>
            <a:r>
              <a:rPr sz="1400" i="1" dirty="0">
                <a:latin typeface="Times New Roman"/>
                <a:cs typeface="Times New Roman"/>
              </a:rPr>
              <a:t>Under</a:t>
            </a:r>
            <a:r>
              <a:rPr sz="1400" i="1" spc="-35" dirty="0">
                <a:latin typeface="Times New Roman"/>
                <a:cs typeface="Times New Roman"/>
              </a:rPr>
              <a:t> </a:t>
            </a:r>
            <a:r>
              <a:rPr sz="1400" i="1" dirty="0">
                <a:latin typeface="Times New Roman"/>
                <a:cs typeface="Times New Roman"/>
              </a:rPr>
              <a:t>the</a:t>
            </a:r>
            <a:r>
              <a:rPr sz="1400" i="1" spc="-35" dirty="0">
                <a:latin typeface="Times New Roman"/>
                <a:cs typeface="Times New Roman"/>
              </a:rPr>
              <a:t> </a:t>
            </a:r>
            <a:r>
              <a:rPr sz="1400" i="1" spc="-10" dirty="0">
                <a:latin typeface="Times New Roman"/>
                <a:cs typeface="Times New Roman"/>
              </a:rPr>
              <a:t>guidance</a:t>
            </a:r>
            <a:r>
              <a:rPr lang="en-IN" sz="1400" i="1" spc="-10" dirty="0">
                <a:latin typeface="Times New Roman"/>
                <a:cs typeface="Times New Roman"/>
              </a:rPr>
              <a:t> of</a:t>
            </a:r>
          </a:p>
          <a:p>
            <a:pPr algn="ctr">
              <a:spcBef>
                <a:spcPts val="565"/>
              </a:spcBef>
            </a:pPr>
            <a:r>
              <a:rPr lang="en-IN" sz="1400" i="1" spc="-35" dirty="0">
                <a:latin typeface="Times New Roman"/>
                <a:cs typeface="Times New Roman"/>
              </a:rPr>
              <a:t> </a:t>
            </a:r>
            <a:r>
              <a:rPr lang="en-IN" sz="3600" baseline="20833" dirty="0">
                <a:latin typeface="Times New Roman"/>
                <a:cs typeface="Times New Roman"/>
              </a:rPr>
              <a:t>Mr. </a:t>
            </a:r>
            <a:r>
              <a:rPr lang="en-IN" sz="3600" baseline="20833" dirty="0" err="1">
                <a:latin typeface="Times New Roman"/>
                <a:cs typeface="Times New Roman"/>
              </a:rPr>
              <a:t>Kondanna</a:t>
            </a:r>
            <a:endParaRPr lang="en-IN" sz="3600" baseline="20833" dirty="0">
              <a:latin typeface="Times New Roman"/>
              <a:cs typeface="Times New Roman"/>
            </a:endParaRPr>
          </a:p>
        </p:txBody>
      </p:sp>
      <p:sp>
        <p:nvSpPr>
          <p:cNvPr id="10" name="object 10"/>
          <p:cNvSpPr txBox="1"/>
          <p:nvPr/>
        </p:nvSpPr>
        <p:spPr>
          <a:xfrm>
            <a:off x="5229495" y="3042651"/>
            <a:ext cx="1649680" cy="518091"/>
          </a:xfrm>
          <a:prstGeom prst="rect">
            <a:avLst/>
          </a:prstGeom>
        </p:spPr>
        <p:txBody>
          <a:bodyPr vert="horz" wrap="square" lIns="0" tIns="12700" rIns="0" bIns="0" rtlCol="0">
            <a:spAutoFit/>
          </a:bodyPr>
          <a:lstStyle/>
          <a:p>
            <a:pPr marL="12700" algn="ctr">
              <a:lnSpc>
                <a:spcPct val="100000"/>
              </a:lnSpc>
              <a:spcBef>
                <a:spcPts val="100"/>
              </a:spcBef>
            </a:pPr>
            <a:r>
              <a:rPr lang="en-IN" sz="1600" spc="-10" dirty="0">
                <a:latin typeface="Times New Roman"/>
                <a:cs typeface="Times New Roman"/>
              </a:rPr>
              <a:t>M. Tech</a:t>
            </a:r>
          </a:p>
          <a:p>
            <a:pPr marL="12700" algn="ctr">
              <a:lnSpc>
                <a:spcPct val="100000"/>
              </a:lnSpc>
              <a:spcBef>
                <a:spcPts val="100"/>
              </a:spcBef>
            </a:pPr>
            <a:r>
              <a:rPr sz="1600" spc="-10" dirty="0">
                <a:latin typeface="Times New Roman"/>
                <a:cs typeface="Times New Roman"/>
              </a:rPr>
              <a:t>Assistant Professor</a:t>
            </a:r>
            <a:endParaRPr sz="1600" dirty="0">
              <a:latin typeface="Times New Roman"/>
              <a:cs typeface="Times New Roman"/>
            </a:endParaRPr>
          </a:p>
        </p:txBody>
      </p:sp>
      <p:sp>
        <p:nvSpPr>
          <p:cNvPr id="11" name="object 11"/>
          <p:cNvSpPr txBox="1"/>
          <p:nvPr/>
        </p:nvSpPr>
        <p:spPr>
          <a:xfrm>
            <a:off x="2732995" y="5216920"/>
            <a:ext cx="6767195" cy="1220470"/>
          </a:xfrm>
          <a:prstGeom prst="rect">
            <a:avLst/>
          </a:prstGeom>
        </p:spPr>
        <p:txBody>
          <a:bodyPr vert="horz" wrap="square" lIns="0" tIns="17780" rIns="0" bIns="0" rtlCol="0">
            <a:spAutoFit/>
          </a:bodyPr>
          <a:lstStyle/>
          <a:p>
            <a:pPr marL="4445" algn="ctr">
              <a:lnSpc>
                <a:spcPts val="1975"/>
              </a:lnSpc>
              <a:spcBef>
                <a:spcPts val="140"/>
              </a:spcBef>
            </a:pPr>
            <a:r>
              <a:rPr sz="1850" dirty="0">
                <a:latin typeface="Times New Roman"/>
                <a:cs typeface="Times New Roman"/>
              </a:rPr>
              <a:t>Department</a:t>
            </a:r>
            <a:r>
              <a:rPr sz="1850" spc="85" dirty="0">
                <a:latin typeface="Times New Roman"/>
                <a:cs typeface="Times New Roman"/>
              </a:rPr>
              <a:t> </a:t>
            </a:r>
            <a:r>
              <a:rPr sz="1850" dirty="0">
                <a:latin typeface="Times New Roman"/>
                <a:cs typeface="Times New Roman"/>
              </a:rPr>
              <a:t>of</a:t>
            </a:r>
            <a:r>
              <a:rPr sz="1850" spc="90" dirty="0">
                <a:latin typeface="Times New Roman"/>
                <a:cs typeface="Times New Roman"/>
              </a:rPr>
              <a:t> </a:t>
            </a:r>
            <a:r>
              <a:rPr sz="1850" dirty="0">
                <a:latin typeface="Times New Roman"/>
                <a:cs typeface="Times New Roman"/>
              </a:rPr>
              <a:t>Computer</a:t>
            </a:r>
            <a:r>
              <a:rPr sz="1850" spc="90" dirty="0">
                <a:latin typeface="Times New Roman"/>
                <a:cs typeface="Times New Roman"/>
              </a:rPr>
              <a:t> </a:t>
            </a:r>
            <a:r>
              <a:rPr sz="1850" dirty="0">
                <a:latin typeface="Times New Roman"/>
                <a:cs typeface="Times New Roman"/>
              </a:rPr>
              <a:t>Science</a:t>
            </a:r>
            <a:r>
              <a:rPr sz="1850" spc="85" dirty="0">
                <a:latin typeface="Times New Roman"/>
                <a:cs typeface="Times New Roman"/>
              </a:rPr>
              <a:t> </a:t>
            </a:r>
            <a:r>
              <a:rPr sz="1850" dirty="0">
                <a:latin typeface="Times New Roman"/>
                <a:cs typeface="Times New Roman"/>
              </a:rPr>
              <a:t>and</a:t>
            </a:r>
            <a:r>
              <a:rPr sz="1850" spc="95" dirty="0">
                <a:latin typeface="Times New Roman"/>
                <a:cs typeface="Times New Roman"/>
              </a:rPr>
              <a:t> </a:t>
            </a:r>
            <a:r>
              <a:rPr sz="1850" dirty="0">
                <a:latin typeface="Times New Roman"/>
                <a:cs typeface="Times New Roman"/>
              </a:rPr>
              <a:t>Engineering</a:t>
            </a:r>
            <a:r>
              <a:rPr sz="1850" spc="90" dirty="0">
                <a:latin typeface="Times New Roman"/>
                <a:cs typeface="Times New Roman"/>
              </a:rPr>
              <a:t> </a:t>
            </a:r>
            <a:r>
              <a:rPr sz="1850" dirty="0">
                <a:latin typeface="Times New Roman"/>
                <a:cs typeface="Times New Roman"/>
              </a:rPr>
              <a:t>(AI</a:t>
            </a:r>
            <a:r>
              <a:rPr sz="1850" spc="90" dirty="0">
                <a:latin typeface="Times New Roman"/>
                <a:cs typeface="Times New Roman"/>
              </a:rPr>
              <a:t> </a:t>
            </a:r>
            <a:r>
              <a:rPr sz="1850" dirty="0">
                <a:latin typeface="Times New Roman"/>
                <a:cs typeface="Times New Roman"/>
              </a:rPr>
              <a:t>&amp;</a:t>
            </a:r>
            <a:r>
              <a:rPr sz="1850" spc="90" dirty="0">
                <a:latin typeface="Times New Roman"/>
                <a:cs typeface="Times New Roman"/>
              </a:rPr>
              <a:t> </a:t>
            </a:r>
            <a:r>
              <a:rPr sz="1850" spc="-25" dirty="0">
                <a:latin typeface="Times New Roman"/>
                <a:cs typeface="Times New Roman"/>
              </a:rPr>
              <a:t>ML)</a:t>
            </a:r>
            <a:endParaRPr sz="1850" dirty="0">
              <a:latin typeface="Times New Roman"/>
              <a:cs typeface="Times New Roman"/>
            </a:endParaRPr>
          </a:p>
          <a:p>
            <a:pPr algn="ctr">
              <a:lnSpc>
                <a:spcPts val="3185"/>
              </a:lnSpc>
            </a:pPr>
            <a:r>
              <a:rPr sz="2900" dirty="0">
                <a:solidFill>
                  <a:srgbClr val="FF0000"/>
                </a:solidFill>
                <a:latin typeface="Times New Roman"/>
                <a:cs typeface="Times New Roman"/>
              </a:rPr>
              <a:t>Srinivasa</a:t>
            </a:r>
            <a:r>
              <a:rPr sz="2900" spc="30" dirty="0">
                <a:solidFill>
                  <a:srgbClr val="FF0000"/>
                </a:solidFill>
                <a:latin typeface="Times New Roman"/>
                <a:cs typeface="Times New Roman"/>
              </a:rPr>
              <a:t> </a:t>
            </a:r>
            <a:r>
              <a:rPr sz="2900" dirty="0">
                <a:solidFill>
                  <a:srgbClr val="FF0000"/>
                </a:solidFill>
                <a:latin typeface="Times New Roman"/>
                <a:cs typeface="Times New Roman"/>
              </a:rPr>
              <a:t>Ramanujan</a:t>
            </a:r>
            <a:r>
              <a:rPr sz="2900" spc="35" dirty="0">
                <a:solidFill>
                  <a:srgbClr val="FF0000"/>
                </a:solidFill>
                <a:latin typeface="Times New Roman"/>
                <a:cs typeface="Times New Roman"/>
              </a:rPr>
              <a:t> </a:t>
            </a:r>
            <a:r>
              <a:rPr sz="2900" dirty="0">
                <a:solidFill>
                  <a:srgbClr val="FF0000"/>
                </a:solidFill>
                <a:latin typeface="Times New Roman"/>
                <a:cs typeface="Times New Roman"/>
              </a:rPr>
              <a:t>Institute</a:t>
            </a:r>
            <a:r>
              <a:rPr sz="2900" spc="30" dirty="0">
                <a:solidFill>
                  <a:srgbClr val="FF0000"/>
                </a:solidFill>
                <a:latin typeface="Times New Roman"/>
                <a:cs typeface="Times New Roman"/>
              </a:rPr>
              <a:t> </a:t>
            </a:r>
            <a:r>
              <a:rPr sz="2900" dirty="0">
                <a:solidFill>
                  <a:srgbClr val="FF0000"/>
                </a:solidFill>
                <a:latin typeface="Times New Roman"/>
                <a:cs typeface="Times New Roman"/>
              </a:rPr>
              <a:t>of</a:t>
            </a:r>
            <a:r>
              <a:rPr sz="2900" spc="35" dirty="0">
                <a:solidFill>
                  <a:srgbClr val="FF0000"/>
                </a:solidFill>
                <a:latin typeface="Times New Roman"/>
                <a:cs typeface="Times New Roman"/>
              </a:rPr>
              <a:t> </a:t>
            </a:r>
            <a:r>
              <a:rPr sz="2900" spc="-10" dirty="0">
                <a:solidFill>
                  <a:srgbClr val="FF0000"/>
                </a:solidFill>
                <a:latin typeface="Times New Roman"/>
                <a:cs typeface="Times New Roman"/>
              </a:rPr>
              <a:t>Technology</a:t>
            </a:r>
            <a:endParaRPr sz="2900" dirty="0">
              <a:latin typeface="Times New Roman"/>
              <a:cs typeface="Times New Roman"/>
            </a:endParaRPr>
          </a:p>
          <a:p>
            <a:pPr marL="6985" algn="ctr">
              <a:lnSpc>
                <a:spcPts val="1070"/>
              </a:lnSpc>
            </a:pPr>
            <a:r>
              <a:rPr sz="950" b="1" spc="-10" dirty="0">
                <a:latin typeface="Times New Roman"/>
                <a:cs typeface="Times New Roman"/>
              </a:rPr>
              <a:t>(Affiliated</a:t>
            </a:r>
            <a:r>
              <a:rPr sz="950" b="1" spc="-25" dirty="0">
                <a:latin typeface="Times New Roman"/>
                <a:cs typeface="Times New Roman"/>
              </a:rPr>
              <a:t> </a:t>
            </a:r>
            <a:r>
              <a:rPr sz="950" b="1" dirty="0">
                <a:latin typeface="Times New Roman"/>
                <a:cs typeface="Times New Roman"/>
              </a:rPr>
              <a:t>to</a:t>
            </a:r>
            <a:r>
              <a:rPr sz="950" b="1" spc="-20" dirty="0">
                <a:latin typeface="Times New Roman"/>
                <a:cs typeface="Times New Roman"/>
              </a:rPr>
              <a:t> </a:t>
            </a:r>
            <a:r>
              <a:rPr sz="950" b="1" dirty="0">
                <a:latin typeface="Times New Roman"/>
                <a:cs typeface="Times New Roman"/>
              </a:rPr>
              <a:t>JNTUA</a:t>
            </a:r>
            <a:r>
              <a:rPr sz="950" b="1" spc="-20" dirty="0">
                <a:latin typeface="Times New Roman"/>
                <a:cs typeface="Times New Roman"/>
              </a:rPr>
              <a:t> </a:t>
            </a:r>
            <a:r>
              <a:rPr sz="950" b="1" dirty="0">
                <a:latin typeface="Times New Roman"/>
                <a:cs typeface="Times New Roman"/>
              </a:rPr>
              <a:t>&amp;</a:t>
            </a:r>
            <a:r>
              <a:rPr sz="950" b="1" spc="-20" dirty="0">
                <a:latin typeface="Times New Roman"/>
                <a:cs typeface="Times New Roman"/>
              </a:rPr>
              <a:t> </a:t>
            </a:r>
            <a:r>
              <a:rPr sz="950" b="1" spc="-10" dirty="0">
                <a:latin typeface="Times New Roman"/>
                <a:cs typeface="Times New Roman"/>
              </a:rPr>
              <a:t>Approved</a:t>
            </a:r>
            <a:r>
              <a:rPr sz="950" b="1" spc="-20" dirty="0">
                <a:latin typeface="Times New Roman"/>
                <a:cs typeface="Times New Roman"/>
              </a:rPr>
              <a:t> </a:t>
            </a:r>
            <a:r>
              <a:rPr sz="950" b="1" dirty="0">
                <a:latin typeface="Times New Roman"/>
                <a:cs typeface="Times New Roman"/>
              </a:rPr>
              <a:t>by</a:t>
            </a:r>
            <a:r>
              <a:rPr sz="950" b="1" spc="-25" dirty="0">
                <a:latin typeface="Times New Roman"/>
                <a:cs typeface="Times New Roman"/>
              </a:rPr>
              <a:t> </a:t>
            </a:r>
            <a:r>
              <a:rPr sz="950" b="1" dirty="0">
                <a:latin typeface="Times New Roman"/>
                <a:cs typeface="Times New Roman"/>
              </a:rPr>
              <a:t>AICTE)</a:t>
            </a:r>
            <a:r>
              <a:rPr sz="950" b="1" spc="-20" dirty="0">
                <a:latin typeface="Times New Roman"/>
                <a:cs typeface="Times New Roman"/>
              </a:rPr>
              <a:t> </a:t>
            </a:r>
            <a:r>
              <a:rPr sz="950" b="1" spc="-10" dirty="0">
                <a:latin typeface="Times New Roman"/>
                <a:cs typeface="Times New Roman"/>
              </a:rPr>
              <a:t>(Accredited</a:t>
            </a:r>
            <a:r>
              <a:rPr sz="950" b="1" spc="-20" dirty="0">
                <a:latin typeface="Times New Roman"/>
                <a:cs typeface="Times New Roman"/>
              </a:rPr>
              <a:t> </a:t>
            </a:r>
            <a:r>
              <a:rPr sz="950" b="1" dirty="0">
                <a:latin typeface="Times New Roman"/>
                <a:cs typeface="Times New Roman"/>
              </a:rPr>
              <a:t>by</a:t>
            </a:r>
            <a:r>
              <a:rPr sz="950" b="1" spc="-20" dirty="0">
                <a:latin typeface="Times New Roman"/>
                <a:cs typeface="Times New Roman"/>
              </a:rPr>
              <a:t> </a:t>
            </a:r>
            <a:r>
              <a:rPr sz="950" b="1" dirty="0">
                <a:latin typeface="Times New Roman"/>
                <a:cs typeface="Times New Roman"/>
              </a:rPr>
              <a:t>NAAC</a:t>
            </a:r>
            <a:r>
              <a:rPr sz="950" b="1" spc="-20" dirty="0">
                <a:latin typeface="Times New Roman"/>
                <a:cs typeface="Times New Roman"/>
              </a:rPr>
              <a:t> </a:t>
            </a:r>
            <a:r>
              <a:rPr sz="950" b="1" dirty="0">
                <a:latin typeface="Times New Roman"/>
                <a:cs typeface="Times New Roman"/>
              </a:rPr>
              <a:t>with</a:t>
            </a:r>
            <a:r>
              <a:rPr sz="950" b="1" spc="-25" dirty="0">
                <a:latin typeface="Times New Roman"/>
                <a:cs typeface="Times New Roman"/>
              </a:rPr>
              <a:t> </a:t>
            </a:r>
            <a:r>
              <a:rPr sz="950" b="1" dirty="0">
                <a:latin typeface="Times New Roman"/>
                <a:cs typeface="Times New Roman"/>
              </a:rPr>
              <a:t>‘A’</a:t>
            </a:r>
            <a:r>
              <a:rPr sz="950" b="1" spc="-20" dirty="0">
                <a:latin typeface="Times New Roman"/>
                <a:cs typeface="Times New Roman"/>
              </a:rPr>
              <a:t> </a:t>
            </a:r>
            <a:r>
              <a:rPr sz="950" b="1" dirty="0">
                <a:latin typeface="Times New Roman"/>
                <a:cs typeface="Times New Roman"/>
              </a:rPr>
              <a:t>Grade</a:t>
            </a:r>
            <a:r>
              <a:rPr sz="950" b="1" spc="-20" dirty="0">
                <a:latin typeface="Times New Roman"/>
                <a:cs typeface="Times New Roman"/>
              </a:rPr>
              <a:t> </a:t>
            </a:r>
            <a:r>
              <a:rPr sz="950" b="1" dirty="0">
                <a:latin typeface="Times New Roman"/>
                <a:cs typeface="Times New Roman"/>
              </a:rPr>
              <a:t>&amp;</a:t>
            </a:r>
            <a:r>
              <a:rPr sz="950" b="1" spc="-20" dirty="0">
                <a:latin typeface="Times New Roman"/>
                <a:cs typeface="Times New Roman"/>
              </a:rPr>
              <a:t> </a:t>
            </a:r>
            <a:r>
              <a:rPr sz="950" b="1" spc="-10" dirty="0">
                <a:latin typeface="Times New Roman"/>
                <a:cs typeface="Times New Roman"/>
              </a:rPr>
              <a:t>Accredited</a:t>
            </a:r>
            <a:r>
              <a:rPr sz="950" b="1" spc="-20" dirty="0">
                <a:latin typeface="Times New Roman"/>
                <a:cs typeface="Times New Roman"/>
              </a:rPr>
              <a:t> </a:t>
            </a:r>
            <a:r>
              <a:rPr sz="950" b="1" dirty="0">
                <a:latin typeface="Times New Roman"/>
                <a:cs typeface="Times New Roman"/>
              </a:rPr>
              <a:t>by</a:t>
            </a:r>
            <a:r>
              <a:rPr sz="950" b="1" spc="-25" dirty="0">
                <a:latin typeface="Times New Roman"/>
                <a:cs typeface="Times New Roman"/>
              </a:rPr>
              <a:t> </a:t>
            </a:r>
            <a:r>
              <a:rPr sz="950" b="1" dirty="0">
                <a:latin typeface="Times New Roman"/>
                <a:cs typeface="Times New Roman"/>
              </a:rPr>
              <a:t>NBA</a:t>
            </a:r>
            <a:r>
              <a:rPr sz="950" b="1" spc="-20" dirty="0">
                <a:latin typeface="Times New Roman"/>
                <a:cs typeface="Times New Roman"/>
              </a:rPr>
              <a:t> </a:t>
            </a:r>
            <a:r>
              <a:rPr sz="950" b="1" dirty="0">
                <a:latin typeface="Times New Roman"/>
                <a:cs typeface="Times New Roman"/>
              </a:rPr>
              <a:t>(EEE,</a:t>
            </a:r>
            <a:r>
              <a:rPr sz="950" b="1" spc="-20" dirty="0">
                <a:latin typeface="Times New Roman"/>
                <a:cs typeface="Times New Roman"/>
              </a:rPr>
              <a:t> </a:t>
            </a:r>
            <a:r>
              <a:rPr sz="950" b="1" dirty="0">
                <a:latin typeface="Times New Roman"/>
                <a:cs typeface="Times New Roman"/>
              </a:rPr>
              <a:t>ECE</a:t>
            </a:r>
            <a:r>
              <a:rPr sz="950" b="1" spc="-20" dirty="0">
                <a:latin typeface="Times New Roman"/>
                <a:cs typeface="Times New Roman"/>
              </a:rPr>
              <a:t> </a:t>
            </a:r>
            <a:r>
              <a:rPr sz="950" b="1" dirty="0">
                <a:latin typeface="Times New Roman"/>
                <a:cs typeface="Times New Roman"/>
              </a:rPr>
              <a:t>&amp;</a:t>
            </a:r>
            <a:r>
              <a:rPr sz="950" b="1" spc="-20" dirty="0">
                <a:latin typeface="Times New Roman"/>
                <a:cs typeface="Times New Roman"/>
              </a:rPr>
              <a:t> CSE)</a:t>
            </a:r>
            <a:endParaRPr sz="950" dirty="0">
              <a:latin typeface="Times New Roman"/>
              <a:cs typeface="Times New Roman"/>
            </a:endParaRPr>
          </a:p>
          <a:p>
            <a:pPr marL="5715" algn="ctr">
              <a:lnSpc>
                <a:spcPts val="1180"/>
              </a:lnSpc>
            </a:pPr>
            <a:r>
              <a:rPr sz="1000" b="1" dirty="0">
                <a:latin typeface="Times New Roman"/>
                <a:cs typeface="Times New Roman"/>
              </a:rPr>
              <a:t>Rotarypuram</a:t>
            </a:r>
            <a:r>
              <a:rPr sz="1000" b="1" spc="95" dirty="0">
                <a:latin typeface="Times New Roman"/>
                <a:cs typeface="Times New Roman"/>
              </a:rPr>
              <a:t> </a:t>
            </a:r>
            <a:r>
              <a:rPr sz="1000" b="1" dirty="0">
                <a:latin typeface="Times New Roman"/>
                <a:cs typeface="Times New Roman"/>
              </a:rPr>
              <a:t>Village,</a:t>
            </a:r>
            <a:r>
              <a:rPr sz="1000" b="1" spc="100" dirty="0">
                <a:latin typeface="Times New Roman"/>
                <a:cs typeface="Times New Roman"/>
              </a:rPr>
              <a:t> </a:t>
            </a:r>
            <a:r>
              <a:rPr sz="1000" b="1" dirty="0">
                <a:latin typeface="Times New Roman"/>
                <a:cs typeface="Times New Roman"/>
              </a:rPr>
              <a:t>B</a:t>
            </a:r>
            <a:r>
              <a:rPr sz="1000" b="1" spc="95" dirty="0">
                <a:latin typeface="Times New Roman"/>
                <a:cs typeface="Times New Roman"/>
              </a:rPr>
              <a:t> </a:t>
            </a:r>
            <a:r>
              <a:rPr sz="1000" b="1" dirty="0">
                <a:latin typeface="Times New Roman"/>
                <a:cs typeface="Times New Roman"/>
              </a:rPr>
              <a:t>K</a:t>
            </a:r>
            <a:r>
              <a:rPr sz="1000" b="1" spc="100" dirty="0">
                <a:latin typeface="Times New Roman"/>
                <a:cs typeface="Times New Roman"/>
              </a:rPr>
              <a:t> </a:t>
            </a:r>
            <a:r>
              <a:rPr sz="1000" b="1" dirty="0">
                <a:latin typeface="Times New Roman"/>
                <a:cs typeface="Times New Roman"/>
              </a:rPr>
              <a:t>Samudram</a:t>
            </a:r>
            <a:r>
              <a:rPr sz="1000" b="1" spc="100" dirty="0">
                <a:latin typeface="Times New Roman"/>
                <a:cs typeface="Times New Roman"/>
              </a:rPr>
              <a:t> </a:t>
            </a:r>
            <a:r>
              <a:rPr sz="1000" b="1" dirty="0">
                <a:latin typeface="Times New Roman"/>
                <a:cs typeface="Times New Roman"/>
              </a:rPr>
              <a:t>Mandal,</a:t>
            </a:r>
            <a:r>
              <a:rPr sz="1000" b="1" spc="95" dirty="0">
                <a:latin typeface="Times New Roman"/>
                <a:cs typeface="Times New Roman"/>
              </a:rPr>
              <a:t> </a:t>
            </a:r>
            <a:r>
              <a:rPr sz="1000" b="1" dirty="0">
                <a:latin typeface="Times New Roman"/>
                <a:cs typeface="Times New Roman"/>
              </a:rPr>
              <a:t>Ananthapuramu</a:t>
            </a:r>
            <a:r>
              <a:rPr sz="1000" b="1" spc="100" dirty="0">
                <a:latin typeface="Times New Roman"/>
                <a:cs typeface="Times New Roman"/>
              </a:rPr>
              <a:t> </a:t>
            </a:r>
            <a:r>
              <a:rPr sz="1000" b="1" dirty="0">
                <a:latin typeface="Times New Roman"/>
                <a:cs typeface="Times New Roman"/>
              </a:rPr>
              <a:t>–</a:t>
            </a:r>
            <a:r>
              <a:rPr sz="1000" b="1" spc="95" dirty="0">
                <a:latin typeface="Times New Roman"/>
                <a:cs typeface="Times New Roman"/>
              </a:rPr>
              <a:t> </a:t>
            </a:r>
            <a:r>
              <a:rPr sz="1000" b="1" spc="-10" dirty="0">
                <a:latin typeface="Times New Roman"/>
                <a:cs typeface="Times New Roman"/>
              </a:rPr>
              <a:t>515701.</a:t>
            </a:r>
            <a:endParaRPr sz="1000" dirty="0">
              <a:latin typeface="Times New Roman"/>
              <a:cs typeface="Times New Roman"/>
            </a:endParaRPr>
          </a:p>
          <a:p>
            <a:pPr marL="5080" algn="ctr">
              <a:lnSpc>
                <a:spcPct val="100000"/>
              </a:lnSpc>
              <a:spcBef>
                <a:spcPts val="630"/>
              </a:spcBef>
            </a:pPr>
            <a:r>
              <a:rPr sz="1100" b="1" dirty="0">
                <a:solidFill>
                  <a:srgbClr val="1E4E78"/>
                </a:solidFill>
                <a:latin typeface="Times New Roman"/>
                <a:cs typeface="Times New Roman"/>
              </a:rPr>
              <a:t>202</a:t>
            </a:r>
            <a:r>
              <a:rPr lang="en-IN" sz="1100" b="1" dirty="0">
                <a:solidFill>
                  <a:srgbClr val="1E4E78"/>
                </a:solidFill>
                <a:latin typeface="Times New Roman"/>
                <a:cs typeface="Times New Roman"/>
              </a:rPr>
              <a:t>5</a:t>
            </a:r>
            <a:r>
              <a:rPr sz="1100" b="1" spc="30" dirty="0">
                <a:solidFill>
                  <a:srgbClr val="1E4E78"/>
                </a:solidFill>
                <a:latin typeface="Times New Roman"/>
                <a:cs typeface="Times New Roman"/>
              </a:rPr>
              <a:t> </a:t>
            </a:r>
            <a:r>
              <a:rPr sz="1100" b="1" dirty="0">
                <a:solidFill>
                  <a:srgbClr val="1E4E78"/>
                </a:solidFill>
                <a:latin typeface="Times New Roman"/>
                <a:cs typeface="Times New Roman"/>
              </a:rPr>
              <a:t>-</a:t>
            </a:r>
            <a:r>
              <a:rPr sz="1100" b="1" spc="30" dirty="0">
                <a:solidFill>
                  <a:srgbClr val="1E4E78"/>
                </a:solidFill>
                <a:latin typeface="Times New Roman"/>
                <a:cs typeface="Times New Roman"/>
              </a:rPr>
              <a:t> </a:t>
            </a:r>
            <a:r>
              <a:rPr sz="1100" b="1" spc="-20" dirty="0">
                <a:solidFill>
                  <a:srgbClr val="1E4E78"/>
                </a:solidFill>
                <a:latin typeface="Times New Roman"/>
                <a:cs typeface="Times New Roman"/>
              </a:rPr>
              <a:t>202</a:t>
            </a:r>
            <a:r>
              <a:rPr lang="en-IN" sz="1100" b="1" spc="-20" dirty="0">
                <a:solidFill>
                  <a:srgbClr val="1E4E78"/>
                </a:solidFill>
                <a:latin typeface="Times New Roman"/>
                <a:cs typeface="Times New Roman"/>
              </a:rPr>
              <a:t>6</a:t>
            </a:r>
            <a:endParaRPr sz="1100" dirty="0">
              <a:latin typeface="Times New Roman"/>
              <a:cs typeface="Times New Roman"/>
            </a:endParaRPr>
          </a:p>
        </p:txBody>
      </p:sp>
      <p:sp>
        <p:nvSpPr>
          <p:cNvPr id="12" name="object 12"/>
          <p:cNvSpPr txBox="1"/>
          <p:nvPr/>
        </p:nvSpPr>
        <p:spPr>
          <a:xfrm>
            <a:off x="3131191" y="1663046"/>
            <a:ext cx="2211174" cy="598241"/>
          </a:xfrm>
          <a:prstGeom prst="rect">
            <a:avLst/>
          </a:prstGeom>
        </p:spPr>
        <p:txBody>
          <a:bodyPr vert="horz" wrap="square" lIns="0" tIns="13335" rIns="0" bIns="0" rtlCol="0" anchor="t">
            <a:spAutoFit/>
          </a:bodyPr>
          <a:lstStyle/>
          <a:p>
            <a:pPr algn="ctr">
              <a:lnSpc>
                <a:spcPct val="100000"/>
              </a:lnSpc>
              <a:spcBef>
                <a:spcPts val="105"/>
              </a:spcBef>
            </a:pPr>
            <a:r>
              <a:rPr lang="en-IN" sz="2400" dirty="0">
                <a:latin typeface="Times New Roman"/>
                <a:cs typeface="Times New Roman"/>
              </a:rPr>
              <a:t>P. Poojitha</a:t>
            </a:r>
            <a:endParaRPr sz="2400" dirty="0">
              <a:latin typeface="Times New Roman"/>
              <a:cs typeface="Times New Roman"/>
            </a:endParaRPr>
          </a:p>
          <a:p>
            <a:pPr marL="1905" algn="ctr">
              <a:lnSpc>
                <a:spcPct val="100000"/>
              </a:lnSpc>
              <a:spcBef>
                <a:spcPts val="35"/>
              </a:spcBef>
            </a:pPr>
            <a:r>
              <a:rPr sz="1400" dirty="0">
                <a:latin typeface="Times New Roman"/>
                <a:cs typeface="Times New Roman"/>
              </a:rPr>
              <a:t>Roll No. </a:t>
            </a:r>
            <a:r>
              <a:rPr sz="1400" spc="-10" dirty="0">
                <a:latin typeface="Times New Roman"/>
                <a:cs typeface="Times New Roman"/>
              </a:rPr>
              <a:t>2</a:t>
            </a:r>
            <a:r>
              <a:rPr lang="en-IN" sz="1400" spc="-10" dirty="0">
                <a:latin typeface="Times New Roman"/>
                <a:cs typeface="Times New Roman"/>
              </a:rPr>
              <a:t>24G1A3371</a:t>
            </a:r>
            <a:endParaRPr sz="1400" dirty="0">
              <a:latin typeface="Times New Roman"/>
              <a:cs typeface="Times New Roman"/>
            </a:endParaRPr>
          </a:p>
        </p:txBody>
      </p:sp>
      <p:sp>
        <p:nvSpPr>
          <p:cNvPr id="13" name="object 13"/>
          <p:cNvSpPr txBox="1"/>
          <p:nvPr/>
        </p:nvSpPr>
        <p:spPr>
          <a:xfrm>
            <a:off x="8193817" y="1665723"/>
            <a:ext cx="2819400" cy="611065"/>
          </a:xfrm>
          <a:prstGeom prst="rect">
            <a:avLst/>
          </a:prstGeom>
        </p:spPr>
        <p:txBody>
          <a:bodyPr vert="horz" wrap="square" lIns="0" tIns="13335" rIns="0" bIns="0" rtlCol="0" anchor="t">
            <a:spAutoFit/>
          </a:bodyPr>
          <a:lstStyle/>
          <a:p>
            <a:pPr algn="ctr">
              <a:spcBef>
                <a:spcPts val="105"/>
              </a:spcBef>
            </a:pPr>
            <a:r>
              <a:rPr lang="en-IN" sz="2400" spc="-30" dirty="0">
                <a:latin typeface="Times New Roman"/>
                <a:cs typeface="Times New Roman"/>
              </a:rPr>
              <a:t> M. </a:t>
            </a:r>
            <a:r>
              <a:rPr lang="en-IN" sz="2400" spc="-30" dirty="0" err="1">
                <a:latin typeface="Times New Roman"/>
                <a:cs typeface="Times New Roman"/>
              </a:rPr>
              <a:t>Saipriya</a:t>
            </a:r>
            <a:endParaRPr lang="en-IN" sz="1100" spc="-10" dirty="0">
              <a:latin typeface="Times New Roman"/>
              <a:cs typeface="Times New Roman"/>
            </a:endParaRPr>
          </a:p>
          <a:p>
            <a:pPr algn="ctr">
              <a:spcBef>
                <a:spcPts val="105"/>
              </a:spcBef>
            </a:pPr>
            <a:r>
              <a:rPr sz="1400" dirty="0">
                <a:latin typeface="Times New Roman"/>
                <a:cs typeface="Times New Roman"/>
              </a:rPr>
              <a:t>Roll No. </a:t>
            </a:r>
            <a:r>
              <a:rPr lang="en-US" sz="1400" spc="-10">
                <a:latin typeface="Times New Roman"/>
                <a:cs typeface="Times New Roman"/>
              </a:rPr>
              <a:t>224G1A3390</a:t>
            </a:r>
            <a:endParaRPr lang="en-IN" sz="1400" spc="-10" dirty="0">
              <a:latin typeface="Times New Roman"/>
              <a:cs typeface="Times New Roman"/>
            </a:endParaRPr>
          </a:p>
        </p:txBody>
      </p:sp>
      <p:sp>
        <p:nvSpPr>
          <p:cNvPr id="14" name="object 14"/>
          <p:cNvSpPr txBox="1"/>
          <p:nvPr/>
        </p:nvSpPr>
        <p:spPr>
          <a:xfrm>
            <a:off x="697859" y="1672134"/>
            <a:ext cx="2345821" cy="598241"/>
          </a:xfrm>
          <a:prstGeom prst="rect">
            <a:avLst/>
          </a:prstGeom>
        </p:spPr>
        <p:txBody>
          <a:bodyPr vert="horz" wrap="square" lIns="0" tIns="13335" rIns="0" bIns="0" rtlCol="0" anchor="t">
            <a:spAutoFit/>
          </a:bodyPr>
          <a:lstStyle/>
          <a:p>
            <a:pPr algn="ctr">
              <a:lnSpc>
                <a:spcPct val="100000"/>
              </a:lnSpc>
              <a:spcBef>
                <a:spcPts val="105"/>
              </a:spcBef>
            </a:pPr>
            <a:r>
              <a:rPr lang="en-IN" sz="2400" spc="-50" dirty="0">
                <a:latin typeface="Times New Roman"/>
                <a:cs typeface="Times New Roman"/>
              </a:rPr>
              <a:t>D. </a:t>
            </a:r>
            <a:r>
              <a:rPr lang="en-IN" sz="2400" spc="-50" dirty="0" err="1">
                <a:latin typeface="Times New Roman"/>
                <a:cs typeface="Times New Roman"/>
              </a:rPr>
              <a:t>Prashanth</a:t>
            </a:r>
            <a:endParaRPr sz="2400" dirty="0">
              <a:latin typeface="Times New Roman"/>
              <a:cs typeface="Times New Roman"/>
            </a:endParaRPr>
          </a:p>
          <a:p>
            <a:pPr marL="1905" algn="ctr">
              <a:lnSpc>
                <a:spcPct val="100000"/>
              </a:lnSpc>
              <a:spcBef>
                <a:spcPts val="35"/>
              </a:spcBef>
            </a:pPr>
            <a:r>
              <a:rPr sz="1400" dirty="0">
                <a:latin typeface="Times New Roman"/>
                <a:cs typeface="Times New Roman"/>
              </a:rPr>
              <a:t>Roll No. </a:t>
            </a:r>
            <a:r>
              <a:rPr sz="1400" spc="-10" dirty="0">
                <a:latin typeface="Times New Roman"/>
                <a:cs typeface="Times New Roman"/>
              </a:rPr>
              <a:t>2</a:t>
            </a:r>
            <a:r>
              <a:rPr lang="en-IN" sz="1400" spc="-10" dirty="0">
                <a:latin typeface="Times New Roman"/>
                <a:cs typeface="Times New Roman"/>
              </a:rPr>
              <a:t>24G1A3374</a:t>
            </a:r>
            <a:endParaRPr sz="1400" dirty="0">
              <a:latin typeface="Times New Roman"/>
              <a:cs typeface="Times New Roman"/>
            </a:endParaRPr>
          </a:p>
        </p:txBody>
      </p:sp>
      <p:grpSp>
        <p:nvGrpSpPr>
          <p:cNvPr id="15" name="object 15"/>
          <p:cNvGrpSpPr/>
          <p:nvPr/>
        </p:nvGrpSpPr>
        <p:grpSpPr>
          <a:xfrm>
            <a:off x="697859" y="297171"/>
            <a:ext cx="10642600" cy="972185"/>
            <a:chOff x="697859" y="297171"/>
            <a:chExt cx="10642600" cy="972185"/>
          </a:xfrm>
        </p:grpSpPr>
        <p:pic>
          <p:nvPicPr>
            <p:cNvPr id="16" name="object 16"/>
            <p:cNvPicPr/>
            <p:nvPr/>
          </p:nvPicPr>
          <p:blipFill>
            <a:blip r:embed="rId3" cstate="print"/>
            <a:stretch>
              <a:fillRect/>
            </a:stretch>
          </p:blipFill>
          <p:spPr>
            <a:xfrm>
              <a:off x="697859" y="297171"/>
              <a:ext cx="10642482" cy="972164"/>
            </a:xfrm>
            <a:prstGeom prst="rect">
              <a:avLst/>
            </a:prstGeom>
          </p:spPr>
        </p:pic>
        <p:sp>
          <p:nvSpPr>
            <p:cNvPr id="17" name="object 17"/>
            <p:cNvSpPr/>
            <p:nvPr/>
          </p:nvSpPr>
          <p:spPr>
            <a:xfrm>
              <a:off x="755008" y="335270"/>
              <a:ext cx="10528300" cy="857885"/>
            </a:xfrm>
            <a:custGeom>
              <a:avLst/>
              <a:gdLst/>
              <a:ahLst/>
              <a:cxnLst/>
              <a:rect l="l" t="t" r="r" b="b"/>
              <a:pathLst>
                <a:path w="10528300" h="857885">
                  <a:moveTo>
                    <a:pt x="10385202" y="857863"/>
                  </a:moveTo>
                  <a:lnTo>
                    <a:pt x="142980" y="857863"/>
                  </a:lnTo>
                  <a:lnTo>
                    <a:pt x="97787" y="850574"/>
                  </a:lnTo>
                  <a:lnTo>
                    <a:pt x="58537" y="830277"/>
                  </a:lnTo>
                  <a:lnTo>
                    <a:pt x="27586" y="799326"/>
                  </a:lnTo>
                  <a:lnTo>
                    <a:pt x="7289" y="760076"/>
                  </a:lnTo>
                  <a:lnTo>
                    <a:pt x="0" y="714883"/>
                  </a:lnTo>
                  <a:lnTo>
                    <a:pt x="0" y="142980"/>
                  </a:lnTo>
                  <a:lnTo>
                    <a:pt x="7289" y="97787"/>
                  </a:lnTo>
                  <a:lnTo>
                    <a:pt x="27586" y="58537"/>
                  </a:lnTo>
                  <a:lnTo>
                    <a:pt x="58537" y="27586"/>
                  </a:lnTo>
                  <a:lnTo>
                    <a:pt x="97787" y="7289"/>
                  </a:lnTo>
                  <a:lnTo>
                    <a:pt x="142980" y="0"/>
                  </a:lnTo>
                  <a:lnTo>
                    <a:pt x="10385202" y="0"/>
                  </a:lnTo>
                  <a:lnTo>
                    <a:pt x="10439918" y="10883"/>
                  </a:lnTo>
                  <a:lnTo>
                    <a:pt x="10486304" y="41877"/>
                  </a:lnTo>
                  <a:lnTo>
                    <a:pt x="10517299" y="88264"/>
                  </a:lnTo>
                  <a:lnTo>
                    <a:pt x="10528183" y="142980"/>
                  </a:lnTo>
                  <a:lnTo>
                    <a:pt x="10528183" y="714883"/>
                  </a:lnTo>
                  <a:lnTo>
                    <a:pt x="10520894" y="760076"/>
                  </a:lnTo>
                  <a:lnTo>
                    <a:pt x="10500596" y="799326"/>
                  </a:lnTo>
                  <a:lnTo>
                    <a:pt x="10469645" y="830277"/>
                  </a:lnTo>
                  <a:lnTo>
                    <a:pt x="10430395" y="850574"/>
                  </a:lnTo>
                  <a:lnTo>
                    <a:pt x="10385202" y="857863"/>
                  </a:lnTo>
                  <a:close/>
                </a:path>
              </a:pathLst>
            </a:custGeom>
            <a:solidFill>
              <a:srgbClr val="FF6600"/>
            </a:solidFill>
          </p:spPr>
          <p:txBody>
            <a:bodyPr wrap="square" lIns="0" tIns="0" rIns="0" bIns="0" rtlCol="0"/>
            <a:lstStyle/>
            <a:p>
              <a:endParaRPr dirty="0"/>
            </a:p>
          </p:txBody>
        </p:sp>
      </p:grpSp>
      <p:sp>
        <p:nvSpPr>
          <p:cNvPr id="18" name="object 18"/>
          <p:cNvSpPr txBox="1">
            <a:spLocks noGrp="1"/>
          </p:cNvSpPr>
          <p:nvPr>
            <p:ph type="title"/>
          </p:nvPr>
        </p:nvSpPr>
        <p:spPr>
          <a:xfrm>
            <a:off x="1291835" y="501570"/>
            <a:ext cx="9525000" cy="443711"/>
          </a:xfrm>
          <a:prstGeom prst="rect">
            <a:avLst/>
          </a:prstGeom>
        </p:spPr>
        <p:txBody>
          <a:bodyPr vert="horz" wrap="square" lIns="0" tIns="12700" rIns="0" bIns="0" rtlCol="0" anchor="t">
            <a:spAutoFit/>
          </a:bodyPr>
          <a:lstStyle/>
          <a:p>
            <a:pPr marL="12700" algn="ctr">
              <a:spcBef>
                <a:spcPts val="100"/>
              </a:spcBef>
            </a:pPr>
            <a:r>
              <a:rPr lang="en-US" sz="2800" dirty="0"/>
              <a:t>Secure Digital Forensic Evidence Storage System</a:t>
            </a:r>
            <a:endParaRPr lang="en-IN" sz="2500" dirty="0"/>
          </a:p>
        </p:txBody>
      </p:sp>
      <p:sp>
        <p:nvSpPr>
          <p:cNvPr id="19" name="object 19"/>
          <p:cNvSpPr txBox="1"/>
          <p:nvPr/>
        </p:nvSpPr>
        <p:spPr>
          <a:xfrm>
            <a:off x="5987420" y="1278968"/>
            <a:ext cx="217170" cy="269240"/>
          </a:xfrm>
          <a:prstGeom prst="rect">
            <a:avLst/>
          </a:prstGeom>
        </p:spPr>
        <p:txBody>
          <a:bodyPr vert="horz" wrap="square" lIns="0" tIns="12700" rIns="0" bIns="0" rtlCol="0">
            <a:spAutoFit/>
          </a:bodyPr>
          <a:lstStyle/>
          <a:p>
            <a:pPr marL="12700">
              <a:lnSpc>
                <a:spcPct val="100000"/>
              </a:lnSpc>
              <a:spcBef>
                <a:spcPts val="100"/>
              </a:spcBef>
            </a:pPr>
            <a:r>
              <a:rPr sz="1600" i="1" spc="-25" dirty="0">
                <a:latin typeface="Times New Roman"/>
                <a:cs typeface="Times New Roman"/>
              </a:rPr>
              <a:t>by</a:t>
            </a:r>
            <a:endParaRPr sz="1600">
              <a:latin typeface="Times New Roman"/>
              <a:cs typeface="Times New Roman"/>
            </a:endParaRPr>
          </a:p>
        </p:txBody>
      </p:sp>
      <p:pic>
        <p:nvPicPr>
          <p:cNvPr id="20" name="object 20"/>
          <p:cNvPicPr/>
          <p:nvPr/>
        </p:nvPicPr>
        <p:blipFill>
          <a:blip r:embed="rId4" cstate="print"/>
          <a:stretch>
            <a:fillRect/>
          </a:stretch>
        </p:blipFill>
        <p:spPr>
          <a:xfrm>
            <a:off x="5273238" y="3560742"/>
            <a:ext cx="1659050" cy="1578160"/>
          </a:xfrm>
          <a:prstGeom prst="rect">
            <a:avLst/>
          </a:prstGeom>
        </p:spPr>
      </p:pic>
      <p:sp>
        <p:nvSpPr>
          <p:cNvPr id="27" name="TextBox 26">
            <a:extLst>
              <a:ext uri="{FF2B5EF4-FFF2-40B4-BE49-F238E27FC236}">
                <a16:creationId xmlns:a16="http://schemas.microsoft.com/office/drawing/2014/main" id="{359CF6B6-5F8C-ABC8-2607-C8A5865035DA}"/>
              </a:ext>
            </a:extLst>
          </p:cNvPr>
          <p:cNvSpPr txBox="1"/>
          <p:nvPr/>
        </p:nvSpPr>
        <p:spPr>
          <a:xfrm>
            <a:off x="6668924" y="6587523"/>
            <a:ext cx="4931113" cy="323165"/>
          </a:xfrm>
          <a:prstGeom prst="rect">
            <a:avLst/>
          </a:prstGeom>
          <a:noFill/>
        </p:spPr>
        <p:txBody>
          <a:bodyPr wrap="square">
            <a:spAutoFit/>
          </a:bodyPr>
          <a:lstStyle/>
          <a:p>
            <a:pPr marL="12700">
              <a:lnSpc>
                <a:spcPts val="1845"/>
              </a:lnSpc>
            </a:pPr>
            <a:r>
              <a:rPr lang="en-US" sz="1600" cap="small" spc="-105" dirty="0">
                <a:solidFill>
                  <a:srgbClr val="FFFFFF"/>
                </a:solidFill>
                <a:latin typeface="Times New Roman"/>
                <a:cs typeface="Times New Roman"/>
              </a:rPr>
              <a:t>    Srinivasa</a:t>
            </a:r>
            <a:r>
              <a:rPr lang="en-US" sz="1600" cap="small" spc="70" dirty="0">
                <a:solidFill>
                  <a:srgbClr val="FFFFFF"/>
                </a:solidFill>
                <a:latin typeface="Times New Roman"/>
                <a:cs typeface="Times New Roman"/>
              </a:rPr>
              <a:t> </a:t>
            </a:r>
            <a:r>
              <a:rPr lang="en-US" sz="1600" cap="small" spc="-120" dirty="0">
                <a:solidFill>
                  <a:srgbClr val="FFFFFF"/>
                </a:solidFill>
                <a:latin typeface="Times New Roman"/>
                <a:cs typeface="Times New Roman"/>
              </a:rPr>
              <a:t>Ramanujan</a:t>
            </a:r>
            <a:r>
              <a:rPr lang="en-US" sz="1600" cap="small" spc="75" dirty="0">
                <a:solidFill>
                  <a:srgbClr val="FFFFFF"/>
                </a:solidFill>
                <a:latin typeface="Times New Roman"/>
                <a:cs typeface="Times New Roman"/>
              </a:rPr>
              <a:t> </a:t>
            </a:r>
            <a:r>
              <a:rPr lang="en-US" sz="1600" cap="small" spc="-110" dirty="0">
                <a:solidFill>
                  <a:srgbClr val="FFFFFF"/>
                </a:solidFill>
                <a:latin typeface="Times New Roman"/>
                <a:cs typeface="Times New Roman"/>
              </a:rPr>
              <a:t>Institute</a:t>
            </a:r>
            <a:r>
              <a:rPr lang="en-US" sz="1600" cap="small" spc="75" dirty="0">
                <a:solidFill>
                  <a:srgbClr val="FFFFFF"/>
                </a:solidFill>
                <a:latin typeface="Times New Roman"/>
                <a:cs typeface="Times New Roman"/>
              </a:rPr>
              <a:t> </a:t>
            </a:r>
            <a:r>
              <a:rPr lang="en-US" sz="1600" cap="small" spc="-100" dirty="0">
                <a:solidFill>
                  <a:srgbClr val="FFFFFF"/>
                </a:solidFill>
                <a:latin typeface="Times New Roman"/>
                <a:cs typeface="Times New Roman"/>
              </a:rPr>
              <a:t>of</a:t>
            </a:r>
            <a:r>
              <a:rPr lang="en-US" sz="1600" cap="small" spc="75" dirty="0">
                <a:solidFill>
                  <a:srgbClr val="FFFFFF"/>
                </a:solidFill>
                <a:latin typeface="Times New Roman"/>
                <a:cs typeface="Times New Roman"/>
              </a:rPr>
              <a:t> </a:t>
            </a:r>
            <a:r>
              <a:rPr lang="en-US" sz="1600" cap="small" spc="-140" dirty="0">
                <a:solidFill>
                  <a:srgbClr val="FFFFFF"/>
                </a:solidFill>
                <a:latin typeface="Times New Roman"/>
                <a:cs typeface="Times New Roman"/>
              </a:rPr>
              <a:t>Technology</a:t>
            </a:r>
            <a:endParaRPr lang="en-US" sz="1600" dirty="0">
              <a:latin typeface="Times New Roman"/>
              <a:cs typeface="Times New Roman"/>
            </a:endParaRPr>
          </a:p>
        </p:txBody>
      </p:sp>
      <p:sp>
        <p:nvSpPr>
          <p:cNvPr id="21" name="object 12">
            <a:extLst>
              <a:ext uri="{FF2B5EF4-FFF2-40B4-BE49-F238E27FC236}">
                <a16:creationId xmlns:a16="http://schemas.microsoft.com/office/drawing/2014/main" id="{15A9E691-713E-A339-E7FB-17342247BA5D}"/>
              </a:ext>
            </a:extLst>
          </p:cNvPr>
          <p:cNvSpPr txBox="1">
            <a:spLocks noGrp="1"/>
          </p:cNvSpPr>
          <p:nvPr>
            <p:ph type="sldNum" sz="quarter" idx="7"/>
          </p:nvPr>
        </p:nvSpPr>
        <p:spPr>
          <a:xfrm>
            <a:off x="11858823" y="6675966"/>
            <a:ext cx="228600" cy="250825"/>
          </a:xfrm>
          <a:prstGeom prst="rect">
            <a:avLst/>
          </a:prstGeom>
        </p:spPr>
        <p:txBody>
          <a:bodyPr vert="horz" wrap="square" lIns="0" tIns="0" rIns="0" bIns="0" rtlCol="0">
            <a:spAutoFit/>
          </a:bodyPr>
          <a:lstStyle/>
          <a:p>
            <a:pPr marL="12700">
              <a:lnSpc>
                <a:spcPts val="1845"/>
              </a:lnSpc>
            </a:pPr>
            <a:fld id="{81D60167-4931-47E6-BA6A-407CBD079E47}" type="slidenum">
              <a:rPr spc="-25" dirty="0"/>
              <a:t>1</a:t>
            </a:fld>
            <a:endParaRPr spc="-25" dirty="0"/>
          </a:p>
        </p:txBody>
      </p:sp>
      <p:sp>
        <p:nvSpPr>
          <p:cNvPr id="24" name="TextBox 23">
            <a:extLst>
              <a:ext uri="{FF2B5EF4-FFF2-40B4-BE49-F238E27FC236}">
                <a16:creationId xmlns:a16="http://schemas.microsoft.com/office/drawing/2014/main" id="{AC18161F-A648-DC36-6F61-27A9EDA2AF9B}"/>
              </a:ext>
            </a:extLst>
          </p:cNvPr>
          <p:cNvSpPr txBox="1"/>
          <p:nvPr/>
        </p:nvSpPr>
        <p:spPr>
          <a:xfrm>
            <a:off x="4724400" y="3200400"/>
            <a:ext cx="2743200" cy="4770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2500" dirty="0">
                <a:solidFill>
                  <a:srgbClr val="FFFFFF"/>
                </a:solidFill>
                <a:latin typeface="Times New Roman"/>
                <a:cs typeface="Times New Roman"/>
              </a:rPr>
              <a:t>e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3"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14744" y="293973"/>
            <a:ext cx="3820616" cy="689932"/>
          </a:xfrm>
          <a:prstGeom prst="rect">
            <a:avLst/>
          </a:prstGeom>
        </p:spPr>
        <p:txBody>
          <a:bodyPr vert="horz" wrap="square" lIns="0" tIns="12700" rIns="0" bIns="0" rtlCol="0">
            <a:spAutoFit/>
          </a:bodyPr>
          <a:lstStyle/>
          <a:p>
            <a:pPr marL="12700">
              <a:lnSpc>
                <a:spcPct val="100000"/>
              </a:lnSpc>
              <a:spcBef>
                <a:spcPts val="100"/>
              </a:spcBef>
            </a:pPr>
            <a:r>
              <a:rPr spc="-10" dirty="0"/>
              <a:t>Contents</a:t>
            </a:r>
          </a:p>
        </p:txBody>
      </p:sp>
      <p:sp>
        <p:nvSpPr>
          <p:cNvPr id="9" name="object 9"/>
          <p:cNvSpPr txBox="1">
            <a:spLocks noGrp="1"/>
          </p:cNvSpPr>
          <p:nvPr>
            <p:ph type="dt" sz="half" idx="6"/>
          </p:nvPr>
        </p:nvSpPr>
        <p:spPr>
          <a:xfrm>
            <a:off x="1074848" y="6625241"/>
            <a:ext cx="6306202"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0" name="object 10"/>
          <p:cNvSpPr txBox="1"/>
          <p:nvPr/>
        </p:nvSpPr>
        <p:spPr>
          <a:xfrm>
            <a:off x="6682329" y="6651444"/>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p:nvPr/>
        </p:nvSpPr>
        <p:spPr>
          <a:xfrm>
            <a:off x="11909611" y="6629309"/>
            <a:ext cx="127000" cy="230832"/>
          </a:xfrm>
          <a:prstGeom prst="rect">
            <a:avLst/>
          </a:prstGeom>
        </p:spPr>
        <p:txBody>
          <a:bodyPr vert="horz" wrap="square" lIns="0" tIns="0" rIns="0" bIns="0" rtlCol="0">
            <a:spAutoFit/>
          </a:bodyPr>
          <a:lstStyle/>
          <a:p>
            <a:pPr marL="12700">
              <a:lnSpc>
                <a:spcPts val="1845"/>
              </a:lnSpc>
            </a:pPr>
            <a:r>
              <a:rPr lang="en-IN" sz="1600" b="1" spc="-50" dirty="0">
                <a:solidFill>
                  <a:srgbClr val="002060"/>
                </a:solidFill>
                <a:latin typeface="Times New Roman"/>
                <a:cs typeface="Times New Roman"/>
              </a:rPr>
              <a:t>2</a:t>
            </a:r>
            <a:endParaRPr sz="1600" dirty="0">
              <a:latin typeface="Times New Roman"/>
              <a:cs typeface="Times New Roman"/>
            </a:endParaRPr>
          </a:p>
        </p:txBody>
      </p:sp>
      <p:sp>
        <p:nvSpPr>
          <p:cNvPr id="7" name="object 7"/>
          <p:cNvSpPr txBox="1"/>
          <p:nvPr/>
        </p:nvSpPr>
        <p:spPr>
          <a:xfrm>
            <a:off x="325852" y="1108455"/>
            <a:ext cx="8437148" cy="3842077"/>
          </a:xfrm>
          <a:prstGeom prst="rect">
            <a:avLst/>
          </a:prstGeom>
        </p:spPr>
        <p:txBody>
          <a:bodyPr vert="horz" wrap="square" lIns="0" tIns="12700" rIns="0" bIns="0" rtlCol="0">
            <a:spAutoFit/>
          </a:bodyPr>
          <a:lstStyle/>
          <a:p>
            <a:r>
              <a:rPr lang="en-US" sz="2200" dirty="0">
                <a:latin typeface="Times New Roman" panose="02020603050405020304" pitchFamily="18" charset="0"/>
                <a:cs typeface="Times New Roman" panose="02020603050405020304" pitchFamily="18" charset="0"/>
              </a:rPr>
              <a:t>• Abstract </a:t>
            </a:r>
          </a:p>
          <a:p>
            <a:r>
              <a:rPr lang="en-US" sz="2200" dirty="0">
                <a:latin typeface="Times New Roman" panose="02020603050405020304" pitchFamily="18" charset="0"/>
                <a:cs typeface="Times New Roman" panose="02020603050405020304" pitchFamily="18" charset="0"/>
              </a:rPr>
              <a:t>• Problem statement</a:t>
            </a:r>
          </a:p>
          <a:p>
            <a:r>
              <a:rPr lang="en-US" sz="2200" dirty="0">
                <a:latin typeface="Times New Roman" panose="02020603050405020304" pitchFamily="18" charset="0"/>
                <a:cs typeface="Times New Roman" panose="02020603050405020304" pitchFamily="18" charset="0"/>
              </a:rPr>
              <a:t>• Objectives of Project</a:t>
            </a:r>
          </a:p>
          <a:p>
            <a:r>
              <a:rPr lang="en-US" sz="2200" dirty="0">
                <a:latin typeface="Times New Roman" panose="02020603050405020304" pitchFamily="18" charset="0"/>
                <a:cs typeface="Times New Roman" panose="02020603050405020304" pitchFamily="18" charset="0"/>
              </a:rPr>
              <a:t>• Literature survey for objectives</a:t>
            </a:r>
          </a:p>
          <a:p>
            <a:r>
              <a:rPr lang="en-US" sz="2200" dirty="0">
                <a:latin typeface="Times New Roman" panose="02020603050405020304" pitchFamily="18" charset="0"/>
                <a:cs typeface="Times New Roman" panose="02020603050405020304" pitchFamily="18" charset="0"/>
              </a:rPr>
              <a:t>• Existing System</a:t>
            </a:r>
          </a:p>
          <a:p>
            <a:r>
              <a:rPr lang="en-US" sz="2200" dirty="0">
                <a:latin typeface="Times New Roman" panose="02020603050405020304" pitchFamily="18" charset="0"/>
                <a:cs typeface="Times New Roman" panose="02020603050405020304" pitchFamily="18" charset="0"/>
              </a:rPr>
              <a:t>• Proposed System</a:t>
            </a:r>
          </a:p>
          <a:p>
            <a:r>
              <a:rPr lang="en-US" sz="2200" dirty="0">
                <a:latin typeface="Times New Roman" panose="02020603050405020304" pitchFamily="18" charset="0"/>
                <a:cs typeface="Times New Roman" panose="02020603050405020304" pitchFamily="18" charset="0"/>
              </a:rPr>
              <a:t>• References</a:t>
            </a:r>
          </a:p>
          <a:p>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GitHub</a:t>
            </a:r>
            <a:r>
              <a:rPr lang="en-US" sz="2200" dirty="0">
                <a:latin typeface="Times New Roman" panose="02020603050405020304" pitchFamily="18" charset="0"/>
                <a:cs typeface="Times New Roman" panose="02020603050405020304" pitchFamily="18" charset="0"/>
              </a:rPr>
              <a:t> Link</a:t>
            </a:r>
          </a:p>
          <a:p>
            <a:r>
              <a:rPr lang="en-US" sz="2200" dirty="0">
                <a:latin typeface="Times New Roman" panose="02020603050405020304" pitchFamily="18" charset="0"/>
                <a:cs typeface="Times New Roman" panose="02020603050405020304" pitchFamily="18" charset="0"/>
              </a:rPr>
              <a:t>• Queries</a:t>
            </a:r>
          </a:p>
          <a:p>
            <a:endParaRPr lang="en-US" sz="2200" dirty="0">
              <a:latin typeface="Times New Roman" panose="02020603050405020304" pitchFamily="18" charset="0"/>
              <a:cs typeface="Times New Roman" panose="02020603050405020304" pitchFamily="18" charset="0"/>
            </a:endParaRPr>
          </a:p>
          <a:p>
            <a:pPr marL="12700">
              <a:lnSpc>
                <a:spcPct val="100000"/>
              </a:lnSpc>
              <a:spcBef>
                <a:spcPts val="100"/>
              </a:spcBef>
              <a:tabLst>
                <a:tab pos="421005" algn="l"/>
              </a:tabLst>
            </a:pPr>
            <a:endParaRPr sz="2800" dirty="0">
              <a:latin typeface="Times New Roman"/>
              <a:cs typeface="Times New Roman"/>
            </a:endParaRPr>
          </a:p>
        </p:txBody>
      </p:sp>
      <p:sp>
        <p:nvSpPr>
          <p:cNvPr id="12" name="object 2">
            <a:extLst>
              <a:ext uri="{FF2B5EF4-FFF2-40B4-BE49-F238E27FC236}">
                <a16:creationId xmlns:a16="http://schemas.microsoft.com/office/drawing/2014/main" id="{FDA4E3D9-FF78-45E3-9BC4-8D72D4A74DD6}"/>
              </a:ext>
            </a:extLst>
          </p:cNvPr>
          <p:cNvSpPr txBox="1"/>
          <p:nvPr/>
        </p:nvSpPr>
        <p:spPr>
          <a:xfrm>
            <a:off x="3604387" y="-10897"/>
            <a:ext cx="4333674" cy="228268"/>
          </a:xfrm>
          <a:prstGeom prst="rect">
            <a:avLst/>
          </a:prstGeom>
        </p:spPr>
        <p:txBody>
          <a:bodyPr vert="horz" wrap="square" lIns="0" tIns="12700" rIns="0" bIns="0" rtlCol="0" anchor="t">
            <a:spAutoFit/>
          </a:bodyPr>
          <a:lstStyle/>
          <a:p>
            <a:pPr marL="12700" algn="ctr">
              <a:spcBef>
                <a:spcPts val="100"/>
              </a:spcBef>
            </a:pPr>
            <a:r>
              <a:rPr lang="en-US" sz="1400" dirty="0">
                <a:solidFill>
                  <a:schemeClr val="bg1"/>
                </a:solidFill>
              </a:rPr>
              <a:t>Secure Digital Forensic Evidence Storage System</a:t>
            </a:r>
            <a:endParaRPr lang="en-IN" sz="1500" b="1" spc="-10" dirty="0">
              <a:solidFill>
                <a:schemeClr val="bg1"/>
              </a:solidFill>
              <a:latin typeface="Times New Roman"/>
              <a:cs typeface="Times New Roman"/>
            </a:endParaRPr>
          </a:p>
        </p:txBody>
      </p:sp>
      <p:sp>
        <p:nvSpPr>
          <p:cNvPr id="16" name="TextBox 15">
            <a:extLst>
              <a:ext uri="{FF2B5EF4-FFF2-40B4-BE49-F238E27FC236}">
                <a16:creationId xmlns:a16="http://schemas.microsoft.com/office/drawing/2014/main" id="{23B7749F-2B78-62D7-ECE8-B0BE94DF57EE}"/>
              </a:ext>
            </a:extLst>
          </p:cNvPr>
          <p:cNvSpPr txBox="1"/>
          <p:nvPr/>
        </p:nvSpPr>
        <p:spPr>
          <a:xfrm>
            <a:off x="104600" y="6581123"/>
            <a:ext cx="914400" cy="338554"/>
          </a:xfrm>
          <a:prstGeom prst="rect">
            <a:avLst/>
          </a:prstGeom>
          <a:noFill/>
        </p:spPr>
        <p:txBody>
          <a:bodyPr wrap="square" rtlCol="0">
            <a:spAutoFit/>
          </a:bodyPr>
          <a:lstStyle/>
          <a:p>
            <a:r>
              <a:rPr lang="en-IN" sz="1600" dirty="0">
                <a:solidFill>
                  <a:schemeClr val="bg1"/>
                </a:solidFill>
                <a:latin typeface="Times New Roman" panose="02020603050405020304" pitchFamily="18" charset="0"/>
                <a:cs typeface="Times New Roman" panose="02020603050405020304" pitchFamily="18" charset="0"/>
              </a:rPr>
              <a:t>B-</a:t>
            </a:r>
            <a:r>
              <a:rPr lang="en-IN" sz="1600" dirty="0">
                <a:solidFill>
                  <a:schemeClr val="bg1"/>
                </a:solidFill>
              </a:rPr>
              <a:t>16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79092-5EBB-86EC-7548-F3C02E76B315}"/>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1A78C14C-8960-8D04-FFA5-0EB952743396}"/>
              </a:ext>
            </a:extLst>
          </p:cNvPr>
          <p:cNvSpPr/>
          <p:nvPr/>
        </p:nvSpPr>
        <p:spPr>
          <a:xfrm>
            <a:off x="-1" y="-1"/>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dirty="0"/>
          </a:p>
        </p:txBody>
      </p:sp>
      <p:sp>
        <p:nvSpPr>
          <p:cNvPr id="7" name="object 7">
            <a:extLst>
              <a:ext uri="{FF2B5EF4-FFF2-40B4-BE49-F238E27FC236}">
                <a16:creationId xmlns:a16="http://schemas.microsoft.com/office/drawing/2014/main" id="{2DC6B255-0582-E4F3-D45C-244BEC43F754}"/>
              </a:ext>
            </a:extLst>
          </p:cNvPr>
          <p:cNvSpPr/>
          <p:nvPr/>
        </p:nvSpPr>
        <p:spPr>
          <a:xfrm>
            <a:off x="-989" y="6634572"/>
            <a:ext cx="762989" cy="220979"/>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a:t>
            </a:r>
            <a:r>
              <a:rPr lang="en-US" sz="1600" dirty="0">
                <a:solidFill>
                  <a:schemeClr val="bg1"/>
                </a:solidFill>
                <a:latin typeface="Times New Roman"/>
                <a:ea typeface="+mn-lt"/>
                <a:cs typeface="Times New Roman"/>
              </a:rPr>
              <a:t>B-16</a:t>
            </a:r>
          </a:p>
        </p:txBody>
      </p:sp>
      <p:sp>
        <p:nvSpPr>
          <p:cNvPr id="9" name="object 9">
            <a:extLst>
              <a:ext uri="{FF2B5EF4-FFF2-40B4-BE49-F238E27FC236}">
                <a16:creationId xmlns:a16="http://schemas.microsoft.com/office/drawing/2014/main" id="{AE246CF0-101C-DC74-3F0C-37E64E7C29E0}"/>
              </a:ext>
            </a:extLst>
          </p:cNvPr>
          <p:cNvSpPr txBox="1"/>
          <p:nvPr/>
        </p:nvSpPr>
        <p:spPr>
          <a:xfrm>
            <a:off x="-76200" y="1192681"/>
            <a:ext cx="12725400" cy="7341818"/>
          </a:xfrm>
          <a:prstGeom prst="rect">
            <a:avLst/>
          </a:prstGeom>
        </p:spPr>
        <p:txBody>
          <a:bodyPr vert="horz" wrap="square" lIns="0" tIns="12700" rIns="0" bIns="0" rtlCol="0" anchor="t">
            <a:spAutoFit/>
          </a:bodyPr>
          <a:lstStyle/>
          <a:p>
            <a:pPr marL="469900" marR="2094230" algn="just">
              <a:lnSpc>
                <a:spcPct val="150000"/>
              </a:lnSpc>
              <a:spcBef>
                <a:spcPts val="100"/>
              </a:spcBef>
            </a:pPr>
            <a:r>
              <a:rPr lang="en-US" sz="2100" dirty="0">
                <a:latin typeface="Times New Roman" panose="02020603050405020304" pitchFamily="18" charset="0"/>
                <a:cs typeface="Times New Roman" panose="02020603050405020304" pitchFamily="18" charset="0"/>
              </a:rPr>
              <a:t>Digital forensic </a:t>
            </a:r>
            <a:r>
              <a:rPr lang="en-IN" sz="2100" dirty="0">
                <a:latin typeface="Times New Roman" panose="02020603050405020304" pitchFamily="18" charset="0"/>
                <a:cs typeface="Times New Roman" panose="02020603050405020304" pitchFamily="18" charset="0"/>
              </a:rPr>
              <a:t>investigations require secure preservation and handling of electronic evidence to maintain its integrity and ensure admissibility in court. Traditional evidence storage systems often lack secure audit trails and are vulnerable to unauthorized access, insider attacks, and data tampering, which can compromise the confidentiality and authenticity of digital evidence</a:t>
            </a:r>
            <a:r>
              <a:rPr lang="en-IN" sz="2100" dirty="0"/>
              <a:t>. </a:t>
            </a:r>
            <a:r>
              <a:rPr lang="en-IN" sz="2100" dirty="0">
                <a:latin typeface="Times New Roman" panose="02020603050405020304" pitchFamily="18" charset="0"/>
                <a:cs typeface="Times New Roman" panose="02020603050405020304" pitchFamily="18" charset="0"/>
              </a:rPr>
              <a:t>This project proposes a Secure Digital Forensic Evidence Storage System that integrates Multi-Factor Authentication (MFA), Role-Based Access Control (RBAC), Hybrid Cryptographic Encryption, and Blockchain-based Audit Logging to enhance security.</a:t>
            </a:r>
            <a:r>
              <a:rPr lang="en-IN" sz="2100" dirty="0"/>
              <a:t> </a:t>
            </a:r>
            <a:r>
              <a:rPr lang="en-IN" sz="2100" dirty="0">
                <a:latin typeface="Times New Roman" panose="02020603050405020304" pitchFamily="18" charset="0"/>
                <a:cs typeface="Times New Roman" panose="02020603050405020304" pitchFamily="18" charset="0"/>
              </a:rPr>
              <a:t>Evidence files are divided into multiple shards and encrypted using AES-GCM, Data Integrity is verified using SHA-256 hashing, Merkle root verification, and HMAC authentication. A blockchain ledger maintains immutable chain-of-custody records for evidence operations such as upload, access, and verification.</a:t>
            </a:r>
          </a:p>
          <a:p>
            <a:pPr marL="469900" marR="2094230" algn="just">
              <a:lnSpc>
                <a:spcPct val="150000"/>
              </a:lnSpc>
              <a:spcBef>
                <a:spcPts val="100"/>
              </a:spcBef>
            </a:pPr>
            <a:endParaRPr lang="en-IN" sz="2100" dirty="0"/>
          </a:p>
          <a:p>
            <a:pPr marL="469900" marR="2094230" algn="just">
              <a:lnSpc>
                <a:spcPct val="150000"/>
              </a:lnSpc>
              <a:spcBef>
                <a:spcPts val="100"/>
              </a:spcBef>
            </a:pPr>
            <a:endParaRPr lang="en-IN" sz="2200" dirty="0"/>
          </a:p>
          <a:p>
            <a:pPr marL="469900" marR="2094230" algn="just">
              <a:lnSpc>
                <a:spcPct val="150000"/>
              </a:lnSpc>
              <a:spcBef>
                <a:spcPts val="100"/>
              </a:spcBef>
            </a:pPr>
            <a:endParaRPr lang="en-IN" sz="2200" dirty="0"/>
          </a:p>
          <a:p>
            <a:pPr marL="469900" marR="2094230" algn="just">
              <a:lnSpc>
                <a:spcPct val="150000"/>
              </a:lnSpc>
              <a:spcBef>
                <a:spcPts val="100"/>
              </a:spcBef>
            </a:pPr>
            <a:endParaRPr lang="en-IN" sz="2200" dirty="0"/>
          </a:p>
        </p:txBody>
      </p:sp>
      <p:sp>
        <p:nvSpPr>
          <p:cNvPr id="10" name="object 9">
            <a:extLst>
              <a:ext uri="{FF2B5EF4-FFF2-40B4-BE49-F238E27FC236}">
                <a16:creationId xmlns:a16="http://schemas.microsoft.com/office/drawing/2014/main" id="{00DF8C02-1BC8-D7E1-63DE-7B346AEA96F2}"/>
              </a:ext>
            </a:extLst>
          </p:cNvPr>
          <p:cNvSpPr txBox="1">
            <a:spLocks noGrp="1"/>
          </p:cNvSpPr>
          <p:nvPr>
            <p:ph type="dt" sz="half" idx="6"/>
          </p:nvPr>
        </p:nvSpPr>
        <p:spPr>
          <a:xfrm>
            <a:off x="1123125" y="6629792"/>
            <a:ext cx="10611675" cy="46166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r>
              <a:rPr lang="en-IN" cap="small" spc="-95" dirty="0"/>
              <a:t>                              </a:t>
            </a:r>
            <a:r>
              <a:rPr lang="en-US" sz="1600" cap="small" spc="-105" dirty="0">
                <a:solidFill>
                  <a:srgbClr val="FFFFFF"/>
                </a:solidFill>
                <a:latin typeface="Times New Roman"/>
                <a:cs typeface="Times New Roman"/>
              </a:rPr>
              <a:t>Srinivasa</a:t>
            </a:r>
            <a:r>
              <a:rPr lang="en-US" sz="1600" cap="small" spc="70" dirty="0">
                <a:solidFill>
                  <a:srgbClr val="FFFFFF"/>
                </a:solidFill>
                <a:latin typeface="Times New Roman"/>
                <a:cs typeface="Times New Roman"/>
              </a:rPr>
              <a:t> </a:t>
            </a:r>
            <a:r>
              <a:rPr lang="en-US" sz="1600" cap="small" spc="-120" dirty="0">
                <a:solidFill>
                  <a:srgbClr val="FFFFFF"/>
                </a:solidFill>
                <a:latin typeface="Times New Roman"/>
                <a:cs typeface="Times New Roman"/>
              </a:rPr>
              <a:t>Ramanujan</a:t>
            </a:r>
            <a:r>
              <a:rPr lang="en-US" sz="1600" cap="small" spc="75" dirty="0">
                <a:solidFill>
                  <a:srgbClr val="FFFFFF"/>
                </a:solidFill>
                <a:latin typeface="Times New Roman"/>
                <a:cs typeface="Times New Roman"/>
              </a:rPr>
              <a:t> </a:t>
            </a:r>
            <a:r>
              <a:rPr lang="en-US" sz="1600" cap="small" spc="-110" dirty="0">
                <a:solidFill>
                  <a:srgbClr val="FFFFFF"/>
                </a:solidFill>
                <a:latin typeface="Times New Roman"/>
                <a:cs typeface="Times New Roman"/>
              </a:rPr>
              <a:t>Institute</a:t>
            </a:r>
            <a:r>
              <a:rPr lang="en-US" sz="1600" cap="small" spc="75" dirty="0">
                <a:solidFill>
                  <a:srgbClr val="FFFFFF"/>
                </a:solidFill>
                <a:latin typeface="Times New Roman"/>
                <a:cs typeface="Times New Roman"/>
              </a:rPr>
              <a:t> </a:t>
            </a:r>
            <a:r>
              <a:rPr lang="en-US" sz="1600" cap="small" spc="-100" dirty="0">
                <a:solidFill>
                  <a:srgbClr val="FFFFFF"/>
                </a:solidFill>
                <a:latin typeface="Times New Roman"/>
                <a:cs typeface="Times New Roman"/>
              </a:rPr>
              <a:t>of</a:t>
            </a:r>
            <a:r>
              <a:rPr lang="en-US" sz="1600" cap="small" spc="75" dirty="0">
                <a:solidFill>
                  <a:srgbClr val="FFFFFF"/>
                </a:solidFill>
                <a:latin typeface="Times New Roman"/>
                <a:cs typeface="Times New Roman"/>
              </a:rPr>
              <a:t> </a:t>
            </a:r>
            <a:r>
              <a:rPr lang="en-US" sz="1600" cap="small" spc="-140" dirty="0">
                <a:solidFill>
                  <a:srgbClr val="FFFFFF"/>
                </a:solidFill>
                <a:latin typeface="Times New Roman"/>
                <a:cs typeface="Times New Roman"/>
              </a:rPr>
              <a:t>Technology</a:t>
            </a:r>
            <a:endParaRPr lang="en-US" sz="1600" dirty="0">
              <a:latin typeface="Times New Roman"/>
              <a:cs typeface="Times New Roman"/>
            </a:endParaRPr>
          </a:p>
          <a:p>
            <a:pPr marL="12700">
              <a:lnSpc>
                <a:spcPts val="1845"/>
              </a:lnSpc>
            </a:pPr>
            <a:endParaRPr cap="small" spc="-95" dirty="0"/>
          </a:p>
        </p:txBody>
      </p:sp>
      <p:sp>
        <p:nvSpPr>
          <p:cNvPr id="22" name="object 5">
            <a:extLst>
              <a:ext uri="{FF2B5EF4-FFF2-40B4-BE49-F238E27FC236}">
                <a16:creationId xmlns:a16="http://schemas.microsoft.com/office/drawing/2014/main" id="{10C0CF6D-744C-0894-AE41-DC4D1C13F06F}"/>
              </a:ext>
            </a:extLst>
          </p:cNvPr>
          <p:cNvSpPr/>
          <p:nvPr/>
        </p:nvSpPr>
        <p:spPr>
          <a:xfrm>
            <a:off x="-518" y="233144"/>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6" name="object 6">
            <a:extLst>
              <a:ext uri="{FF2B5EF4-FFF2-40B4-BE49-F238E27FC236}">
                <a16:creationId xmlns:a16="http://schemas.microsoft.com/office/drawing/2014/main" id="{5A396B69-336C-DBD5-633E-8FFBEB87989A}"/>
              </a:ext>
            </a:extLst>
          </p:cNvPr>
          <p:cNvSpPr txBox="1">
            <a:spLocks noGrp="1"/>
          </p:cNvSpPr>
          <p:nvPr>
            <p:ph type="title"/>
          </p:nvPr>
        </p:nvSpPr>
        <p:spPr>
          <a:xfrm>
            <a:off x="0" y="331752"/>
            <a:ext cx="2286000" cy="689932"/>
          </a:xfrm>
          <a:prstGeom prst="rect">
            <a:avLst/>
          </a:prstGeom>
        </p:spPr>
        <p:txBody>
          <a:bodyPr vert="horz" wrap="square" lIns="0" tIns="12700" rIns="0" bIns="0" rtlCol="0">
            <a:spAutoFit/>
          </a:bodyPr>
          <a:lstStyle/>
          <a:p>
            <a:pPr marL="12700" algn="ctr">
              <a:lnSpc>
                <a:spcPct val="100000"/>
              </a:lnSpc>
            </a:pPr>
            <a:r>
              <a:rPr lang="en-IN" b="1" spc="-10" dirty="0"/>
              <a:t>Abstract</a:t>
            </a:r>
            <a:endParaRPr b="1" spc="-10" dirty="0"/>
          </a:p>
        </p:txBody>
      </p:sp>
      <p:sp>
        <p:nvSpPr>
          <p:cNvPr id="28" name="object 2">
            <a:extLst>
              <a:ext uri="{FF2B5EF4-FFF2-40B4-BE49-F238E27FC236}">
                <a16:creationId xmlns:a16="http://schemas.microsoft.com/office/drawing/2014/main" id="{05F20B3F-B180-8979-5AC1-4F6D81ACE388}"/>
              </a:ext>
            </a:extLst>
          </p:cNvPr>
          <p:cNvSpPr txBox="1"/>
          <p:nvPr/>
        </p:nvSpPr>
        <p:spPr>
          <a:xfrm>
            <a:off x="3604387" y="-10897"/>
            <a:ext cx="4333674" cy="228268"/>
          </a:xfrm>
          <a:prstGeom prst="rect">
            <a:avLst/>
          </a:prstGeom>
        </p:spPr>
        <p:txBody>
          <a:bodyPr vert="horz" wrap="square" lIns="0" tIns="12700" rIns="0" bIns="0" rtlCol="0" anchor="t">
            <a:spAutoFit/>
          </a:bodyPr>
          <a:lstStyle/>
          <a:p>
            <a:pPr marL="12700" algn="ctr">
              <a:spcBef>
                <a:spcPts val="100"/>
              </a:spcBef>
            </a:pPr>
            <a:r>
              <a:rPr lang="en-US" sz="1400" dirty="0">
                <a:solidFill>
                  <a:schemeClr val="bg1"/>
                </a:solidFill>
              </a:rPr>
              <a:t>Secure Digital Forensic Evidence Storage System</a:t>
            </a:r>
            <a:endParaRPr sz="1500" dirty="0">
              <a:solidFill>
                <a:schemeClr val="bg1"/>
              </a:solidFill>
              <a:latin typeface="Times New Roman"/>
              <a:cs typeface="Times New Roman"/>
            </a:endParaRPr>
          </a:p>
        </p:txBody>
      </p:sp>
      <p:sp>
        <p:nvSpPr>
          <p:cNvPr id="29" name="object 12">
            <a:extLst>
              <a:ext uri="{FF2B5EF4-FFF2-40B4-BE49-F238E27FC236}">
                <a16:creationId xmlns:a16="http://schemas.microsoft.com/office/drawing/2014/main" id="{C818B434-3B05-BC15-9E9D-6E172EFF9769}"/>
              </a:ext>
            </a:extLst>
          </p:cNvPr>
          <p:cNvSpPr txBox="1">
            <a:spLocks noGrp="1"/>
          </p:cNvSpPr>
          <p:nvPr>
            <p:ph type="sldNum" sz="quarter" idx="7"/>
          </p:nvPr>
        </p:nvSpPr>
        <p:spPr>
          <a:xfrm>
            <a:off x="11858823" y="6629309"/>
            <a:ext cx="228600" cy="250825"/>
          </a:xfrm>
          <a:prstGeom prst="rect">
            <a:avLst/>
          </a:prstGeom>
        </p:spPr>
        <p:txBody>
          <a:bodyPr vert="horz" wrap="square" lIns="0" tIns="0" rIns="0" bIns="0" rtlCol="0">
            <a:spAutoFit/>
          </a:bodyPr>
          <a:lstStyle/>
          <a:p>
            <a:pPr marL="12700">
              <a:lnSpc>
                <a:spcPts val="1845"/>
              </a:lnSpc>
            </a:pPr>
            <a:fld id="{81D60167-4931-47E6-BA6A-407CBD079E47}" type="slidenum">
              <a:rPr spc="-25" dirty="0"/>
              <a:t>3</a:t>
            </a:fld>
            <a:endParaRPr spc="-25" dirty="0"/>
          </a:p>
        </p:txBody>
      </p:sp>
    </p:spTree>
    <p:extLst>
      <p:ext uri="{BB962C8B-B14F-4D97-AF65-F5344CB8AC3E}">
        <p14:creationId xmlns:p14="http://schemas.microsoft.com/office/powerpoint/2010/main" val="30458658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AF9F2-CAE6-699F-11DE-BD872CD45D38}"/>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F51EC347-4269-3F42-F8B9-F202BB60CAFA}"/>
              </a:ext>
            </a:extLst>
          </p:cNvPr>
          <p:cNvSpPr/>
          <p:nvPr/>
        </p:nvSpPr>
        <p:spPr>
          <a:xfrm>
            <a:off x="-1" y="-1"/>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dirty="0"/>
          </a:p>
        </p:txBody>
      </p:sp>
      <p:sp>
        <p:nvSpPr>
          <p:cNvPr id="7" name="object 7">
            <a:extLst>
              <a:ext uri="{FF2B5EF4-FFF2-40B4-BE49-F238E27FC236}">
                <a16:creationId xmlns:a16="http://schemas.microsoft.com/office/drawing/2014/main" id="{C42EBEF0-D446-3503-6898-2738D242A7C0}"/>
              </a:ext>
            </a:extLst>
          </p:cNvPr>
          <p:cNvSpPr/>
          <p:nvPr/>
        </p:nvSpPr>
        <p:spPr>
          <a:xfrm>
            <a:off x="0" y="6634572"/>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B-16</a:t>
            </a:r>
          </a:p>
        </p:txBody>
      </p:sp>
      <p:sp>
        <p:nvSpPr>
          <p:cNvPr id="9" name="object 9">
            <a:extLst>
              <a:ext uri="{FF2B5EF4-FFF2-40B4-BE49-F238E27FC236}">
                <a16:creationId xmlns:a16="http://schemas.microsoft.com/office/drawing/2014/main" id="{8AB71811-0898-3361-3AE5-598E50D40E20}"/>
              </a:ext>
            </a:extLst>
          </p:cNvPr>
          <p:cNvSpPr txBox="1"/>
          <p:nvPr/>
        </p:nvSpPr>
        <p:spPr>
          <a:xfrm>
            <a:off x="228600" y="1434684"/>
            <a:ext cx="12192001" cy="4932056"/>
          </a:xfrm>
          <a:prstGeom prst="rect">
            <a:avLst/>
          </a:prstGeom>
        </p:spPr>
        <p:txBody>
          <a:bodyPr vert="horz" wrap="square" lIns="0" tIns="12700" rIns="0" bIns="0" rtlCol="0" anchor="t">
            <a:spAutoFit/>
          </a:bodyPr>
          <a:lstStyle/>
          <a:p>
            <a:pPr marL="469900" marR="2094230" algn="just">
              <a:lnSpc>
                <a:spcPct val="150000"/>
              </a:lnSpc>
              <a:spcBef>
                <a:spcPts val="100"/>
              </a:spcBef>
            </a:pPr>
            <a:r>
              <a:rPr lang="en-IN" sz="2100" dirty="0">
                <a:latin typeface="Times New Roman" panose="02020603050405020304" pitchFamily="18" charset="0"/>
                <a:cs typeface="Times New Roman" panose="02020603050405020304" pitchFamily="18" charset="0"/>
              </a:rPr>
              <a:t>Digital forensic investigations depend heavily on the proper preservation and management of electronic evidence. However, many existing evidence storage systems rely on centralized architectures that may not provide adequate protection against security threats. These systems often lack immutable audit trails and robust authentication mechanisms, making them vulnerable to unauthorized access and data manipulation. Such vulnerabilities can lead to the loss or modification of critical evidence, which may negatively impact legal investigations and judicial proceedings</a:t>
            </a:r>
            <a:r>
              <a:rPr lang="en-IN" sz="2400" dirty="0"/>
              <a:t>. </a:t>
            </a:r>
            <a:r>
              <a:rPr lang="en-IN" sz="2100" dirty="0">
                <a:latin typeface="Times New Roman" panose="02020603050405020304" pitchFamily="18" charset="0"/>
                <a:cs typeface="Times New Roman" panose="02020603050405020304" pitchFamily="18" charset="0"/>
              </a:rPr>
              <a:t>Another major problem is the lack of transparency and accountability in tracking evidence handling activities. Without a secure logging mechanism, it becomes difficult to maintain a reliable chain-of-custody for digital evidence</a:t>
            </a:r>
            <a:r>
              <a:rPr lang="en-IN" sz="2400" dirty="0"/>
              <a:t>.</a:t>
            </a:r>
            <a:endParaRPr lang="en-US" sz="2200" dirty="0">
              <a:latin typeface="Times New Roman"/>
              <a:cs typeface="Times New Roman"/>
            </a:endParaRPr>
          </a:p>
        </p:txBody>
      </p:sp>
      <p:sp>
        <p:nvSpPr>
          <p:cNvPr id="10" name="object 9">
            <a:extLst>
              <a:ext uri="{FF2B5EF4-FFF2-40B4-BE49-F238E27FC236}">
                <a16:creationId xmlns:a16="http://schemas.microsoft.com/office/drawing/2014/main" id="{B3C5EF99-88D2-D1C6-27F3-BA852AF0AB97}"/>
              </a:ext>
            </a:extLst>
          </p:cNvPr>
          <p:cNvSpPr txBox="1">
            <a:spLocks noGrp="1"/>
          </p:cNvSpPr>
          <p:nvPr>
            <p:ph type="dt" sz="half" idx="6"/>
          </p:nvPr>
        </p:nvSpPr>
        <p:spPr>
          <a:xfrm>
            <a:off x="774794" y="6634572"/>
            <a:ext cx="10960005" cy="230832"/>
          </a:xfrm>
          <a:prstGeom prst="rect">
            <a:avLst/>
          </a:prstGeom>
        </p:spPr>
        <p:txBody>
          <a:bodyPr vert="horz" wrap="square" lIns="0" tIns="0" rIns="0" bIns="0" rtlCol="0">
            <a:spAutoFit/>
          </a:bodyPr>
          <a:lstStyle/>
          <a:p>
            <a:pPr marL="12700">
              <a:lnSpc>
                <a:spcPts val="1845"/>
              </a:lnSpc>
            </a:pPr>
            <a:r>
              <a:rPr lang="en-IN" cap="small" spc="-75" dirty="0"/>
              <a:t>      </a:t>
            </a: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r>
              <a:rPr lang="en-IN" cap="small" spc="-95" dirty="0"/>
              <a:t>                                 </a:t>
            </a:r>
            <a:r>
              <a:rPr lang="en-US" cap="small" spc="-95" dirty="0"/>
              <a:t>Srinivasa Ramanujan Institute of Technology</a:t>
            </a:r>
            <a:endParaRPr cap="small" spc="-95" dirty="0"/>
          </a:p>
        </p:txBody>
      </p:sp>
      <p:sp>
        <p:nvSpPr>
          <p:cNvPr id="22" name="object 5">
            <a:extLst>
              <a:ext uri="{FF2B5EF4-FFF2-40B4-BE49-F238E27FC236}">
                <a16:creationId xmlns:a16="http://schemas.microsoft.com/office/drawing/2014/main" id="{021057BB-8D93-F44B-B9E2-B26E2A078D57}"/>
              </a:ext>
            </a:extLst>
          </p:cNvPr>
          <p:cNvSpPr/>
          <p:nvPr/>
        </p:nvSpPr>
        <p:spPr>
          <a:xfrm>
            <a:off x="-518" y="233144"/>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6" name="object 6">
            <a:extLst>
              <a:ext uri="{FF2B5EF4-FFF2-40B4-BE49-F238E27FC236}">
                <a16:creationId xmlns:a16="http://schemas.microsoft.com/office/drawing/2014/main" id="{D10505DB-F7E8-855A-F365-5BFF0E607288}"/>
              </a:ext>
            </a:extLst>
          </p:cNvPr>
          <p:cNvSpPr txBox="1">
            <a:spLocks noGrp="1"/>
          </p:cNvSpPr>
          <p:nvPr>
            <p:ph type="title"/>
          </p:nvPr>
        </p:nvSpPr>
        <p:spPr>
          <a:xfrm>
            <a:off x="20182" y="331752"/>
            <a:ext cx="5313818" cy="689932"/>
          </a:xfrm>
          <a:prstGeom prst="rect">
            <a:avLst/>
          </a:prstGeom>
        </p:spPr>
        <p:txBody>
          <a:bodyPr vert="horz" wrap="square" lIns="0" tIns="12700" rIns="0" bIns="0" rtlCol="0">
            <a:spAutoFit/>
          </a:bodyPr>
          <a:lstStyle/>
          <a:p>
            <a:pPr marL="12700" algn="ctr">
              <a:lnSpc>
                <a:spcPct val="100000"/>
              </a:lnSpc>
            </a:pPr>
            <a:r>
              <a:rPr lang="en-IN" b="1" spc="-10" dirty="0"/>
              <a:t>Problem Statement</a:t>
            </a:r>
            <a:endParaRPr b="1" spc="-10" dirty="0"/>
          </a:p>
        </p:txBody>
      </p:sp>
      <p:sp>
        <p:nvSpPr>
          <p:cNvPr id="28" name="object 2">
            <a:extLst>
              <a:ext uri="{FF2B5EF4-FFF2-40B4-BE49-F238E27FC236}">
                <a16:creationId xmlns:a16="http://schemas.microsoft.com/office/drawing/2014/main" id="{BA43E4AB-4DA4-83FC-9279-66EC70BE0FEA}"/>
              </a:ext>
            </a:extLst>
          </p:cNvPr>
          <p:cNvSpPr txBox="1"/>
          <p:nvPr/>
        </p:nvSpPr>
        <p:spPr>
          <a:xfrm>
            <a:off x="3604387" y="-10897"/>
            <a:ext cx="4333674" cy="228268"/>
          </a:xfrm>
          <a:prstGeom prst="rect">
            <a:avLst/>
          </a:prstGeom>
        </p:spPr>
        <p:txBody>
          <a:bodyPr vert="horz" wrap="square" lIns="0" tIns="12700" rIns="0" bIns="0" rtlCol="0" anchor="t">
            <a:spAutoFit/>
          </a:bodyPr>
          <a:lstStyle/>
          <a:p>
            <a:pPr marL="12700" algn="ctr">
              <a:spcBef>
                <a:spcPts val="100"/>
              </a:spcBef>
            </a:pPr>
            <a:r>
              <a:rPr lang="en-US" sz="1400" dirty="0">
                <a:solidFill>
                  <a:schemeClr val="bg1"/>
                </a:solidFill>
              </a:rPr>
              <a:t>Secure Digital Forensic Evidence Storage System</a:t>
            </a:r>
            <a:endParaRPr sz="1400" dirty="0">
              <a:solidFill>
                <a:schemeClr val="bg1"/>
              </a:solidFill>
              <a:latin typeface="Times New Roman"/>
              <a:cs typeface="Times New Roman"/>
            </a:endParaRPr>
          </a:p>
        </p:txBody>
      </p:sp>
      <p:sp>
        <p:nvSpPr>
          <p:cNvPr id="29" name="object 12">
            <a:extLst>
              <a:ext uri="{FF2B5EF4-FFF2-40B4-BE49-F238E27FC236}">
                <a16:creationId xmlns:a16="http://schemas.microsoft.com/office/drawing/2014/main" id="{D1955DD0-3570-10E4-F36C-5B17246839E1}"/>
              </a:ext>
            </a:extLst>
          </p:cNvPr>
          <p:cNvSpPr txBox="1">
            <a:spLocks noGrp="1"/>
          </p:cNvSpPr>
          <p:nvPr>
            <p:ph type="sldNum" sz="quarter" idx="7"/>
          </p:nvPr>
        </p:nvSpPr>
        <p:spPr>
          <a:xfrm>
            <a:off x="11858823" y="6629309"/>
            <a:ext cx="228600" cy="250825"/>
          </a:xfrm>
          <a:prstGeom prst="rect">
            <a:avLst/>
          </a:prstGeom>
        </p:spPr>
        <p:txBody>
          <a:bodyPr vert="horz" wrap="square" lIns="0" tIns="0" rIns="0" bIns="0" rtlCol="0">
            <a:spAutoFit/>
          </a:bodyPr>
          <a:lstStyle/>
          <a:p>
            <a:pPr marL="12700">
              <a:lnSpc>
                <a:spcPts val="1845"/>
              </a:lnSpc>
            </a:pPr>
            <a:fld id="{81D60167-4931-47E6-BA6A-407CBD079E47}" type="slidenum">
              <a:rPr spc="-25" dirty="0"/>
              <a:t>4</a:t>
            </a:fld>
            <a:endParaRPr spc="-25" dirty="0"/>
          </a:p>
        </p:txBody>
      </p:sp>
    </p:spTree>
    <p:extLst>
      <p:ext uri="{BB962C8B-B14F-4D97-AF65-F5344CB8AC3E}">
        <p14:creationId xmlns:p14="http://schemas.microsoft.com/office/powerpoint/2010/main" val="4294508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2400" y="1676400"/>
            <a:ext cx="11201400" cy="3493970"/>
          </a:xfrm>
        </p:spPr>
        <p:txBody>
          <a:bodyPr/>
          <a:lstStyle/>
          <a:p>
            <a:pPr marL="342900" indent="-34290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Design a secure digital forensic evidence storage system</a:t>
            </a:r>
          </a:p>
          <a:p>
            <a:pPr marL="342900" indent="-34290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Ensure confidentiality, integrity, and accessibility of digital evidence</a:t>
            </a:r>
          </a:p>
          <a:p>
            <a:pPr marL="342900" indent="-34290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Prevent unauthorized access using advanced authentication mechanisms</a:t>
            </a:r>
          </a:p>
          <a:p>
            <a:pPr marL="342900" indent="-34290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Implement hybrid cryptographic techniques (AES-GCM + ECC) for data protection</a:t>
            </a:r>
          </a:p>
          <a:p>
            <a:pPr marL="342900" indent="-34290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Integrate Multi-Factor Authentication (MFA) and Role-Based Access Control (RBAC)</a:t>
            </a:r>
          </a:p>
          <a:p>
            <a:pPr marL="342900" indent="-34290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Ensure secure chain-of-custody for evidence handling</a:t>
            </a:r>
          </a:p>
          <a:p>
            <a:pPr marL="342900" indent="-34290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Provide a scalable and reliable framework for forensic investigations</a:t>
            </a:r>
            <a:endParaRPr lang="en-US" sz="2200" dirty="0">
              <a:latin typeface="Times New Roman" panose="02020603050405020304" pitchFamily="18" charset="0"/>
              <a:cs typeface="Times New Roman" panose="02020603050405020304" pitchFamily="18" charset="0"/>
            </a:endParaRPr>
          </a:p>
        </p:txBody>
      </p:sp>
      <p:sp>
        <p:nvSpPr>
          <p:cNvPr id="4" name="object 5">
            <a:extLst>
              <a:ext uri="{FF2B5EF4-FFF2-40B4-BE49-F238E27FC236}">
                <a16:creationId xmlns:a16="http://schemas.microsoft.com/office/drawing/2014/main" id="{021057BB-8D93-F44B-B9E2-B26E2A078D57}"/>
              </a:ext>
            </a:extLst>
          </p:cNvPr>
          <p:cNvSpPr/>
          <p:nvPr/>
        </p:nvSpPr>
        <p:spPr>
          <a:xfrm>
            <a:off x="19455" y="212288"/>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a:xfrm>
            <a:off x="152400" y="400814"/>
            <a:ext cx="5257800" cy="677108"/>
          </a:xfrm>
        </p:spPr>
        <p:txBody>
          <a:bodyPr/>
          <a:lstStyle/>
          <a:p>
            <a:r>
              <a:rPr lang="en-US" b="1" dirty="0"/>
              <a:t>Objectives</a:t>
            </a:r>
          </a:p>
        </p:txBody>
      </p:sp>
      <p:sp>
        <p:nvSpPr>
          <p:cNvPr id="5" name="Rectangle 4"/>
          <p:cNvSpPr/>
          <p:nvPr/>
        </p:nvSpPr>
        <p:spPr>
          <a:xfrm>
            <a:off x="3255646" y="-80845"/>
            <a:ext cx="5301451" cy="369332"/>
          </a:xfrm>
          <a:prstGeom prst="rect">
            <a:avLst/>
          </a:prstGeom>
        </p:spPr>
        <p:txBody>
          <a:bodyPr wrap="none">
            <a:spAutoFit/>
          </a:bodyPr>
          <a:lstStyle/>
          <a:p>
            <a:pPr marL="12700" algn="ctr">
              <a:spcBef>
                <a:spcPts val="100"/>
              </a:spcBef>
            </a:pPr>
            <a:r>
              <a:rPr lang="en-US" dirty="0">
                <a:solidFill>
                  <a:schemeClr val="bg1"/>
                </a:solidFill>
              </a:rPr>
              <a:t>Secure Digital Forensic Evidence Storage System</a:t>
            </a:r>
            <a:endParaRPr lang="en-US" dirty="0">
              <a:solidFill>
                <a:schemeClr val="bg1"/>
              </a:solidFill>
              <a:latin typeface="Times New Roman"/>
              <a:cs typeface="Times New Roman"/>
            </a:endParaRPr>
          </a:p>
        </p:txBody>
      </p:sp>
      <p:sp>
        <p:nvSpPr>
          <p:cNvPr id="6" name="Rectangle 5"/>
          <p:cNvSpPr/>
          <p:nvPr/>
        </p:nvSpPr>
        <p:spPr>
          <a:xfrm>
            <a:off x="685800" y="6553200"/>
            <a:ext cx="11963400" cy="369332"/>
          </a:xfrm>
          <a:prstGeom prst="rect">
            <a:avLst/>
          </a:prstGeom>
        </p:spPr>
        <p:txBody>
          <a:bodyPr wrap="square">
            <a:spAutoFit/>
          </a:bodyPr>
          <a:lstStyle/>
          <a:p>
            <a:r>
              <a:rPr lang="en-US" cap="small" spc="-75" dirty="0"/>
              <a:t> </a:t>
            </a:r>
            <a:r>
              <a:rPr lang="en-US" sz="1600" cap="small" spc="-75" dirty="0">
                <a:solidFill>
                  <a:schemeClr val="bg1"/>
                </a:solidFill>
                <a:latin typeface="Times New Roman" panose="02020603050405020304" pitchFamily="18" charset="0"/>
                <a:cs typeface="Times New Roman" panose="02020603050405020304" pitchFamily="18" charset="0"/>
              </a:rPr>
              <a:t>Dept.</a:t>
            </a:r>
            <a:r>
              <a:rPr lang="en-US" sz="1600" cap="small" spc="-10" dirty="0">
                <a:solidFill>
                  <a:schemeClr val="bg1"/>
                </a:solidFill>
                <a:latin typeface="Times New Roman" panose="02020603050405020304" pitchFamily="18" charset="0"/>
                <a:cs typeface="Times New Roman" panose="02020603050405020304" pitchFamily="18" charset="0"/>
              </a:rPr>
              <a:t> </a:t>
            </a:r>
            <a:r>
              <a:rPr lang="en-US" sz="1600" cap="small" spc="-100" dirty="0">
                <a:solidFill>
                  <a:schemeClr val="bg1"/>
                </a:solidFill>
                <a:latin typeface="Times New Roman" panose="02020603050405020304" pitchFamily="18" charset="0"/>
                <a:cs typeface="Times New Roman" panose="02020603050405020304" pitchFamily="18" charset="0"/>
              </a:rPr>
              <a:t>of</a:t>
            </a:r>
            <a:r>
              <a:rPr lang="en-US" sz="1600" cap="small" spc="25" dirty="0">
                <a:solidFill>
                  <a:schemeClr val="bg1"/>
                </a:solidFill>
                <a:latin typeface="Times New Roman" panose="02020603050405020304" pitchFamily="18" charset="0"/>
                <a:cs typeface="Times New Roman" panose="02020603050405020304" pitchFamily="18" charset="0"/>
              </a:rPr>
              <a:t> </a:t>
            </a:r>
            <a:r>
              <a:rPr lang="en-US" sz="1600" cap="small" spc="-114" dirty="0">
                <a:solidFill>
                  <a:schemeClr val="bg1"/>
                </a:solidFill>
                <a:latin typeface="Times New Roman" panose="02020603050405020304" pitchFamily="18" charset="0"/>
                <a:cs typeface="Times New Roman" panose="02020603050405020304" pitchFamily="18" charset="0"/>
              </a:rPr>
              <a:t>Computer</a:t>
            </a:r>
            <a:r>
              <a:rPr lang="en-US" sz="1600" cap="small" spc="50" dirty="0">
                <a:solidFill>
                  <a:schemeClr val="bg1"/>
                </a:solidFill>
                <a:latin typeface="Times New Roman" panose="02020603050405020304" pitchFamily="18" charset="0"/>
                <a:cs typeface="Times New Roman" panose="02020603050405020304" pitchFamily="18" charset="0"/>
              </a:rPr>
              <a:t> </a:t>
            </a:r>
            <a:r>
              <a:rPr lang="en-US" sz="1600" cap="small" spc="-95" dirty="0">
                <a:solidFill>
                  <a:schemeClr val="bg1"/>
                </a:solidFill>
                <a:latin typeface="Times New Roman" panose="02020603050405020304" pitchFamily="18" charset="0"/>
                <a:cs typeface="Times New Roman" panose="02020603050405020304" pitchFamily="18" charset="0"/>
              </a:rPr>
              <a:t>Science</a:t>
            </a:r>
            <a:r>
              <a:rPr lang="en-US" sz="1600" cap="small" spc="50" dirty="0">
                <a:solidFill>
                  <a:schemeClr val="bg1"/>
                </a:solidFill>
                <a:latin typeface="Times New Roman" panose="02020603050405020304" pitchFamily="18" charset="0"/>
                <a:cs typeface="Times New Roman" panose="02020603050405020304" pitchFamily="18" charset="0"/>
              </a:rPr>
              <a:t> </a:t>
            </a:r>
            <a:r>
              <a:rPr lang="en-US" sz="1600" cap="small" spc="-130" dirty="0">
                <a:solidFill>
                  <a:schemeClr val="bg1"/>
                </a:solidFill>
                <a:latin typeface="Times New Roman" panose="02020603050405020304" pitchFamily="18" charset="0"/>
                <a:cs typeface="Times New Roman" panose="02020603050405020304" pitchFamily="18" charset="0"/>
              </a:rPr>
              <a:t>and</a:t>
            </a:r>
            <a:r>
              <a:rPr lang="en-US" sz="1600" cap="small" spc="45" dirty="0">
                <a:solidFill>
                  <a:schemeClr val="bg1"/>
                </a:solidFill>
                <a:latin typeface="Times New Roman" panose="02020603050405020304" pitchFamily="18" charset="0"/>
                <a:cs typeface="Times New Roman" panose="02020603050405020304" pitchFamily="18" charset="0"/>
              </a:rPr>
              <a:t> </a:t>
            </a:r>
            <a:r>
              <a:rPr lang="en-US" sz="1600" cap="small" spc="-110" dirty="0">
                <a:solidFill>
                  <a:schemeClr val="bg1"/>
                </a:solidFill>
                <a:latin typeface="Times New Roman" panose="02020603050405020304" pitchFamily="18" charset="0"/>
                <a:cs typeface="Times New Roman" panose="02020603050405020304" pitchFamily="18" charset="0"/>
              </a:rPr>
              <a:t>Engineering</a:t>
            </a:r>
            <a:r>
              <a:rPr lang="en-US" sz="1600" cap="small" spc="45" dirty="0">
                <a:solidFill>
                  <a:schemeClr val="bg1"/>
                </a:solidFill>
                <a:latin typeface="Times New Roman" panose="02020603050405020304" pitchFamily="18" charset="0"/>
                <a:cs typeface="Times New Roman" panose="02020603050405020304" pitchFamily="18" charset="0"/>
              </a:rPr>
              <a:t> </a:t>
            </a:r>
            <a:r>
              <a:rPr lang="en-US" sz="1600" cap="small" spc="-70" dirty="0">
                <a:solidFill>
                  <a:schemeClr val="bg1"/>
                </a:solidFill>
                <a:latin typeface="Times New Roman" panose="02020603050405020304" pitchFamily="18" charset="0"/>
                <a:cs typeface="Times New Roman" panose="02020603050405020304" pitchFamily="18" charset="0"/>
              </a:rPr>
              <a:t>(</a:t>
            </a:r>
            <a:r>
              <a:rPr lang="en-US" sz="1600" cap="small" spc="-70" dirty="0" err="1">
                <a:solidFill>
                  <a:schemeClr val="bg1"/>
                </a:solidFill>
                <a:latin typeface="Times New Roman" panose="02020603050405020304" pitchFamily="18" charset="0"/>
                <a:cs typeface="Times New Roman" panose="02020603050405020304" pitchFamily="18" charset="0"/>
              </a:rPr>
              <a:t>AI&amp;ml</a:t>
            </a:r>
            <a:r>
              <a:rPr lang="en-US" sz="1600" cap="small" spc="-95" dirty="0">
                <a:solidFill>
                  <a:schemeClr val="bg1"/>
                </a:solidFill>
                <a:latin typeface="Times New Roman" panose="02020603050405020304" pitchFamily="18" charset="0"/>
                <a:cs typeface="Times New Roman" panose="02020603050405020304" pitchFamily="18" charset="0"/>
              </a:rPr>
              <a:t>)                                        </a:t>
            </a:r>
            <a:r>
              <a:rPr lang="en-US" sz="1600" cap="small" spc="-95" dirty="0" err="1">
                <a:solidFill>
                  <a:schemeClr val="bg1"/>
                </a:solidFill>
                <a:latin typeface="Times New Roman" panose="02020603050405020304" pitchFamily="18" charset="0"/>
                <a:cs typeface="Times New Roman" panose="02020603050405020304" pitchFamily="18" charset="0"/>
              </a:rPr>
              <a:t>Srinivasa</a:t>
            </a:r>
            <a:r>
              <a:rPr lang="en-US" sz="1600" cap="small" spc="-95" dirty="0">
                <a:solidFill>
                  <a:schemeClr val="bg1"/>
                </a:solidFill>
                <a:latin typeface="Times New Roman" panose="02020603050405020304" pitchFamily="18" charset="0"/>
                <a:cs typeface="Times New Roman" panose="02020603050405020304" pitchFamily="18" charset="0"/>
              </a:rPr>
              <a:t> </a:t>
            </a:r>
            <a:r>
              <a:rPr lang="en-US" sz="1600" cap="small" spc="-95" dirty="0" err="1">
                <a:solidFill>
                  <a:schemeClr val="bg1"/>
                </a:solidFill>
                <a:latin typeface="Times New Roman" panose="02020603050405020304" pitchFamily="18" charset="0"/>
                <a:cs typeface="Times New Roman" panose="02020603050405020304" pitchFamily="18" charset="0"/>
              </a:rPr>
              <a:t>Ramanujan</a:t>
            </a:r>
            <a:r>
              <a:rPr lang="en-US" sz="1600" cap="small" spc="-95" dirty="0">
                <a:solidFill>
                  <a:schemeClr val="bg1"/>
                </a:solidFill>
                <a:latin typeface="Times New Roman" panose="02020603050405020304" pitchFamily="18" charset="0"/>
                <a:cs typeface="Times New Roman" panose="02020603050405020304" pitchFamily="18" charset="0"/>
              </a:rPr>
              <a:t> Institute of Technology                              </a:t>
            </a:r>
            <a:r>
              <a:rPr lang="en-US" sz="1600" b="1" cap="small" spc="-95" dirty="0">
                <a:solidFill>
                  <a:schemeClr val="tx1"/>
                </a:solidFill>
                <a:latin typeface="Times New Roman" panose="02020603050405020304" pitchFamily="18" charset="0"/>
                <a:cs typeface="Times New Roman" panose="02020603050405020304" pitchFamily="18" charset="0"/>
              </a:rPr>
              <a:t>5  </a:t>
            </a:r>
            <a:r>
              <a:rPr lang="en-US" sz="1600" cap="small" spc="-95" dirty="0">
                <a:solidFill>
                  <a:schemeClr val="bg1"/>
                </a:solidFill>
                <a:latin typeface="Times New Roman" panose="02020603050405020304" pitchFamily="18" charset="0"/>
                <a:cs typeface="Times New Roman" panose="02020603050405020304" pitchFamily="18" charset="0"/>
              </a:rPr>
              <a:t>             </a:t>
            </a:r>
            <a:endParaRPr lang="en-US" sz="1600" dirty="0">
              <a:solidFill>
                <a:schemeClr val="bg1"/>
              </a:solidFill>
              <a:latin typeface="Times New Roman" panose="02020603050405020304" pitchFamily="18" charset="0"/>
              <a:cs typeface="Times New Roman" panose="02020603050405020304" pitchFamily="18" charset="0"/>
            </a:endParaRPr>
          </a:p>
        </p:txBody>
      </p:sp>
      <p:sp>
        <p:nvSpPr>
          <p:cNvPr id="7" name="object 7">
            <a:extLst>
              <a:ext uri="{FF2B5EF4-FFF2-40B4-BE49-F238E27FC236}">
                <a16:creationId xmlns:a16="http://schemas.microsoft.com/office/drawing/2014/main" id="{C42EBEF0-D446-3503-6898-2738D242A7C0}"/>
              </a:ext>
            </a:extLst>
          </p:cNvPr>
          <p:cNvSpPr/>
          <p:nvPr/>
        </p:nvSpPr>
        <p:spPr>
          <a:xfrm>
            <a:off x="0" y="6634572"/>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B-16</a:t>
            </a:r>
          </a:p>
        </p:txBody>
      </p:sp>
    </p:spTree>
    <p:extLst>
      <p:ext uri="{BB962C8B-B14F-4D97-AF65-F5344CB8AC3E}">
        <p14:creationId xmlns:p14="http://schemas.microsoft.com/office/powerpoint/2010/main" val="17461798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3"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41783" y="216248"/>
            <a:ext cx="8468817" cy="689932"/>
          </a:xfrm>
          <a:prstGeom prst="rect">
            <a:avLst/>
          </a:prstGeom>
        </p:spPr>
        <p:txBody>
          <a:bodyPr vert="horz" wrap="square" lIns="0" tIns="12700" rIns="0" bIns="0" rtlCol="0">
            <a:spAutoFit/>
          </a:bodyPr>
          <a:lstStyle/>
          <a:p>
            <a:pPr marL="12700">
              <a:lnSpc>
                <a:spcPct val="100000"/>
              </a:lnSpc>
              <a:spcBef>
                <a:spcPts val="100"/>
              </a:spcBef>
            </a:pPr>
            <a:r>
              <a:rPr dirty="0"/>
              <a:t>Literature</a:t>
            </a:r>
            <a:r>
              <a:rPr spc="-50" dirty="0"/>
              <a:t> </a:t>
            </a:r>
            <a:r>
              <a:rPr spc="-10" dirty="0"/>
              <a:t>Survey</a:t>
            </a:r>
            <a:r>
              <a:rPr lang="en-US" spc="-10" dirty="0"/>
              <a:t> for Objectives</a:t>
            </a:r>
            <a:endParaRPr spc="-10" dirty="0"/>
          </a:p>
        </p:txBody>
      </p:sp>
      <p:sp>
        <p:nvSpPr>
          <p:cNvPr id="8" name="object 8"/>
          <p:cNvSpPr txBox="1">
            <a:spLocks noGrp="1"/>
          </p:cNvSpPr>
          <p:nvPr>
            <p:ph type="ftr" sz="quarter" idx="5"/>
          </p:nvPr>
        </p:nvSpPr>
        <p:spPr>
          <a:xfrm>
            <a:off x="104577" y="6640376"/>
            <a:ext cx="582036" cy="230832"/>
          </a:xfrm>
          <a:prstGeom prst="rect">
            <a:avLst/>
          </a:prstGeom>
        </p:spPr>
        <p:txBody>
          <a:bodyPr vert="horz" wrap="square" lIns="0" tIns="0" rIns="0" bIns="0" rtlCol="0" anchor="t">
            <a:spAutoFit/>
          </a:bodyPr>
          <a:lstStyle/>
          <a:p>
            <a:pPr marL="12700">
              <a:lnSpc>
                <a:spcPts val="1845"/>
              </a:lnSpc>
            </a:pPr>
            <a:r>
              <a:rPr lang="en-IN" spc="-25" dirty="0"/>
              <a:t>B -16</a:t>
            </a:r>
            <a:endParaRPr spc="-25" dirty="0"/>
          </a:p>
        </p:txBody>
      </p:sp>
      <p:sp>
        <p:nvSpPr>
          <p:cNvPr id="9" name="object 9"/>
          <p:cNvSpPr txBox="1">
            <a:spLocks noGrp="1"/>
          </p:cNvSpPr>
          <p:nvPr>
            <p:ph type="dt" sz="half" idx="6"/>
          </p:nvPr>
        </p:nvSpPr>
        <p:spPr>
          <a:xfrm>
            <a:off x="1123125" y="6629792"/>
            <a:ext cx="4962525" cy="461665"/>
          </a:xfrm>
          <a:prstGeom prst="rect">
            <a:avLst/>
          </a:prstGeom>
        </p:spPr>
        <p:txBody>
          <a:bodyPr vert="horz" wrap="square" lIns="0" tIns="0" rIns="0" bIns="0" rtlCol="0">
            <a:spAutoFit/>
          </a:bodyPr>
          <a:lstStyle/>
          <a:p>
            <a:pPr marL="12700">
              <a:lnSpc>
                <a:spcPts val="1845"/>
              </a:lnSpc>
            </a:pPr>
            <a:r>
              <a:rPr lang="en-US" cap="small" spc="-75" dirty="0"/>
              <a:t>Dept.</a:t>
            </a:r>
            <a:r>
              <a:rPr lang="en-US" cap="small" spc="-10" dirty="0"/>
              <a:t> </a:t>
            </a:r>
            <a:r>
              <a:rPr lang="en-US" cap="small" spc="-100" dirty="0"/>
              <a:t>of</a:t>
            </a:r>
            <a:r>
              <a:rPr lang="en-US" cap="small" spc="25" dirty="0"/>
              <a:t> </a:t>
            </a:r>
            <a:r>
              <a:rPr lang="en-US" cap="small" spc="-114" dirty="0"/>
              <a:t>Computer</a:t>
            </a:r>
            <a:r>
              <a:rPr lang="en-US" cap="small" spc="50" dirty="0"/>
              <a:t> </a:t>
            </a:r>
            <a:r>
              <a:rPr lang="en-US" cap="small" spc="-95" dirty="0"/>
              <a:t>Science</a:t>
            </a:r>
            <a:r>
              <a:rPr lang="en-US" cap="small" spc="50" dirty="0"/>
              <a:t> </a:t>
            </a:r>
            <a:r>
              <a:rPr lang="en-US" cap="small" spc="-130" dirty="0"/>
              <a:t>and</a:t>
            </a:r>
            <a:r>
              <a:rPr lang="en-US" cap="small" spc="45" dirty="0"/>
              <a:t> </a:t>
            </a:r>
            <a:r>
              <a:rPr lang="en-US" cap="small" spc="-110" dirty="0"/>
              <a:t>Engineering</a:t>
            </a:r>
            <a:r>
              <a:rPr lang="en-US" cap="small" spc="45" dirty="0"/>
              <a:t> </a:t>
            </a:r>
            <a:r>
              <a:rPr lang="en-US" cap="small" spc="-70" dirty="0"/>
              <a:t>(</a:t>
            </a:r>
            <a:r>
              <a:rPr lang="en-US" cap="small" spc="-70" dirty="0" err="1"/>
              <a:t>AI&amp;ml</a:t>
            </a:r>
            <a:r>
              <a:rPr lang="en-US" cap="small" spc="-95" dirty="0"/>
              <a:t>)</a:t>
            </a:r>
          </a:p>
          <a:p>
            <a:pPr marL="12700">
              <a:lnSpc>
                <a:spcPts val="1845"/>
              </a:lnSpc>
            </a:pPr>
            <a:endParaRPr cap="small" spc="-95" dirty="0"/>
          </a:p>
        </p:txBody>
      </p:sp>
      <p:sp>
        <p:nvSpPr>
          <p:cNvPr id="10" name="object 10"/>
          <p:cNvSpPr txBox="1"/>
          <p:nvPr/>
        </p:nvSpPr>
        <p:spPr>
          <a:xfrm>
            <a:off x="6749909" y="6640376"/>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6</a:t>
            </a:fld>
            <a:endParaRPr spc="-25" dirty="0"/>
          </a:p>
        </p:txBody>
      </p:sp>
      <p:graphicFrame>
        <p:nvGraphicFramePr>
          <p:cNvPr id="7" name="object 7"/>
          <p:cNvGraphicFramePr>
            <a:graphicFrameLocks noGrp="1"/>
          </p:cNvGraphicFramePr>
          <p:nvPr>
            <p:extLst>
              <p:ext uri="{D42A27DB-BD31-4B8C-83A1-F6EECF244321}">
                <p14:modId xmlns:p14="http://schemas.microsoft.com/office/powerpoint/2010/main" val="3637319960"/>
              </p:ext>
            </p:extLst>
          </p:nvPr>
        </p:nvGraphicFramePr>
        <p:xfrm>
          <a:off x="141783" y="1022958"/>
          <a:ext cx="11212015" cy="3864621"/>
        </p:xfrm>
        <a:graphic>
          <a:graphicData uri="http://schemas.openxmlformats.org/drawingml/2006/table">
            <a:tbl>
              <a:tblPr firstRow="1" bandRow="1">
                <a:tableStyleId>{5C22544A-7EE6-4342-B048-85BDC9FD1C3A}</a:tableStyleId>
              </a:tblPr>
              <a:tblGrid>
                <a:gridCol w="28481">
                  <a:extLst>
                    <a:ext uri="{9D8B030D-6E8A-4147-A177-3AD203B41FA5}">
                      <a16:colId xmlns:a16="http://schemas.microsoft.com/office/drawing/2014/main" val="20000"/>
                    </a:ext>
                  </a:extLst>
                </a:gridCol>
                <a:gridCol w="2075001">
                  <a:extLst>
                    <a:ext uri="{9D8B030D-6E8A-4147-A177-3AD203B41FA5}">
                      <a16:colId xmlns:a16="http://schemas.microsoft.com/office/drawing/2014/main" val="20001"/>
                    </a:ext>
                  </a:extLst>
                </a:gridCol>
                <a:gridCol w="1522006">
                  <a:extLst>
                    <a:ext uri="{9D8B030D-6E8A-4147-A177-3AD203B41FA5}">
                      <a16:colId xmlns:a16="http://schemas.microsoft.com/office/drawing/2014/main" val="20002"/>
                    </a:ext>
                  </a:extLst>
                </a:gridCol>
                <a:gridCol w="1527714">
                  <a:extLst>
                    <a:ext uri="{9D8B030D-6E8A-4147-A177-3AD203B41FA5}">
                      <a16:colId xmlns:a16="http://schemas.microsoft.com/office/drawing/2014/main" val="20003"/>
                    </a:ext>
                  </a:extLst>
                </a:gridCol>
                <a:gridCol w="1907762">
                  <a:extLst>
                    <a:ext uri="{9D8B030D-6E8A-4147-A177-3AD203B41FA5}">
                      <a16:colId xmlns:a16="http://schemas.microsoft.com/office/drawing/2014/main" val="20004"/>
                    </a:ext>
                  </a:extLst>
                </a:gridCol>
                <a:gridCol w="2203259">
                  <a:extLst>
                    <a:ext uri="{9D8B030D-6E8A-4147-A177-3AD203B41FA5}">
                      <a16:colId xmlns:a16="http://schemas.microsoft.com/office/drawing/2014/main" val="20005"/>
                    </a:ext>
                  </a:extLst>
                </a:gridCol>
                <a:gridCol w="1947792">
                  <a:extLst>
                    <a:ext uri="{9D8B030D-6E8A-4147-A177-3AD203B41FA5}">
                      <a16:colId xmlns:a16="http://schemas.microsoft.com/office/drawing/2014/main" val="20006"/>
                    </a:ext>
                  </a:extLst>
                </a:gridCol>
              </a:tblGrid>
              <a:tr h="689426">
                <a:tc>
                  <a:txBody>
                    <a:bodyPr/>
                    <a:lstStyle/>
                    <a:p>
                      <a:pPr marL="85725">
                        <a:lnSpc>
                          <a:spcPct val="100000"/>
                        </a:lnSpc>
                        <a:spcBef>
                          <a:spcPts val="225"/>
                        </a:spcBef>
                      </a:pPr>
                      <a:r>
                        <a:rPr sz="1800" b="1" spc="-25" dirty="0">
                          <a:solidFill>
                            <a:srgbClr val="FFFFFF"/>
                          </a:solidFill>
                        </a:rPr>
                        <a:t>No</a:t>
                      </a:r>
                      <a:endParaRPr sz="1800" dirty="0">
                        <a:latin typeface="Calibri"/>
                        <a:cs typeface="Calibri"/>
                      </a:endParaRPr>
                    </a:p>
                  </a:txBody>
                  <a:tcPr marL="0" marR="0" marT="28575" marB="0"/>
                </a:tc>
                <a:tc>
                  <a:txBody>
                    <a:bodyPr/>
                    <a:lstStyle/>
                    <a:p>
                      <a:pPr marL="85725">
                        <a:lnSpc>
                          <a:spcPct val="100000"/>
                        </a:lnSpc>
                        <a:spcBef>
                          <a:spcPts val="225"/>
                        </a:spcBef>
                      </a:pPr>
                      <a:r>
                        <a:rPr sz="1800" b="1" spc="-10" dirty="0">
                          <a:solidFill>
                            <a:srgbClr val="FFFFFF"/>
                          </a:solidFill>
                        </a:rPr>
                        <a:t>Title</a:t>
                      </a:r>
                      <a:endParaRPr sz="1800" dirty="0">
                        <a:latin typeface="Calibri"/>
                        <a:cs typeface="Calibri"/>
                      </a:endParaRPr>
                    </a:p>
                  </a:txBody>
                  <a:tcPr marL="0" marR="0" marT="28575" marB="0"/>
                </a:tc>
                <a:tc>
                  <a:txBody>
                    <a:bodyPr/>
                    <a:lstStyle/>
                    <a:p>
                      <a:pPr marL="85725">
                        <a:lnSpc>
                          <a:spcPct val="100000"/>
                        </a:lnSpc>
                        <a:spcBef>
                          <a:spcPts val="225"/>
                        </a:spcBef>
                      </a:pPr>
                      <a:r>
                        <a:rPr sz="1800" b="1" spc="-10" dirty="0">
                          <a:solidFill>
                            <a:srgbClr val="FFFFFF"/>
                          </a:solidFill>
                        </a:rPr>
                        <a:t>Author</a:t>
                      </a:r>
                      <a:endParaRPr sz="1800" dirty="0">
                        <a:latin typeface="Calibri"/>
                        <a:cs typeface="Calibri"/>
                      </a:endParaRPr>
                    </a:p>
                  </a:txBody>
                  <a:tcPr marL="0" marR="0" marT="28575" marB="0"/>
                </a:tc>
                <a:tc>
                  <a:txBody>
                    <a:bodyPr/>
                    <a:lstStyle/>
                    <a:p>
                      <a:pPr marL="85725" marR="137160">
                        <a:lnSpc>
                          <a:spcPct val="100000"/>
                        </a:lnSpc>
                        <a:spcBef>
                          <a:spcPts val="225"/>
                        </a:spcBef>
                      </a:pPr>
                      <a:r>
                        <a:rPr sz="1800" b="1" dirty="0">
                          <a:solidFill>
                            <a:srgbClr val="FFFFFF"/>
                          </a:solidFill>
                        </a:rPr>
                        <a:t>Journal</a:t>
                      </a:r>
                      <a:r>
                        <a:rPr sz="1800" b="1" spc="-35" dirty="0">
                          <a:solidFill>
                            <a:srgbClr val="FFFFFF"/>
                          </a:solidFill>
                        </a:rPr>
                        <a:t> </a:t>
                      </a:r>
                      <a:r>
                        <a:rPr sz="1800" b="1" spc="-20" dirty="0">
                          <a:solidFill>
                            <a:srgbClr val="FFFFFF"/>
                          </a:solidFill>
                        </a:rPr>
                        <a:t>Name </a:t>
                      </a:r>
                      <a:r>
                        <a:rPr sz="1800" b="1" dirty="0">
                          <a:solidFill>
                            <a:srgbClr val="FFFFFF"/>
                          </a:solidFill>
                        </a:rPr>
                        <a:t>&amp;</a:t>
                      </a:r>
                      <a:r>
                        <a:rPr sz="1800" b="1" spc="-5" dirty="0">
                          <a:solidFill>
                            <a:srgbClr val="FFFFFF"/>
                          </a:solidFill>
                        </a:rPr>
                        <a:t> </a:t>
                      </a:r>
                      <a:r>
                        <a:rPr sz="1800" b="1" spc="-20" dirty="0">
                          <a:solidFill>
                            <a:srgbClr val="FFFFFF"/>
                          </a:solidFill>
                        </a:rPr>
                        <a:t>Year</a:t>
                      </a:r>
                      <a:endParaRPr sz="1800">
                        <a:latin typeface="Calibri"/>
                        <a:cs typeface="Calibri"/>
                      </a:endParaRPr>
                    </a:p>
                  </a:txBody>
                  <a:tcPr marL="0" marR="0" marT="28575" marB="0"/>
                </a:tc>
                <a:tc>
                  <a:txBody>
                    <a:bodyPr/>
                    <a:lstStyle/>
                    <a:p>
                      <a:pPr marL="85090" marR="521334">
                        <a:lnSpc>
                          <a:spcPct val="100000"/>
                        </a:lnSpc>
                        <a:spcBef>
                          <a:spcPts val="225"/>
                        </a:spcBef>
                      </a:pPr>
                      <a:r>
                        <a:rPr sz="1800" b="1" spc="-10" dirty="0">
                          <a:solidFill>
                            <a:srgbClr val="FFFFFF"/>
                          </a:solidFill>
                        </a:rPr>
                        <a:t>Methodology Adapted</a:t>
                      </a:r>
                      <a:endParaRPr sz="1800">
                        <a:latin typeface="Calibri"/>
                        <a:cs typeface="Calibri"/>
                      </a:endParaRPr>
                    </a:p>
                  </a:txBody>
                  <a:tcPr marL="0" marR="0" marT="28575" marB="0"/>
                </a:tc>
                <a:tc>
                  <a:txBody>
                    <a:bodyPr/>
                    <a:lstStyle/>
                    <a:p>
                      <a:pPr marL="85725">
                        <a:lnSpc>
                          <a:spcPct val="100000"/>
                        </a:lnSpc>
                        <a:spcBef>
                          <a:spcPts val="225"/>
                        </a:spcBef>
                      </a:pPr>
                      <a:r>
                        <a:rPr sz="1800" b="1" dirty="0">
                          <a:solidFill>
                            <a:srgbClr val="FFFFFF"/>
                          </a:solidFill>
                        </a:rPr>
                        <a:t>Key</a:t>
                      </a:r>
                      <a:r>
                        <a:rPr sz="1800" b="1" spc="-25" dirty="0">
                          <a:solidFill>
                            <a:srgbClr val="FFFFFF"/>
                          </a:solidFill>
                        </a:rPr>
                        <a:t> </a:t>
                      </a:r>
                      <a:r>
                        <a:rPr sz="1800" b="1" spc="-10" dirty="0">
                          <a:solidFill>
                            <a:srgbClr val="FFFFFF"/>
                          </a:solidFill>
                        </a:rPr>
                        <a:t>Findings</a:t>
                      </a:r>
                      <a:endParaRPr sz="1800">
                        <a:latin typeface="Calibri"/>
                        <a:cs typeface="Calibri"/>
                      </a:endParaRPr>
                    </a:p>
                  </a:txBody>
                  <a:tcPr marL="0" marR="0" marT="28575" marB="0"/>
                </a:tc>
                <a:tc>
                  <a:txBody>
                    <a:bodyPr/>
                    <a:lstStyle/>
                    <a:p>
                      <a:pPr marL="85725">
                        <a:lnSpc>
                          <a:spcPct val="100000"/>
                        </a:lnSpc>
                        <a:spcBef>
                          <a:spcPts val="225"/>
                        </a:spcBef>
                      </a:pPr>
                      <a:r>
                        <a:rPr sz="1800" b="1" spc="-20" dirty="0">
                          <a:solidFill>
                            <a:srgbClr val="FFFFFF"/>
                          </a:solidFill>
                        </a:rPr>
                        <a:t>Gaps</a:t>
                      </a:r>
                      <a:endParaRPr sz="1800">
                        <a:latin typeface="Calibri"/>
                        <a:cs typeface="Calibri"/>
                      </a:endParaRPr>
                    </a:p>
                  </a:txBody>
                  <a:tcPr marL="0" marR="0" marT="28575" marB="0"/>
                </a:tc>
                <a:extLst>
                  <a:ext uri="{0D108BD9-81ED-4DB2-BD59-A6C34878D82A}">
                    <a16:rowId xmlns:a16="http://schemas.microsoft.com/office/drawing/2014/main" val="10000"/>
                  </a:ext>
                </a:extLst>
              </a:tr>
              <a:tr h="1593491">
                <a:tc>
                  <a:txBody>
                    <a:bodyPr/>
                    <a:lstStyle/>
                    <a:p>
                      <a:pPr marL="85725">
                        <a:lnSpc>
                          <a:spcPct val="100000"/>
                        </a:lnSpc>
                        <a:spcBef>
                          <a:spcPts val="225"/>
                        </a:spcBef>
                      </a:pPr>
                      <a:r>
                        <a:rPr sz="1800" spc="-25" dirty="0"/>
                        <a:t>1.</a:t>
                      </a:r>
                      <a:endParaRPr sz="1800">
                        <a:latin typeface="Calibri"/>
                        <a:cs typeface="Calibri"/>
                      </a:endParaRPr>
                    </a:p>
                  </a:txBody>
                  <a:tcPr marL="0" marR="0" marT="28575" marB="0"/>
                </a:tc>
                <a:tc>
                  <a:txBody>
                    <a:bodyPr/>
                    <a:lstStyle/>
                    <a:p>
                      <a:pPr marL="85725" marR="172720" lvl="0">
                        <a:lnSpc>
                          <a:spcPct val="100000"/>
                        </a:lnSpc>
                        <a:spcBef>
                          <a:spcPts val="225"/>
                        </a:spcBef>
                        <a:buNone/>
                      </a:pPr>
                      <a:r>
                        <a:rPr lang="en-US" sz="1400" dirty="0"/>
                        <a:t>Improving Digital Forensic Security: A Secure Storage Model with Authentication and Optimal Key Generation based Encryption</a:t>
                      </a:r>
                      <a:endParaRPr lang="en-US" sz="1400" dirty="0">
                        <a:latin typeface="Times New Roman"/>
                      </a:endParaRPr>
                    </a:p>
                  </a:txBody>
                  <a:tcPr marL="0" marR="0" marT="28575" marB="0"/>
                </a:tc>
                <a:tc>
                  <a:txBody>
                    <a:bodyPr/>
                    <a:lstStyle/>
                    <a:p>
                      <a:pPr marL="85725" marR="504825" lvl="0">
                        <a:lnSpc>
                          <a:spcPct val="100000"/>
                        </a:lnSpc>
                        <a:spcBef>
                          <a:spcPts val="225"/>
                        </a:spcBef>
                        <a:buNone/>
                      </a:pPr>
                      <a:r>
                        <a:rPr lang="en-US" sz="1400" dirty="0"/>
                        <a:t>Abdullah </a:t>
                      </a:r>
                      <a:r>
                        <a:rPr lang="en-US" sz="1400" dirty="0" err="1"/>
                        <a:t>Mujawib</a:t>
                      </a:r>
                      <a:r>
                        <a:rPr lang="en-US" sz="1400" dirty="0"/>
                        <a:t> </a:t>
                      </a:r>
                      <a:r>
                        <a:rPr lang="en-US" sz="1400" dirty="0" err="1"/>
                        <a:t>Alashjaee</a:t>
                      </a:r>
                      <a:r>
                        <a:rPr lang="en-US" sz="1400" dirty="0"/>
                        <a:t>, </a:t>
                      </a:r>
                      <a:r>
                        <a:rPr lang="en-US" sz="1400" dirty="0" err="1"/>
                        <a:t>Fahad</a:t>
                      </a:r>
                      <a:r>
                        <a:rPr lang="en-US" sz="1400" dirty="0"/>
                        <a:t> </a:t>
                      </a:r>
                      <a:r>
                        <a:rPr lang="en-US" sz="1400" dirty="0" err="1"/>
                        <a:t>Alqahtani</a:t>
                      </a:r>
                      <a:endParaRPr sz="1400" dirty="0">
                        <a:latin typeface="Times New Roman"/>
                        <a:cs typeface="Calibri"/>
                      </a:endParaRPr>
                    </a:p>
                  </a:txBody>
                  <a:tcPr marL="0" marR="0" marT="28575" marB="0"/>
                </a:tc>
                <a:tc>
                  <a:txBody>
                    <a:bodyPr/>
                    <a:lstStyle/>
                    <a:p>
                      <a:pPr marL="85725" marR="103505" lvl="0">
                        <a:lnSpc>
                          <a:spcPct val="100000"/>
                        </a:lnSpc>
                        <a:spcBef>
                          <a:spcPts val="225"/>
                        </a:spcBef>
                        <a:buNone/>
                      </a:pPr>
                      <a:r>
                        <a:rPr lang="en-US" sz="1400" spc="-10" dirty="0"/>
                        <a:t>IEEE Access, 2024</a:t>
                      </a:r>
                      <a:endParaRPr sz="1400" spc="-10" dirty="0">
                        <a:latin typeface="Times New Roman" panose="02020603050405020304" pitchFamily="18" charset="0"/>
                        <a:cs typeface="Times New Roman" panose="02020603050405020304" pitchFamily="18" charset="0"/>
                      </a:endParaRPr>
                    </a:p>
                  </a:txBody>
                  <a:tcPr marL="0" marR="0" marT="28575" marB="0"/>
                </a:tc>
                <a:tc>
                  <a:txBody>
                    <a:bodyPr/>
                    <a:lstStyle/>
                    <a:p>
                      <a:pPr marL="85090" marR="462915">
                        <a:lnSpc>
                          <a:spcPct val="100000"/>
                        </a:lnSpc>
                        <a:spcBef>
                          <a:spcPts val="225"/>
                        </a:spcBef>
                      </a:pPr>
                      <a:r>
                        <a:rPr lang="en-US" sz="1400" dirty="0" err="1"/>
                        <a:t>Blockchain</a:t>
                      </a:r>
                      <a:r>
                        <a:rPr lang="en-US" sz="1400" dirty="0"/>
                        <a:t>-based decentralized storage, SBVM authentication, EEO-based key generation, Multi-Key </a:t>
                      </a:r>
                      <a:r>
                        <a:rPr lang="en-US" sz="1400" dirty="0" err="1"/>
                        <a:t>Homomorphic</a:t>
                      </a:r>
                      <a:r>
                        <a:rPr lang="en-US" sz="1400" dirty="0"/>
                        <a:t> Encryption</a:t>
                      </a:r>
                      <a:endParaRPr sz="1400" dirty="0">
                        <a:latin typeface="Times New Roman"/>
                        <a:cs typeface="Calibri"/>
                      </a:endParaRPr>
                    </a:p>
                  </a:txBody>
                  <a:tcPr marL="0" marR="0" marT="28575" marB="0"/>
                </a:tc>
                <a:tc>
                  <a:txBody>
                    <a:bodyPr/>
                    <a:lstStyle/>
                    <a:p>
                      <a:pPr marL="85725" marR="192405">
                        <a:lnSpc>
                          <a:spcPct val="100000"/>
                        </a:lnSpc>
                        <a:spcBef>
                          <a:spcPts val="225"/>
                        </a:spcBef>
                      </a:pPr>
                      <a:r>
                        <a:rPr lang="en-US" sz="1400" b="0" u="none" strike="noStrike" spc="-10" noProof="0" dirty="0"/>
                        <a:t>Improved security, authentication, and integrity of forensic data in cloud environments</a:t>
                      </a:r>
                      <a:endParaRPr sz="1400" b="0" i="0" u="none" strike="noStrike" spc="-10" noProof="0" dirty="0">
                        <a:latin typeface="Times New Roman"/>
                      </a:endParaRPr>
                    </a:p>
                  </a:txBody>
                  <a:tcPr marL="0" marR="0" marT="28575" marB="0"/>
                </a:tc>
                <a:tc>
                  <a:txBody>
                    <a:bodyPr/>
                    <a:lstStyle/>
                    <a:p>
                      <a:pPr marL="85725" marR="348615" lvl="0" algn="l">
                        <a:lnSpc>
                          <a:spcPct val="100000"/>
                        </a:lnSpc>
                        <a:spcBef>
                          <a:spcPts val="225"/>
                        </a:spcBef>
                        <a:buNone/>
                      </a:pPr>
                      <a:r>
                        <a:rPr lang="en-US" sz="1400" dirty="0"/>
                        <a:t>High computational overhead, complex encryption, lacks lightweight and practical implementation</a:t>
                      </a:r>
                      <a:endParaRPr sz="1400" dirty="0">
                        <a:latin typeface="Times New Roman" panose="02020603050405020304" pitchFamily="18" charset="0"/>
                        <a:cs typeface="Times New Roman" panose="02020603050405020304" pitchFamily="18" charset="0"/>
                      </a:endParaRPr>
                    </a:p>
                  </a:txBody>
                  <a:tcPr marL="0" marR="0" marT="28575" marB="0"/>
                </a:tc>
                <a:extLst>
                  <a:ext uri="{0D108BD9-81ED-4DB2-BD59-A6C34878D82A}">
                    <a16:rowId xmlns:a16="http://schemas.microsoft.com/office/drawing/2014/main" val="10001"/>
                  </a:ext>
                </a:extLst>
              </a:tr>
              <a:tr h="1439740">
                <a:tc>
                  <a:txBody>
                    <a:bodyPr/>
                    <a:lstStyle/>
                    <a:p>
                      <a:pPr marL="85725">
                        <a:lnSpc>
                          <a:spcPct val="100000"/>
                        </a:lnSpc>
                        <a:spcBef>
                          <a:spcPts val="225"/>
                        </a:spcBef>
                      </a:pPr>
                      <a:r>
                        <a:rPr sz="1800" spc="-50" dirty="0"/>
                        <a:t>2</a:t>
                      </a:r>
                      <a:endParaRPr sz="1800">
                        <a:latin typeface="Calibri"/>
                        <a:cs typeface="Calibri"/>
                      </a:endParaRPr>
                    </a:p>
                  </a:txBody>
                  <a:tcPr marL="0" marR="0" marT="28575" marB="0"/>
                </a:tc>
                <a:tc>
                  <a:txBody>
                    <a:bodyPr/>
                    <a:lstStyle/>
                    <a:p>
                      <a:pPr lvl="0">
                        <a:lnSpc>
                          <a:spcPct val="100000"/>
                        </a:lnSpc>
                        <a:buNone/>
                      </a:pPr>
                      <a:r>
                        <a:rPr lang="en-US" sz="1400" dirty="0"/>
                        <a:t>A Novel </a:t>
                      </a:r>
                      <a:r>
                        <a:rPr lang="en-US" sz="1400" dirty="0" err="1"/>
                        <a:t>Blockchain</a:t>
                      </a:r>
                      <a:r>
                        <a:rPr lang="en-US" sz="1400" dirty="0"/>
                        <a:t> Framework for Digital Forensics in Cloud Environment</a:t>
                      </a:r>
                      <a:endParaRPr lang="en-US" sz="1400" dirty="0">
                        <a:latin typeface="Times New Roman"/>
                      </a:endParaRPr>
                    </a:p>
                  </a:txBody>
                  <a:tcPr marL="0" marR="0" marT="0" marB="0"/>
                </a:tc>
                <a:tc>
                  <a:txBody>
                    <a:bodyPr/>
                    <a:lstStyle/>
                    <a:p>
                      <a:pPr lvl="0">
                        <a:lnSpc>
                          <a:spcPct val="100000"/>
                        </a:lnSpc>
                        <a:buNone/>
                      </a:pPr>
                      <a:r>
                        <a:rPr lang="fi-FI" sz="1400" dirty="0"/>
                        <a:t>Apirajitha &amp; Devi</a:t>
                      </a:r>
                      <a:endParaRPr sz="1400" dirty="0">
                        <a:latin typeface="Times New Roman"/>
                      </a:endParaRPr>
                    </a:p>
                  </a:txBody>
                  <a:tcPr marL="0" marR="0" marT="0" marB="0"/>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400" dirty="0"/>
                        <a:t>Wireless Personal Communications, 2023</a:t>
                      </a:r>
                      <a:endParaRPr sz="1400" dirty="0">
                        <a:latin typeface="Times New Roman"/>
                      </a:endParaRPr>
                    </a:p>
                  </a:txBody>
                  <a:tcPr marL="0" marR="0" marT="0" marB="0"/>
                </a:tc>
                <a:tc>
                  <a:txBody>
                    <a:bodyPr/>
                    <a:lstStyle/>
                    <a:p>
                      <a:pPr lvl="0">
                        <a:lnSpc>
                          <a:spcPct val="100000"/>
                        </a:lnSpc>
                        <a:buNone/>
                      </a:pPr>
                      <a:r>
                        <a:rPr lang="en-US" sz="1400" dirty="0" err="1"/>
                        <a:t>Blockchain</a:t>
                      </a:r>
                      <a:r>
                        <a:rPr lang="en-US" sz="1400" dirty="0"/>
                        <a:t> with optimization algorithms for forensic data protection</a:t>
                      </a:r>
                      <a:endParaRPr sz="1400" dirty="0">
                        <a:latin typeface="Times New Roman"/>
                      </a:endParaRPr>
                    </a:p>
                  </a:txBody>
                  <a:tcPr marL="0" marR="0" marT="0" marB="0"/>
                </a:tc>
                <a:tc>
                  <a:txBody>
                    <a:bodyPr/>
                    <a:lstStyle/>
                    <a:p>
                      <a:pPr lvl="0">
                        <a:lnSpc>
                          <a:spcPct val="100000"/>
                        </a:lnSpc>
                        <a:buNone/>
                      </a:pPr>
                      <a:r>
                        <a:rPr lang="en-IN" sz="1400" dirty="0"/>
                        <a:t> </a:t>
                      </a:r>
                      <a:r>
                        <a:rPr lang="en-US" sz="1400" dirty="0"/>
                        <a:t>Improved evidence traceability and integrity</a:t>
                      </a:r>
                      <a:endParaRPr sz="1400" dirty="0">
                        <a:latin typeface="Times New Roman"/>
                      </a:endParaRPr>
                    </a:p>
                  </a:txBody>
                  <a:tcPr marL="0" marR="0" marT="0" marB="0"/>
                </a:tc>
                <a:tc>
                  <a:txBody>
                    <a:bodyPr/>
                    <a:lstStyle/>
                    <a:p>
                      <a:pPr lvl="0">
                        <a:lnSpc>
                          <a:spcPct val="100000"/>
                        </a:lnSpc>
                        <a:buNone/>
                      </a:pPr>
                      <a:r>
                        <a:rPr lang="en-US" sz="1400" b="0" u="none" strike="noStrike" noProof="0" dirty="0"/>
                        <a:t> Lacks efficient authentication and access control mechanisms</a:t>
                      </a:r>
                      <a:endParaRPr sz="1400" dirty="0">
                        <a:latin typeface="Times New Roman"/>
                      </a:endParaRPr>
                    </a:p>
                  </a:txBody>
                  <a:tcPr marL="0" marR="0" marT="0" marB="0"/>
                </a:tc>
                <a:extLst>
                  <a:ext uri="{0D108BD9-81ED-4DB2-BD59-A6C34878D82A}">
                    <a16:rowId xmlns:a16="http://schemas.microsoft.com/office/drawing/2014/main" val="10002"/>
                  </a:ext>
                </a:extLst>
              </a:tr>
            </a:tbl>
          </a:graphicData>
        </a:graphic>
      </p:graphicFrame>
      <p:sp>
        <p:nvSpPr>
          <p:cNvPr id="12" name="object 2">
            <a:extLst>
              <a:ext uri="{FF2B5EF4-FFF2-40B4-BE49-F238E27FC236}">
                <a16:creationId xmlns:a16="http://schemas.microsoft.com/office/drawing/2014/main" id="{645C9295-2517-9D36-F2D9-E747C2A3E8EA}"/>
              </a:ext>
            </a:extLst>
          </p:cNvPr>
          <p:cNvSpPr txBox="1"/>
          <p:nvPr/>
        </p:nvSpPr>
        <p:spPr>
          <a:xfrm>
            <a:off x="3337685" y="0"/>
            <a:ext cx="5006213" cy="228268"/>
          </a:xfrm>
          <a:prstGeom prst="rect">
            <a:avLst/>
          </a:prstGeom>
        </p:spPr>
        <p:txBody>
          <a:bodyPr vert="horz" wrap="square" lIns="0" tIns="12700" rIns="0" bIns="0" rtlCol="0" anchor="t">
            <a:spAutoFit/>
          </a:bodyPr>
          <a:lstStyle/>
          <a:p>
            <a:pPr marL="12700" algn="ctr">
              <a:spcBef>
                <a:spcPts val="100"/>
              </a:spcBef>
            </a:pPr>
            <a:r>
              <a:rPr lang="en-US" sz="1400" dirty="0">
                <a:solidFill>
                  <a:schemeClr val="bg1"/>
                </a:solidFill>
              </a:rPr>
              <a:t>Secure Digital Forensic Evidence Storage System</a:t>
            </a:r>
            <a:r>
              <a:rPr lang="en-US" sz="1400" dirty="0">
                <a:solidFill>
                  <a:schemeClr val="bg1"/>
                </a:solidFill>
                <a:latin typeface="Times New Roman"/>
                <a:cs typeface="Times New Roman"/>
              </a:rPr>
              <a:t>.</a:t>
            </a:r>
            <a:endParaRPr sz="1400" dirty="0">
              <a:solidFill>
                <a:schemeClr val="bg1"/>
              </a:solidFill>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2400" y="1828800"/>
            <a:ext cx="10972800" cy="4047968"/>
          </a:xfrm>
        </p:spPr>
        <p:txBody>
          <a:bodyPr/>
          <a:lstStyle/>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Digital forensic evidence is commonly stored in offline storage devices or basic cloud storage systems without advanced security mechanisms.</a:t>
            </a: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Authentication and access control are limited, making it difficult to prevent unauthorized or insider access.</a:t>
            </a:r>
          </a:p>
          <a:p>
            <a:pPr marL="342900" indent="-34290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Uses simple authentication (username and password)</a:t>
            </a:r>
            <a:endParaRPr lang="en-US" sz="22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There is no reliable automated method to detect tampering or modification of digital evidence.</a:t>
            </a: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Chain of custody is often maintained manually, which reduces transparency and affects legal reliability.</a:t>
            </a:r>
          </a:p>
        </p:txBody>
      </p:sp>
      <p:sp>
        <p:nvSpPr>
          <p:cNvPr id="4" name="object 5">
            <a:extLst>
              <a:ext uri="{FF2B5EF4-FFF2-40B4-BE49-F238E27FC236}">
                <a16:creationId xmlns:a16="http://schemas.microsoft.com/office/drawing/2014/main" id="{021057BB-8D93-F44B-B9E2-B26E2A078D57}"/>
              </a:ext>
            </a:extLst>
          </p:cNvPr>
          <p:cNvSpPr/>
          <p:nvPr/>
        </p:nvSpPr>
        <p:spPr>
          <a:xfrm>
            <a:off x="9832" y="212288"/>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a:xfrm>
            <a:off x="152400" y="339855"/>
            <a:ext cx="3888104" cy="695960"/>
          </a:xfrm>
        </p:spPr>
        <p:txBody>
          <a:bodyPr/>
          <a:lstStyle/>
          <a:p>
            <a:r>
              <a:rPr lang="en-US" b="1" dirty="0"/>
              <a:t>Existing System</a:t>
            </a:r>
          </a:p>
        </p:txBody>
      </p:sp>
      <p:sp>
        <p:nvSpPr>
          <p:cNvPr id="5" name="Rectangle 4"/>
          <p:cNvSpPr/>
          <p:nvPr/>
        </p:nvSpPr>
        <p:spPr>
          <a:xfrm>
            <a:off x="3331846" y="-93260"/>
            <a:ext cx="5301451" cy="369332"/>
          </a:xfrm>
          <a:prstGeom prst="rect">
            <a:avLst/>
          </a:prstGeom>
        </p:spPr>
        <p:txBody>
          <a:bodyPr wrap="none">
            <a:spAutoFit/>
          </a:bodyPr>
          <a:lstStyle/>
          <a:p>
            <a:pPr marL="12700" algn="ctr">
              <a:spcBef>
                <a:spcPts val="100"/>
              </a:spcBef>
            </a:pPr>
            <a:r>
              <a:rPr lang="en-US" dirty="0">
                <a:solidFill>
                  <a:schemeClr val="bg1"/>
                </a:solidFill>
              </a:rPr>
              <a:t>Secure Digital Forensic Evidence Storage System</a:t>
            </a:r>
            <a:endParaRPr lang="en-US" dirty="0">
              <a:solidFill>
                <a:schemeClr val="bg1"/>
              </a:solidFill>
              <a:latin typeface="Times New Roman"/>
              <a:cs typeface="Times New Roman"/>
            </a:endParaRPr>
          </a:p>
        </p:txBody>
      </p:sp>
      <p:sp>
        <p:nvSpPr>
          <p:cNvPr id="6" name="object 7">
            <a:extLst>
              <a:ext uri="{FF2B5EF4-FFF2-40B4-BE49-F238E27FC236}">
                <a16:creationId xmlns:a16="http://schemas.microsoft.com/office/drawing/2014/main" id="{C42EBEF0-D446-3503-6898-2738D242A7C0}"/>
              </a:ext>
            </a:extLst>
          </p:cNvPr>
          <p:cNvSpPr/>
          <p:nvPr/>
        </p:nvSpPr>
        <p:spPr>
          <a:xfrm>
            <a:off x="0" y="6636385"/>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B-16</a:t>
            </a:r>
          </a:p>
        </p:txBody>
      </p:sp>
      <p:sp>
        <p:nvSpPr>
          <p:cNvPr id="7" name="Rectangle 6"/>
          <p:cNvSpPr/>
          <p:nvPr/>
        </p:nvSpPr>
        <p:spPr>
          <a:xfrm>
            <a:off x="777240" y="6585609"/>
            <a:ext cx="11887200" cy="323165"/>
          </a:xfrm>
          <a:prstGeom prst="rect">
            <a:avLst/>
          </a:prstGeom>
        </p:spPr>
        <p:txBody>
          <a:bodyPr wrap="square">
            <a:spAutoFit/>
          </a:bodyPr>
          <a:lstStyle/>
          <a:p>
            <a:pPr marL="12700">
              <a:lnSpc>
                <a:spcPts val="1845"/>
              </a:lnSpc>
            </a:pPr>
            <a:r>
              <a:rPr lang="en-US" sz="1600" cap="small" spc="-75" dirty="0">
                <a:solidFill>
                  <a:schemeClr val="bg1"/>
                </a:solidFill>
                <a:latin typeface="Times New Roman" panose="02020603050405020304" pitchFamily="18" charset="0"/>
                <a:cs typeface="Times New Roman" panose="02020603050405020304" pitchFamily="18" charset="0"/>
              </a:rPr>
              <a:t>     Dept.</a:t>
            </a:r>
            <a:r>
              <a:rPr lang="en-US" sz="1600" cap="small" spc="-10" dirty="0">
                <a:solidFill>
                  <a:schemeClr val="bg1"/>
                </a:solidFill>
                <a:latin typeface="Times New Roman" panose="02020603050405020304" pitchFamily="18" charset="0"/>
                <a:cs typeface="Times New Roman" panose="02020603050405020304" pitchFamily="18" charset="0"/>
              </a:rPr>
              <a:t> </a:t>
            </a:r>
            <a:r>
              <a:rPr lang="en-US" sz="1600" cap="small" spc="-100" dirty="0">
                <a:solidFill>
                  <a:schemeClr val="bg1"/>
                </a:solidFill>
                <a:latin typeface="Times New Roman" panose="02020603050405020304" pitchFamily="18" charset="0"/>
                <a:cs typeface="Times New Roman" panose="02020603050405020304" pitchFamily="18" charset="0"/>
              </a:rPr>
              <a:t>of</a:t>
            </a:r>
            <a:r>
              <a:rPr lang="en-US" sz="1600" cap="small" spc="25" dirty="0">
                <a:solidFill>
                  <a:schemeClr val="bg1"/>
                </a:solidFill>
                <a:latin typeface="Times New Roman" panose="02020603050405020304" pitchFamily="18" charset="0"/>
                <a:cs typeface="Times New Roman" panose="02020603050405020304" pitchFamily="18" charset="0"/>
              </a:rPr>
              <a:t> </a:t>
            </a:r>
            <a:r>
              <a:rPr lang="en-US" sz="1600" cap="small" spc="-114" dirty="0">
                <a:solidFill>
                  <a:schemeClr val="bg1"/>
                </a:solidFill>
                <a:latin typeface="Times New Roman" panose="02020603050405020304" pitchFamily="18" charset="0"/>
                <a:cs typeface="Times New Roman" panose="02020603050405020304" pitchFamily="18" charset="0"/>
              </a:rPr>
              <a:t>Computer</a:t>
            </a:r>
            <a:r>
              <a:rPr lang="en-US" sz="1600" cap="small" spc="50" dirty="0">
                <a:solidFill>
                  <a:schemeClr val="bg1"/>
                </a:solidFill>
                <a:latin typeface="Times New Roman" panose="02020603050405020304" pitchFamily="18" charset="0"/>
                <a:cs typeface="Times New Roman" panose="02020603050405020304" pitchFamily="18" charset="0"/>
              </a:rPr>
              <a:t> </a:t>
            </a:r>
            <a:r>
              <a:rPr lang="en-US" sz="1600" cap="small" spc="-95" dirty="0">
                <a:solidFill>
                  <a:schemeClr val="bg1"/>
                </a:solidFill>
                <a:latin typeface="Times New Roman" panose="02020603050405020304" pitchFamily="18" charset="0"/>
                <a:cs typeface="Times New Roman" panose="02020603050405020304" pitchFamily="18" charset="0"/>
              </a:rPr>
              <a:t>Science</a:t>
            </a:r>
            <a:r>
              <a:rPr lang="en-US" sz="1600" cap="small" spc="50" dirty="0">
                <a:solidFill>
                  <a:schemeClr val="bg1"/>
                </a:solidFill>
                <a:latin typeface="Times New Roman" panose="02020603050405020304" pitchFamily="18" charset="0"/>
                <a:cs typeface="Times New Roman" panose="02020603050405020304" pitchFamily="18" charset="0"/>
              </a:rPr>
              <a:t> </a:t>
            </a:r>
            <a:r>
              <a:rPr lang="en-US" sz="1600" cap="small" spc="-130" dirty="0">
                <a:solidFill>
                  <a:schemeClr val="bg1"/>
                </a:solidFill>
                <a:latin typeface="Times New Roman" panose="02020603050405020304" pitchFamily="18" charset="0"/>
                <a:cs typeface="Times New Roman" panose="02020603050405020304" pitchFamily="18" charset="0"/>
              </a:rPr>
              <a:t>and</a:t>
            </a:r>
            <a:r>
              <a:rPr lang="en-US" sz="1600" cap="small" spc="45" dirty="0">
                <a:solidFill>
                  <a:schemeClr val="bg1"/>
                </a:solidFill>
                <a:latin typeface="Times New Roman" panose="02020603050405020304" pitchFamily="18" charset="0"/>
                <a:cs typeface="Times New Roman" panose="02020603050405020304" pitchFamily="18" charset="0"/>
              </a:rPr>
              <a:t> </a:t>
            </a:r>
            <a:r>
              <a:rPr lang="en-US" sz="1600" cap="small" spc="-110" dirty="0">
                <a:solidFill>
                  <a:schemeClr val="bg1"/>
                </a:solidFill>
                <a:latin typeface="Times New Roman" panose="02020603050405020304" pitchFamily="18" charset="0"/>
                <a:cs typeface="Times New Roman" panose="02020603050405020304" pitchFamily="18" charset="0"/>
              </a:rPr>
              <a:t>Engineering</a:t>
            </a:r>
            <a:r>
              <a:rPr lang="en-US" sz="1600" cap="small" spc="45" dirty="0">
                <a:solidFill>
                  <a:schemeClr val="bg1"/>
                </a:solidFill>
                <a:latin typeface="Times New Roman" panose="02020603050405020304" pitchFamily="18" charset="0"/>
                <a:cs typeface="Times New Roman" panose="02020603050405020304" pitchFamily="18" charset="0"/>
              </a:rPr>
              <a:t> </a:t>
            </a:r>
            <a:r>
              <a:rPr lang="en-US" sz="1600" cap="small" spc="-70" dirty="0">
                <a:solidFill>
                  <a:schemeClr val="bg1"/>
                </a:solidFill>
                <a:latin typeface="Times New Roman" panose="02020603050405020304" pitchFamily="18" charset="0"/>
                <a:cs typeface="Times New Roman" panose="02020603050405020304" pitchFamily="18" charset="0"/>
              </a:rPr>
              <a:t>(</a:t>
            </a:r>
            <a:r>
              <a:rPr lang="en-US" sz="1600" cap="small" spc="-70" dirty="0" err="1">
                <a:solidFill>
                  <a:schemeClr val="bg1"/>
                </a:solidFill>
                <a:latin typeface="Times New Roman" panose="02020603050405020304" pitchFamily="18" charset="0"/>
                <a:cs typeface="Times New Roman" panose="02020603050405020304" pitchFamily="18" charset="0"/>
              </a:rPr>
              <a:t>AI&amp;ml</a:t>
            </a:r>
            <a:r>
              <a:rPr lang="en-US" sz="1600" cap="small" spc="-95" dirty="0">
                <a:solidFill>
                  <a:schemeClr val="bg1"/>
                </a:solidFill>
                <a:latin typeface="Times New Roman" panose="02020603050405020304" pitchFamily="18" charset="0"/>
                <a:cs typeface="Times New Roman" panose="02020603050405020304" pitchFamily="18" charset="0"/>
              </a:rPr>
              <a:t>)                                            </a:t>
            </a:r>
            <a:r>
              <a:rPr lang="en-US" sz="1600" cap="small" spc="-95" dirty="0" err="1">
                <a:solidFill>
                  <a:schemeClr val="bg1"/>
                </a:solidFill>
                <a:latin typeface="Times New Roman" panose="02020603050405020304" pitchFamily="18" charset="0"/>
                <a:cs typeface="Times New Roman" panose="02020603050405020304" pitchFamily="18" charset="0"/>
              </a:rPr>
              <a:t>Srinivasa</a:t>
            </a:r>
            <a:r>
              <a:rPr lang="en-US" sz="1600" cap="small" spc="-95" dirty="0">
                <a:solidFill>
                  <a:schemeClr val="bg1"/>
                </a:solidFill>
                <a:latin typeface="Times New Roman" panose="02020603050405020304" pitchFamily="18" charset="0"/>
                <a:cs typeface="Times New Roman" panose="02020603050405020304" pitchFamily="18" charset="0"/>
              </a:rPr>
              <a:t> </a:t>
            </a:r>
            <a:r>
              <a:rPr lang="en-US" sz="1600" cap="small" spc="-95" dirty="0" err="1">
                <a:solidFill>
                  <a:schemeClr val="bg1"/>
                </a:solidFill>
                <a:latin typeface="Times New Roman" panose="02020603050405020304" pitchFamily="18" charset="0"/>
                <a:cs typeface="Times New Roman" panose="02020603050405020304" pitchFamily="18" charset="0"/>
              </a:rPr>
              <a:t>Ramanujan</a:t>
            </a:r>
            <a:r>
              <a:rPr lang="en-US" sz="1600" cap="small" spc="-95" dirty="0">
                <a:solidFill>
                  <a:schemeClr val="bg1"/>
                </a:solidFill>
                <a:latin typeface="Times New Roman" panose="02020603050405020304" pitchFamily="18" charset="0"/>
                <a:cs typeface="Times New Roman" panose="02020603050405020304" pitchFamily="18" charset="0"/>
              </a:rPr>
              <a:t> Institute of Technology                    </a:t>
            </a:r>
            <a:r>
              <a:rPr lang="en-US" sz="1600" b="1" cap="small" spc="-95" dirty="0">
                <a:solidFill>
                  <a:schemeClr val="tx1"/>
                </a:solidFill>
                <a:latin typeface="Times New Roman" panose="02020603050405020304" pitchFamily="18" charset="0"/>
                <a:cs typeface="Times New Roman" panose="02020603050405020304" pitchFamily="18" charset="0"/>
              </a:rPr>
              <a:t>7</a:t>
            </a:r>
          </a:p>
        </p:txBody>
      </p:sp>
    </p:spTree>
    <p:extLst>
      <p:ext uri="{BB962C8B-B14F-4D97-AF65-F5344CB8AC3E}">
        <p14:creationId xmlns:p14="http://schemas.microsoft.com/office/powerpoint/2010/main" val="1976814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66828-A339-AA64-5D50-6C5B5F278A91}"/>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F604F1D4-AF1C-BEF1-3D11-95D52A753DD2}"/>
              </a:ext>
            </a:extLst>
          </p:cNvPr>
          <p:cNvSpPr/>
          <p:nvPr/>
        </p:nvSpPr>
        <p:spPr>
          <a:xfrm>
            <a:off x="-1" y="-1"/>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dirty="0"/>
          </a:p>
        </p:txBody>
      </p:sp>
      <p:sp>
        <p:nvSpPr>
          <p:cNvPr id="7" name="object 7">
            <a:extLst>
              <a:ext uri="{FF2B5EF4-FFF2-40B4-BE49-F238E27FC236}">
                <a16:creationId xmlns:a16="http://schemas.microsoft.com/office/drawing/2014/main" id="{EA8FBB2A-94DD-8C04-7DE6-469F07640FB7}"/>
              </a:ext>
            </a:extLst>
          </p:cNvPr>
          <p:cNvSpPr/>
          <p:nvPr/>
        </p:nvSpPr>
        <p:spPr>
          <a:xfrm>
            <a:off x="0" y="6634572"/>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sz="1600" dirty="0">
                <a:solidFill>
                  <a:schemeClr val="bg1"/>
                </a:solidFill>
                <a:latin typeface="Times New Roman"/>
                <a:ea typeface="+mn-lt"/>
                <a:cs typeface="Times New Roman"/>
              </a:rPr>
              <a:t>  B-16</a:t>
            </a:r>
          </a:p>
        </p:txBody>
      </p:sp>
      <p:sp>
        <p:nvSpPr>
          <p:cNvPr id="9" name="object 9">
            <a:extLst>
              <a:ext uri="{FF2B5EF4-FFF2-40B4-BE49-F238E27FC236}">
                <a16:creationId xmlns:a16="http://schemas.microsoft.com/office/drawing/2014/main" id="{50839E0F-372E-263B-86FD-DB74B34137E4}"/>
              </a:ext>
            </a:extLst>
          </p:cNvPr>
          <p:cNvSpPr txBox="1"/>
          <p:nvPr/>
        </p:nvSpPr>
        <p:spPr>
          <a:xfrm>
            <a:off x="190499" y="1288637"/>
            <a:ext cx="11811000" cy="4906471"/>
          </a:xfrm>
          <a:prstGeom prst="rect">
            <a:avLst/>
          </a:prstGeom>
        </p:spPr>
        <p:txBody>
          <a:bodyPr vert="horz" wrap="square" lIns="0" tIns="12700" rIns="0" bIns="0" rtlCol="0" anchor="t">
            <a:spAutoFit/>
          </a:bodyPr>
          <a:lstStyle/>
          <a:p>
            <a:pPr>
              <a:lnSpc>
                <a:spcPct val="150000"/>
              </a:lnSpc>
            </a:pPr>
            <a:r>
              <a:rPr lang="en-US" sz="2100" b="1" dirty="0">
                <a:latin typeface="Times New Roman" panose="02020603050405020304" pitchFamily="18" charset="0"/>
                <a:cs typeface="Times New Roman" panose="02020603050405020304" pitchFamily="18" charset="0"/>
              </a:rPr>
              <a:t>Step 1:</a:t>
            </a:r>
          </a:p>
          <a:p>
            <a:pPr>
              <a:lnSpc>
                <a:spcPct val="150000"/>
              </a:lnSpc>
            </a:pPr>
            <a:r>
              <a:rPr lang="en-US" sz="2100" b="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 secure web-based application for managing digital forensic evidence</a:t>
            </a:r>
            <a:r>
              <a:rPr lang="en-US" sz="2100" b="1" dirty="0">
                <a:latin typeface="Times New Roman" panose="02020603050405020304" pitchFamily="18" charset="0"/>
                <a:cs typeface="Times New Roman" panose="02020603050405020304" pitchFamily="18" charset="0"/>
              </a:rPr>
              <a:t>	</a:t>
            </a:r>
          </a:p>
          <a:p>
            <a:pPr>
              <a:lnSpc>
                <a:spcPct val="150000"/>
              </a:lnSpc>
            </a:pPr>
            <a:r>
              <a:rPr lang="en-US" sz="2100" b="1" dirty="0">
                <a:latin typeface="Times New Roman" panose="02020603050405020304" pitchFamily="18" charset="0"/>
                <a:cs typeface="Times New Roman" panose="02020603050405020304" pitchFamily="18" charset="0"/>
              </a:rPr>
              <a:t>Step 2: </a:t>
            </a:r>
          </a:p>
          <a:p>
            <a:pPr>
              <a:lnSpc>
                <a:spcPct val="150000"/>
              </a:lnSpc>
            </a:pPr>
            <a:r>
              <a:rPr lang="en-US" sz="2100" b="1" dirty="0">
                <a:latin typeface="Times New Roman" panose="02020603050405020304" pitchFamily="18" charset="0"/>
                <a:cs typeface="Times New Roman" panose="02020603050405020304" pitchFamily="18" charset="0"/>
              </a:rPr>
              <a:t>      </a:t>
            </a:r>
            <a:r>
              <a:rPr lang="en-US" sz="2100" dirty="0">
                <a:latin typeface="Times New Roman" panose="02020603050405020304" pitchFamily="18" charset="0"/>
                <a:cs typeface="Times New Roman" panose="02020603050405020304" pitchFamily="18" charset="0"/>
              </a:rPr>
              <a:t>Provides authenticated and role-based access for authorized users</a:t>
            </a:r>
          </a:p>
          <a:p>
            <a:pPr>
              <a:lnSpc>
                <a:spcPct val="150000"/>
              </a:lnSpc>
            </a:pPr>
            <a:r>
              <a:rPr lang="en-US" sz="2100" b="1" dirty="0">
                <a:latin typeface="Times New Roman" panose="02020603050405020304" pitchFamily="18" charset="0"/>
                <a:cs typeface="Times New Roman" panose="02020603050405020304" pitchFamily="18" charset="0"/>
              </a:rPr>
              <a:t>Step 3: </a:t>
            </a:r>
          </a:p>
          <a:p>
            <a:pPr>
              <a:lnSpc>
                <a:spcPct val="150000"/>
              </a:lnSpc>
            </a:pPr>
            <a:r>
              <a:rPr lang="en-US" sz="2100" b="1" dirty="0">
                <a:latin typeface="Times New Roman" panose="02020603050405020304" pitchFamily="18" charset="0"/>
                <a:cs typeface="Times New Roman" panose="02020603050405020304" pitchFamily="18" charset="0"/>
              </a:rPr>
              <a:t>      </a:t>
            </a:r>
            <a:r>
              <a:rPr lang="en-US" sz="2100" dirty="0">
                <a:latin typeface="Times New Roman" panose="02020603050405020304" pitchFamily="18" charset="0"/>
                <a:cs typeface="Times New Roman" panose="02020603050405020304" pitchFamily="18" charset="0"/>
              </a:rPr>
              <a:t>Encrypts digital evidence using hybrid encryption techniques</a:t>
            </a:r>
          </a:p>
          <a:p>
            <a:pPr>
              <a:lnSpc>
                <a:spcPct val="150000"/>
              </a:lnSpc>
            </a:pPr>
            <a:r>
              <a:rPr lang="en-US" sz="2100" b="1" dirty="0">
                <a:latin typeface="Times New Roman" panose="02020603050405020304" pitchFamily="18" charset="0"/>
                <a:cs typeface="Times New Roman" panose="02020603050405020304" pitchFamily="18" charset="0"/>
              </a:rPr>
              <a:t>Step 4: </a:t>
            </a:r>
          </a:p>
          <a:p>
            <a:pPr>
              <a:lnSpc>
                <a:spcPct val="150000"/>
              </a:lnSpc>
            </a:pPr>
            <a:r>
              <a:rPr lang="en-US" sz="2100" dirty="0">
                <a:latin typeface="Times New Roman" panose="02020603050405020304" pitchFamily="18" charset="0"/>
                <a:cs typeface="Times New Roman" panose="02020603050405020304" pitchFamily="18" charset="0"/>
              </a:rPr>
              <a:t>      Ensures integrity verification through hash comparison</a:t>
            </a:r>
          </a:p>
          <a:p>
            <a:pPr>
              <a:lnSpc>
                <a:spcPct val="150000"/>
              </a:lnSpc>
            </a:pPr>
            <a:r>
              <a:rPr lang="en-US" sz="2100" b="1" dirty="0">
                <a:latin typeface="Times New Roman" panose="02020603050405020304" pitchFamily="18" charset="0"/>
                <a:cs typeface="Times New Roman" panose="02020603050405020304" pitchFamily="18" charset="0"/>
              </a:rPr>
              <a:t>Step 5:</a:t>
            </a:r>
          </a:p>
          <a:p>
            <a:pPr>
              <a:lnSpc>
                <a:spcPct val="150000"/>
              </a:lnSpc>
            </a:pPr>
            <a:r>
              <a:rPr lang="en-US" sz="2200" dirty="0">
                <a:latin typeface="Times New Roman" panose="02020603050405020304" pitchFamily="18" charset="0"/>
                <a:cs typeface="Times New Roman" panose="02020603050405020304" pitchFamily="18" charset="0"/>
              </a:rPr>
              <a:t>      Maintains tamper-proof chain of custody using </a:t>
            </a:r>
            <a:r>
              <a:rPr lang="en-US" sz="2200" dirty="0" err="1">
                <a:latin typeface="Times New Roman" panose="02020603050405020304" pitchFamily="18" charset="0"/>
                <a:cs typeface="Times New Roman" panose="02020603050405020304" pitchFamily="18" charset="0"/>
              </a:rPr>
              <a:t>blockchain</a:t>
            </a:r>
            <a:r>
              <a:rPr lang="en-US" sz="2200" dirty="0">
                <a:latin typeface="Times New Roman" panose="02020603050405020304" pitchFamily="18" charset="0"/>
                <a:cs typeface="Times New Roman" panose="02020603050405020304" pitchFamily="18" charset="0"/>
              </a:rPr>
              <a:t> audit logs</a:t>
            </a:r>
          </a:p>
        </p:txBody>
      </p:sp>
      <p:sp>
        <p:nvSpPr>
          <p:cNvPr id="10" name="object 9">
            <a:extLst>
              <a:ext uri="{FF2B5EF4-FFF2-40B4-BE49-F238E27FC236}">
                <a16:creationId xmlns:a16="http://schemas.microsoft.com/office/drawing/2014/main" id="{D1977AE6-95C9-1128-E2F4-41C85FF29E21}"/>
              </a:ext>
            </a:extLst>
          </p:cNvPr>
          <p:cNvSpPr txBox="1">
            <a:spLocks noGrp="1"/>
          </p:cNvSpPr>
          <p:nvPr>
            <p:ph type="dt" sz="half" idx="6"/>
          </p:nvPr>
        </p:nvSpPr>
        <p:spPr>
          <a:xfrm>
            <a:off x="1175812" y="6629309"/>
            <a:ext cx="1068787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r>
              <a:rPr lang="en-US" cap="small" spc="-95" dirty="0"/>
              <a:t>                      	  Srinivasa Ramanujan Institute of Technology</a:t>
            </a:r>
            <a:endParaRPr cap="small" spc="-95" dirty="0"/>
          </a:p>
        </p:txBody>
      </p:sp>
      <p:sp>
        <p:nvSpPr>
          <p:cNvPr id="22" name="object 5">
            <a:extLst>
              <a:ext uri="{FF2B5EF4-FFF2-40B4-BE49-F238E27FC236}">
                <a16:creationId xmlns:a16="http://schemas.microsoft.com/office/drawing/2014/main" id="{30513A1C-239C-B928-A044-F829A49F0D17}"/>
              </a:ext>
            </a:extLst>
          </p:cNvPr>
          <p:cNvSpPr/>
          <p:nvPr/>
        </p:nvSpPr>
        <p:spPr>
          <a:xfrm>
            <a:off x="-518" y="233144"/>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6" name="object 6">
            <a:extLst>
              <a:ext uri="{FF2B5EF4-FFF2-40B4-BE49-F238E27FC236}">
                <a16:creationId xmlns:a16="http://schemas.microsoft.com/office/drawing/2014/main" id="{775D5862-A5AD-3A3F-AFD6-4C5BE588AEC1}"/>
              </a:ext>
            </a:extLst>
          </p:cNvPr>
          <p:cNvSpPr txBox="1">
            <a:spLocks noGrp="1"/>
          </p:cNvSpPr>
          <p:nvPr>
            <p:ph type="title"/>
          </p:nvPr>
        </p:nvSpPr>
        <p:spPr>
          <a:xfrm>
            <a:off x="20182" y="331753"/>
            <a:ext cx="4170818" cy="689932"/>
          </a:xfrm>
          <a:prstGeom prst="rect">
            <a:avLst/>
          </a:prstGeom>
        </p:spPr>
        <p:txBody>
          <a:bodyPr vert="horz" wrap="square" lIns="0" tIns="12700" rIns="0" bIns="0" rtlCol="0">
            <a:spAutoFit/>
          </a:bodyPr>
          <a:lstStyle/>
          <a:p>
            <a:pPr marL="12700" algn="ctr">
              <a:lnSpc>
                <a:spcPct val="100000"/>
              </a:lnSpc>
            </a:pPr>
            <a:r>
              <a:rPr lang="en-IN" b="1" spc="-10" dirty="0"/>
              <a:t>Proposed System</a:t>
            </a:r>
            <a:endParaRPr b="1" spc="-10" dirty="0"/>
          </a:p>
        </p:txBody>
      </p:sp>
      <p:sp>
        <p:nvSpPr>
          <p:cNvPr id="28" name="object 2">
            <a:extLst>
              <a:ext uri="{FF2B5EF4-FFF2-40B4-BE49-F238E27FC236}">
                <a16:creationId xmlns:a16="http://schemas.microsoft.com/office/drawing/2014/main" id="{D2A3787C-07C2-74BD-C3C4-E5E17AEEFDE6}"/>
              </a:ext>
            </a:extLst>
          </p:cNvPr>
          <p:cNvSpPr txBox="1"/>
          <p:nvPr/>
        </p:nvSpPr>
        <p:spPr>
          <a:xfrm>
            <a:off x="3604387" y="-10897"/>
            <a:ext cx="4333674" cy="228268"/>
          </a:xfrm>
          <a:prstGeom prst="rect">
            <a:avLst/>
          </a:prstGeom>
        </p:spPr>
        <p:txBody>
          <a:bodyPr vert="horz" wrap="square" lIns="0" tIns="12700" rIns="0" bIns="0" rtlCol="0" anchor="t">
            <a:spAutoFit/>
          </a:bodyPr>
          <a:lstStyle/>
          <a:p>
            <a:pPr marL="12700" algn="ctr">
              <a:spcBef>
                <a:spcPts val="100"/>
              </a:spcBef>
            </a:pPr>
            <a:r>
              <a:rPr lang="en-US" sz="1400" dirty="0">
                <a:solidFill>
                  <a:schemeClr val="bg1"/>
                </a:solidFill>
              </a:rPr>
              <a:t>Secure Digital Forensic Evidence Storage System</a:t>
            </a:r>
            <a:endParaRPr sz="1500" dirty="0">
              <a:solidFill>
                <a:schemeClr val="bg1"/>
              </a:solidFill>
              <a:latin typeface="Times New Roman"/>
              <a:cs typeface="Times New Roman"/>
            </a:endParaRPr>
          </a:p>
        </p:txBody>
      </p:sp>
      <p:sp>
        <p:nvSpPr>
          <p:cNvPr id="29" name="object 12">
            <a:extLst>
              <a:ext uri="{FF2B5EF4-FFF2-40B4-BE49-F238E27FC236}">
                <a16:creationId xmlns:a16="http://schemas.microsoft.com/office/drawing/2014/main" id="{127EC2EF-88B0-B702-9676-CA235700A147}"/>
              </a:ext>
            </a:extLst>
          </p:cNvPr>
          <p:cNvSpPr txBox="1">
            <a:spLocks noGrp="1"/>
          </p:cNvSpPr>
          <p:nvPr>
            <p:ph type="sldNum" sz="quarter" idx="7"/>
          </p:nvPr>
        </p:nvSpPr>
        <p:spPr>
          <a:xfrm>
            <a:off x="11858823" y="6629309"/>
            <a:ext cx="228600" cy="250825"/>
          </a:xfrm>
          <a:prstGeom prst="rect">
            <a:avLst/>
          </a:prstGeom>
        </p:spPr>
        <p:txBody>
          <a:bodyPr vert="horz" wrap="square" lIns="0" tIns="0" rIns="0" bIns="0" rtlCol="0">
            <a:spAutoFit/>
          </a:bodyPr>
          <a:lstStyle/>
          <a:p>
            <a:pPr marL="12700">
              <a:lnSpc>
                <a:spcPts val="1845"/>
              </a:lnSpc>
            </a:pPr>
            <a:fld id="{81D60167-4931-47E6-BA6A-407CBD079E47}" type="slidenum">
              <a:rPr spc="-25" dirty="0"/>
              <a:t>8</a:t>
            </a:fld>
            <a:endParaRPr spc="-25" dirty="0"/>
          </a:p>
        </p:txBody>
      </p:sp>
    </p:spTree>
    <p:extLst>
      <p:ext uri="{BB962C8B-B14F-4D97-AF65-F5344CB8AC3E}">
        <p14:creationId xmlns:p14="http://schemas.microsoft.com/office/powerpoint/2010/main" val="6948779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1115" y="1500880"/>
            <a:ext cx="12029768" cy="2277547"/>
          </a:xfrm>
        </p:spPr>
        <p:txBody>
          <a:bodyPr/>
          <a:lstStyle/>
          <a:p>
            <a:pPr>
              <a:lnSpc>
                <a:spcPct val="150000"/>
              </a:lnSpc>
            </a:pPr>
            <a:r>
              <a:rPr lang="en-US" sz="2100" b="1" dirty="0">
                <a:latin typeface="Times New Roman" panose="02020603050405020304" pitchFamily="18" charset="0"/>
                <a:cs typeface="Times New Roman" panose="02020603050405020304" pitchFamily="18" charset="0"/>
              </a:rPr>
              <a:t>Step 6: </a:t>
            </a:r>
          </a:p>
          <a:p>
            <a:pPr>
              <a:lnSpc>
                <a:spcPct val="150000"/>
              </a:lnSpc>
            </a:pPr>
            <a:r>
              <a:rPr lang="en-US" sz="2100" dirty="0">
                <a:latin typeface="Times New Roman" panose="02020603050405020304" pitchFamily="18" charset="0"/>
                <a:cs typeface="Times New Roman" panose="02020603050405020304" pitchFamily="18" charset="0"/>
              </a:rPr>
              <a:t>       Detects unauthorized modifications and records all user actions</a:t>
            </a:r>
          </a:p>
          <a:p>
            <a:pPr>
              <a:lnSpc>
                <a:spcPct val="150000"/>
              </a:lnSpc>
            </a:pPr>
            <a:r>
              <a:rPr lang="en-US" sz="2100" b="1" dirty="0">
                <a:latin typeface="Times New Roman" panose="02020603050405020304" pitchFamily="18" charset="0"/>
                <a:cs typeface="Times New Roman" panose="02020603050405020304" pitchFamily="18" charset="0"/>
              </a:rPr>
              <a:t>Step 7: </a:t>
            </a:r>
          </a:p>
          <a:p>
            <a:pPr>
              <a:lnSpc>
                <a:spcPct val="150000"/>
              </a:lnSpc>
            </a:pPr>
            <a:r>
              <a:rPr lang="en-US" sz="2100" dirty="0">
                <a:latin typeface="Times New Roman" panose="02020603050405020304" pitchFamily="18" charset="0"/>
                <a:cs typeface="Times New Roman" panose="02020603050405020304" pitchFamily="18" charset="0"/>
              </a:rPr>
              <a:t>        Improves confidentiality, accountability, and legal reliability of evidence</a:t>
            </a:r>
          </a:p>
          <a:p>
            <a:endParaRPr lang="en-US" sz="2200" dirty="0">
              <a:latin typeface="Times New Roman" panose="02020603050405020304" pitchFamily="18" charset="0"/>
              <a:cs typeface="Times New Roman" panose="02020603050405020304" pitchFamily="18" charset="0"/>
            </a:endParaRPr>
          </a:p>
        </p:txBody>
      </p:sp>
      <p:sp>
        <p:nvSpPr>
          <p:cNvPr id="4" name="object 5">
            <a:extLst>
              <a:ext uri="{FF2B5EF4-FFF2-40B4-BE49-F238E27FC236}">
                <a16:creationId xmlns:a16="http://schemas.microsoft.com/office/drawing/2014/main" id="{021057BB-8D93-F44B-B9E2-B26E2A078D57}"/>
              </a:ext>
            </a:extLst>
          </p:cNvPr>
          <p:cNvSpPr/>
          <p:nvPr/>
        </p:nvSpPr>
        <p:spPr>
          <a:xfrm>
            <a:off x="9832" y="212288"/>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a:xfrm>
            <a:off x="152400" y="326885"/>
            <a:ext cx="4419600" cy="1354217"/>
          </a:xfrm>
        </p:spPr>
        <p:txBody>
          <a:bodyPr/>
          <a:lstStyle/>
          <a:p>
            <a:r>
              <a:rPr lang="en-US" b="1" dirty="0"/>
              <a:t>Proposed System</a:t>
            </a:r>
          </a:p>
        </p:txBody>
      </p:sp>
      <p:sp>
        <p:nvSpPr>
          <p:cNvPr id="5" name="Rectangle 4"/>
          <p:cNvSpPr/>
          <p:nvPr/>
        </p:nvSpPr>
        <p:spPr>
          <a:xfrm>
            <a:off x="4015943" y="-69160"/>
            <a:ext cx="4160113" cy="307777"/>
          </a:xfrm>
          <a:prstGeom prst="rect">
            <a:avLst/>
          </a:prstGeom>
        </p:spPr>
        <p:txBody>
          <a:bodyPr wrap="none">
            <a:spAutoFit/>
          </a:bodyPr>
          <a:lstStyle/>
          <a:p>
            <a:pPr marL="12700" algn="ctr">
              <a:spcBef>
                <a:spcPts val="100"/>
              </a:spcBef>
            </a:pPr>
            <a:r>
              <a:rPr lang="en-US" sz="1400" dirty="0">
                <a:solidFill>
                  <a:schemeClr val="bg1"/>
                </a:solidFill>
              </a:rPr>
              <a:t>Secure Digital Forensic Evidence Storage System</a:t>
            </a:r>
            <a:endParaRPr lang="en-US" sz="1400" dirty="0">
              <a:solidFill>
                <a:schemeClr val="bg1"/>
              </a:solidFill>
              <a:latin typeface="Times New Roman"/>
              <a:cs typeface="Times New Roman"/>
            </a:endParaRPr>
          </a:p>
        </p:txBody>
      </p:sp>
      <p:sp>
        <p:nvSpPr>
          <p:cNvPr id="6" name="object 7">
            <a:extLst>
              <a:ext uri="{FF2B5EF4-FFF2-40B4-BE49-F238E27FC236}">
                <a16:creationId xmlns:a16="http://schemas.microsoft.com/office/drawing/2014/main" id="{C42EBEF0-D446-3503-6898-2738D242A7C0}"/>
              </a:ext>
            </a:extLst>
          </p:cNvPr>
          <p:cNvSpPr/>
          <p:nvPr/>
        </p:nvSpPr>
        <p:spPr>
          <a:xfrm>
            <a:off x="0" y="6634572"/>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B-16</a:t>
            </a:r>
          </a:p>
        </p:txBody>
      </p:sp>
      <p:sp>
        <p:nvSpPr>
          <p:cNvPr id="7" name="Rectangle 6"/>
          <p:cNvSpPr/>
          <p:nvPr/>
        </p:nvSpPr>
        <p:spPr>
          <a:xfrm>
            <a:off x="777240" y="6583796"/>
            <a:ext cx="12115800" cy="323165"/>
          </a:xfrm>
          <a:prstGeom prst="rect">
            <a:avLst/>
          </a:prstGeom>
        </p:spPr>
        <p:txBody>
          <a:bodyPr wrap="square">
            <a:spAutoFit/>
          </a:bodyPr>
          <a:lstStyle/>
          <a:p>
            <a:pPr marL="12700">
              <a:lnSpc>
                <a:spcPts val="1845"/>
              </a:lnSpc>
            </a:pPr>
            <a:r>
              <a:rPr lang="en-US" sz="1600" cap="small" spc="-75" dirty="0">
                <a:solidFill>
                  <a:schemeClr val="bg1"/>
                </a:solidFill>
                <a:latin typeface="Times New Roman" panose="02020603050405020304" pitchFamily="18" charset="0"/>
                <a:cs typeface="Times New Roman" panose="02020603050405020304" pitchFamily="18" charset="0"/>
              </a:rPr>
              <a:t>   Dept.</a:t>
            </a:r>
            <a:r>
              <a:rPr lang="en-US" sz="1600" cap="small" spc="-10" dirty="0">
                <a:solidFill>
                  <a:schemeClr val="bg1"/>
                </a:solidFill>
                <a:latin typeface="Times New Roman" panose="02020603050405020304" pitchFamily="18" charset="0"/>
                <a:cs typeface="Times New Roman" panose="02020603050405020304" pitchFamily="18" charset="0"/>
              </a:rPr>
              <a:t> </a:t>
            </a:r>
            <a:r>
              <a:rPr lang="en-US" sz="1600" cap="small" spc="-100" dirty="0">
                <a:solidFill>
                  <a:schemeClr val="bg1"/>
                </a:solidFill>
                <a:latin typeface="Times New Roman" panose="02020603050405020304" pitchFamily="18" charset="0"/>
                <a:cs typeface="Times New Roman" panose="02020603050405020304" pitchFamily="18" charset="0"/>
              </a:rPr>
              <a:t>of</a:t>
            </a:r>
            <a:r>
              <a:rPr lang="en-US" sz="1600" cap="small" spc="25" dirty="0">
                <a:solidFill>
                  <a:schemeClr val="bg1"/>
                </a:solidFill>
                <a:latin typeface="Times New Roman" panose="02020603050405020304" pitchFamily="18" charset="0"/>
                <a:cs typeface="Times New Roman" panose="02020603050405020304" pitchFamily="18" charset="0"/>
              </a:rPr>
              <a:t> </a:t>
            </a:r>
            <a:r>
              <a:rPr lang="en-US" sz="1600" cap="small" spc="-114" dirty="0">
                <a:solidFill>
                  <a:schemeClr val="bg1"/>
                </a:solidFill>
                <a:latin typeface="Times New Roman" panose="02020603050405020304" pitchFamily="18" charset="0"/>
                <a:cs typeface="Times New Roman" panose="02020603050405020304" pitchFamily="18" charset="0"/>
              </a:rPr>
              <a:t>Computer</a:t>
            </a:r>
            <a:r>
              <a:rPr lang="en-US" sz="1600" cap="small" spc="50" dirty="0">
                <a:solidFill>
                  <a:schemeClr val="bg1"/>
                </a:solidFill>
                <a:latin typeface="Times New Roman" panose="02020603050405020304" pitchFamily="18" charset="0"/>
                <a:cs typeface="Times New Roman" panose="02020603050405020304" pitchFamily="18" charset="0"/>
              </a:rPr>
              <a:t> </a:t>
            </a:r>
            <a:r>
              <a:rPr lang="en-US" sz="1600" cap="small" spc="-95" dirty="0">
                <a:solidFill>
                  <a:schemeClr val="bg1"/>
                </a:solidFill>
                <a:latin typeface="Times New Roman" panose="02020603050405020304" pitchFamily="18" charset="0"/>
                <a:cs typeface="Times New Roman" panose="02020603050405020304" pitchFamily="18" charset="0"/>
              </a:rPr>
              <a:t>Science</a:t>
            </a:r>
            <a:r>
              <a:rPr lang="en-US" sz="1600" cap="small" spc="50" dirty="0">
                <a:solidFill>
                  <a:schemeClr val="bg1"/>
                </a:solidFill>
                <a:latin typeface="Times New Roman" panose="02020603050405020304" pitchFamily="18" charset="0"/>
                <a:cs typeface="Times New Roman" panose="02020603050405020304" pitchFamily="18" charset="0"/>
              </a:rPr>
              <a:t> </a:t>
            </a:r>
            <a:r>
              <a:rPr lang="en-US" sz="1600" cap="small" spc="-130" dirty="0">
                <a:solidFill>
                  <a:schemeClr val="bg1"/>
                </a:solidFill>
                <a:latin typeface="Times New Roman" panose="02020603050405020304" pitchFamily="18" charset="0"/>
                <a:cs typeface="Times New Roman" panose="02020603050405020304" pitchFamily="18" charset="0"/>
              </a:rPr>
              <a:t>and</a:t>
            </a:r>
            <a:r>
              <a:rPr lang="en-US" sz="1600" cap="small" spc="45" dirty="0">
                <a:solidFill>
                  <a:schemeClr val="bg1"/>
                </a:solidFill>
                <a:latin typeface="Times New Roman" panose="02020603050405020304" pitchFamily="18" charset="0"/>
                <a:cs typeface="Times New Roman" panose="02020603050405020304" pitchFamily="18" charset="0"/>
              </a:rPr>
              <a:t> </a:t>
            </a:r>
            <a:r>
              <a:rPr lang="en-US" sz="1600" cap="small" spc="-110" dirty="0">
                <a:solidFill>
                  <a:schemeClr val="bg1"/>
                </a:solidFill>
                <a:latin typeface="Times New Roman" panose="02020603050405020304" pitchFamily="18" charset="0"/>
                <a:cs typeface="Times New Roman" panose="02020603050405020304" pitchFamily="18" charset="0"/>
              </a:rPr>
              <a:t>Engineering</a:t>
            </a:r>
            <a:r>
              <a:rPr lang="en-US" sz="1600" cap="small" spc="45" dirty="0">
                <a:solidFill>
                  <a:schemeClr val="bg1"/>
                </a:solidFill>
                <a:latin typeface="Times New Roman" panose="02020603050405020304" pitchFamily="18" charset="0"/>
                <a:cs typeface="Times New Roman" panose="02020603050405020304" pitchFamily="18" charset="0"/>
              </a:rPr>
              <a:t> </a:t>
            </a:r>
            <a:r>
              <a:rPr lang="en-US" sz="1600" cap="small" spc="-70" dirty="0">
                <a:solidFill>
                  <a:schemeClr val="bg1"/>
                </a:solidFill>
                <a:latin typeface="Times New Roman" panose="02020603050405020304" pitchFamily="18" charset="0"/>
                <a:cs typeface="Times New Roman" panose="02020603050405020304" pitchFamily="18" charset="0"/>
              </a:rPr>
              <a:t>(</a:t>
            </a:r>
            <a:r>
              <a:rPr lang="en-US" sz="1600" cap="small" spc="-70" dirty="0" err="1">
                <a:solidFill>
                  <a:schemeClr val="bg1"/>
                </a:solidFill>
                <a:latin typeface="Times New Roman" panose="02020603050405020304" pitchFamily="18" charset="0"/>
                <a:cs typeface="Times New Roman" panose="02020603050405020304" pitchFamily="18" charset="0"/>
              </a:rPr>
              <a:t>AI&amp;ml</a:t>
            </a:r>
            <a:r>
              <a:rPr lang="en-US" sz="1600" cap="small" spc="-95" dirty="0">
                <a:solidFill>
                  <a:schemeClr val="bg1"/>
                </a:solidFill>
                <a:latin typeface="Times New Roman" panose="02020603050405020304" pitchFamily="18" charset="0"/>
                <a:cs typeface="Times New Roman" panose="02020603050405020304" pitchFamily="18" charset="0"/>
              </a:rPr>
              <a:t>)                                              </a:t>
            </a:r>
            <a:r>
              <a:rPr lang="en-US" sz="1600" cap="small" spc="-95" dirty="0" err="1">
                <a:solidFill>
                  <a:schemeClr val="bg1"/>
                </a:solidFill>
                <a:latin typeface="Times New Roman" panose="02020603050405020304" pitchFamily="18" charset="0"/>
                <a:cs typeface="Times New Roman" panose="02020603050405020304" pitchFamily="18" charset="0"/>
              </a:rPr>
              <a:t>Srinivasa</a:t>
            </a:r>
            <a:r>
              <a:rPr lang="en-US" sz="1600" cap="small" spc="-95" dirty="0">
                <a:solidFill>
                  <a:schemeClr val="bg1"/>
                </a:solidFill>
                <a:latin typeface="Times New Roman" panose="02020603050405020304" pitchFamily="18" charset="0"/>
                <a:cs typeface="Times New Roman" panose="02020603050405020304" pitchFamily="18" charset="0"/>
              </a:rPr>
              <a:t> </a:t>
            </a:r>
            <a:r>
              <a:rPr lang="en-US" sz="1600" cap="small" spc="-95" dirty="0" err="1">
                <a:solidFill>
                  <a:schemeClr val="bg1"/>
                </a:solidFill>
                <a:latin typeface="Times New Roman" panose="02020603050405020304" pitchFamily="18" charset="0"/>
                <a:cs typeface="Times New Roman" panose="02020603050405020304" pitchFamily="18" charset="0"/>
              </a:rPr>
              <a:t>Ramanujan</a:t>
            </a:r>
            <a:r>
              <a:rPr lang="en-US" sz="1600" cap="small" spc="-95" dirty="0">
                <a:solidFill>
                  <a:schemeClr val="bg1"/>
                </a:solidFill>
                <a:latin typeface="Times New Roman" panose="02020603050405020304" pitchFamily="18" charset="0"/>
                <a:cs typeface="Times New Roman" panose="02020603050405020304" pitchFamily="18" charset="0"/>
              </a:rPr>
              <a:t> Institute of Technology                    </a:t>
            </a:r>
            <a:r>
              <a:rPr lang="en-US" sz="1600" b="1" cap="small" spc="-95" dirty="0">
                <a:solidFill>
                  <a:schemeClr val="tx1"/>
                </a:solidFill>
                <a:latin typeface="Times New Roman" panose="02020603050405020304" pitchFamily="18" charset="0"/>
                <a:cs typeface="Times New Roman" panose="02020603050405020304" pitchFamily="18" charset="0"/>
              </a:rPr>
              <a:t>9   </a:t>
            </a:r>
            <a:r>
              <a:rPr lang="en-US" sz="1600" cap="small" spc="-95" dirty="0">
                <a:solidFill>
                  <a:schemeClr val="bg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502859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6610184"/>
            <a:ext cx="10972800" cy="553998"/>
          </a:xfrm>
        </p:spPr>
        <p:txBody>
          <a:bodyPr/>
          <a:lstStyle/>
          <a:p>
            <a:r>
              <a:rPr lang="en-US" cap="small" spc="-75" dirty="0">
                <a:solidFill>
                  <a:schemeClr val="bg1"/>
                </a:solidFill>
              </a:rPr>
              <a:t>Dept.</a:t>
            </a:r>
            <a:r>
              <a:rPr lang="en-US" cap="small" spc="-10" dirty="0">
                <a:solidFill>
                  <a:schemeClr val="bg1"/>
                </a:solidFill>
              </a:rPr>
              <a:t> </a:t>
            </a:r>
            <a:r>
              <a:rPr lang="en-US" cap="small" spc="-100" dirty="0">
                <a:solidFill>
                  <a:schemeClr val="bg1"/>
                </a:solidFill>
              </a:rPr>
              <a:t>of</a:t>
            </a:r>
            <a:r>
              <a:rPr lang="en-US" cap="small" spc="25" dirty="0">
                <a:solidFill>
                  <a:schemeClr val="bg1"/>
                </a:solidFill>
              </a:rPr>
              <a:t> </a:t>
            </a:r>
            <a:r>
              <a:rPr lang="en-US" cap="small" spc="-114" dirty="0">
                <a:solidFill>
                  <a:schemeClr val="bg1"/>
                </a:solidFill>
              </a:rPr>
              <a:t>Computer</a:t>
            </a:r>
            <a:r>
              <a:rPr lang="en-US" cap="small" spc="50" dirty="0">
                <a:solidFill>
                  <a:schemeClr val="bg1"/>
                </a:solidFill>
              </a:rPr>
              <a:t> </a:t>
            </a:r>
            <a:r>
              <a:rPr lang="en-US" cap="small" spc="-95" dirty="0">
                <a:solidFill>
                  <a:schemeClr val="bg1"/>
                </a:solidFill>
              </a:rPr>
              <a:t>Science</a:t>
            </a:r>
            <a:r>
              <a:rPr lang="en-US" cap="small" spc="50" dirty="0">
                <a:solidFill>
                  <a:schemeClr val="bg1"/>
                </a:solidFill>
              </a:rPr>
              <a:t> </a:t>
            </a:r>
            <a:r>
              <a:rPr lang="en-US" cap="small" spc="-130" dirty="0">
                <a:solidFill>
                  <a:schemeClr val="bg1"/>
                </a:solidFill>
              </a:rPr>
              <a:t>and</a:t>
            </a:r>
            <a:r>
              <a:rPr lang="en-US" cap="small" spc="45" dirty="0">
                <a:solidFill>
                  <a:schemeClr val="bg1"/>
                </a:solidFill>
              </a:rPr>
              <a:t> </a:t>
            </a:r>
            <a:r>
              <a:rPr lang="en-US" cap="small" spc="-110" dirty="0">
                <a:solidFill>
                  <a:schemeClr val="bg1"/>
                </a:solidFill>
              </a:rPr>
              <a:t>Engineering</a:t>
            </a:r>
            <a:r>
              <a:rPr lang="en-US" cap="small" spc="45" dirty="0">
                <a:solidFill>
                  <a:schemeClr val="bg1"/>
                </a:solidFill>
              </a:rPr>
              <a:t> </a:t>
            </a:r>
            <a:r>
              <a:rPr lang="en-US" cap="small" spc="-70" dirty="0">
                <a:solidFill>
                  <a:schemeClr val="bg1"/>
                </a:solidFill>
              </a:rPr>
              <a:t>(</a:t>
            </a:r>
            <a:r>
              <a:rPr lang="en-US" cap="small" spc="-70" dirty="0" err="1">
                <a:solidFill>
                  <a:schemeClr val="bg1"/>
                </a:solidFill>
              </a:rPr>
              <a:t>AI&amp;ml</a:t>
            </a:r>
            <a:r>
              <a:rPr lang="en-US" cap="small" spc="-95" dirty="0">
                <a:solidFill>
                  <a:schemeClr val="bg1"/>
                </a:solidFill>
              </a:rPr>
              <a:t>)                      	  </a:t>
            </a:r>
            <a:r>
              <a:rPr lang="en-US" cap="small" spc="-95" dirty="0" err="1">
                <a:solidFill>
                  <a:schemeClr val="bg1"/>
                </a:solidFill>
              </a:rPr>
              <a:t>Srinivasa</a:t>
            </a:r>
            <a:r>
              <a:rPr lang="en-US" cap="small" spc="-95" dirty="0">
                <a:solidFill>
                  <a:schemeClr val="bg1"/>
                </a:solidFill>
              </a:rPr>
              <a:t> </a:t>
            </a:r>
            <a:r>
              <a:rPr lang="en-US" cap="small" spc="-95" dirty="0" err="1">
                <a:solidFill>
                  <a:schemeClr val="bg1"/>
                </a:solidFill>
              </a:rPr>
              <a:t>Ramanujan</a:t>
            </a:r>
            <a:r>
              <a:rPr lang="en-US" cap="small" spc="-95" dirty="0">
                <a:solidFill>
                  <a:schemeClr val="bg1"/>
                </a:solidFill>
              </a:rPr>
              <a:t> Institute of Technology                                </a:t>
            </a:r>
            <a:r>
              <a:rPr lang="en-US" sz="1600" b="1" cap="small" spc="-95" dirty="0">
                <a:solidFill>
                  <a:schemeClr val="tx1"/>
                </a:solidFill>
              </a:rPr>
              <a:t>10</a:t>
            </a:r>
          </a:p>
          <a:p>
            <a:endParaRPr lang="en-US" dirty="0"/>
          </a:p>
        </p:txBody>
      </p:sp>
      <p:sp>
        <p:nvSpPr>
          <p:cNvPr id="2" name="Title 1"/>
          <p:cNvSpPr>
            <a:spLocks noGrp="1"/>
          </p:cNvSpPr>
          <p:nvPr>
            <p:ph type="title"/>
          </p:nvPr>
        </p:nvSpPr>
        <p:spPr>
          <a:xfrm>
            <a:off x="152400" y="339855"/>
            <a:ext cx="4267200" cy="1354217"/>
          </a:xfrm>
        </p:spPr>
        <p:txBody>
          <a:bodyPr/>
          <a:lstStyle/>
          <a:p>
            <a:r>
              <a:rPr lang="en-US" b="1" dirty="0"/>
              <a:t>Proposed System</a:t>
            </a:r>
          </a:p>
        </p:txBody>
      </p:sp>
      <p:sp>
        <p:nvSpPr>
          <p:cNvPr id="6" name="Rectangle 5"/>
          <p:cNvSpPr/>
          <p:nvPr/>
        </p:nvSpPr>
        <p:spPr>
          <a:xfrm>
            <a:off x="9832" y="6631261"/>
            <a:ext cx="732893" cy="323165"/>
          </a:xfrm>
          <a:prstGeom prst="rect">
            <a:avLst/>
          </a:prstGeom>
        </p:spPr>
        <p:txBody>
          <a:bodyPr wrap="none">
            <a:spAutoFit/>
          </a:bodyPr>
          <a:lstStyle/>
          <a:p>
            <a:pPr marL="12700">
              <a:lnSpc>
                <a:spcPts val="1845"/>
              </a:lnSpc>
            </a:pPr>
            <a:r>
              <a:rPr lang="en-IN" spc="-25" dirty="0">
                <a:solidFill>
                  <a:schemeClr val="bg1"/>
                </a:solidFill>
              </a:rPr>
              <a:t>B -16</a:t>
            </a:r>
          </a:p>
        </p:txBody>
      </p:sp>
      <p:sp>
        <p:nvSpPr>
          <p:cNvPr id="9" name="Rectangle 8"/>
          <p:cNvSpPr/>
          <p:nvPr/>
        </p:nvSpPr>
        <p:spPr>
          <a:xfrm>
            <a:off x="3810000" y="0"/>
            <a:ext cx="4236313" cy="307777"/>
          </a:xfrm>
          <a:prstGeom prst="rect">
            <a:avLst/>
          </a:prstGeom>
        </p:spPr>
        <p:txBody>
          <a:bodyPr wrap="square">
            <a:spAutoFit/>
          </a:bodyPr>
          <a:lstStyle/>
          <a:p>
            <a:pPr marL="12700" marR="0" lvl="0" indent="0" algn="ctr" defTabSz="914400" eaLnBrk="1" fontAlgn="auto" latinLnBrk="0" hangingPunct="1">
              <a:lnSpc>
                <a:spcPct val="100000"/>
              </a:lnSpc>
              <a:spcBef>
                <a:spcPts val="10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rPr>
              <a:t>Secure Digital Forensic Evidence Storage System</a:t>
            </a:r>
            <a:endParaRPr kumimoji="0" lang="en-US" sz="1400" b="0" i="0" u="none" strike="noStrike" kern="0" cap="none" spc="0" normalizeH="0" baseline="0" noProof="0" dirty="0">
              <a:ln>
                <a:noFill/>
              </a:ln>
              <a:solidFill>
                <a:prstClr val="white"/>
              </a:solidFill>
              <a:effectLst/>
              <a:uLnTx/>
              <a:uFillTx/>
              <a:latin typeface="Times New Roman"/>
              <a:cs typeface="Times New Roman"/>
            </a:endParaRP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7000" y="361784"/>
            <a:ext cx="6248400" cy="6248400"/>
          </a:xfrm>
          <a:prstGeom prst="rect">
            <a:avLst/>
          </a:prstGeom>
        </p:spPr>
      </p:pic>
    </p:spTree>
    <p:extLst>
      <p:ext uri="{BB962C8B-B14F-4D97-AF65-F5344CB8AC3E}">
        <p14:creationId xmlns:p14="http://schemas.microsoft.com/office/powerpoint/2010/main" val="12513755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31819-BD2D-B786-D7DD-96ABD311A155}"/>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FF65975D-5A32-3BA7-60A4-B0594FC93BE6}"/>
              </a:ext>
            </a:extLst>
          </p:cNvPr>
          <p:cNvSpPr/>
          <p:nvPr/>
        </p:nvSpPr>
        <p:spPr>
          <a:xfrm>
            <a:off x="-1" y="-1"/>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dirty="0"/>
          </a:p>
        </p:txBody>
      </p:sp>
      <p:sp>
        <p:nvSpPr>
          <p:cNvPr id="7" name="object 7">
            <a:extLst>
              <a:ext uri="{FF2B5EF4-FFF2-40B4-BE49-F238E27FC236}">
                <a16:creationId xmlns:a16="http://schemas.microsoft.com/office/drawing/2014/main" id="{FAB1C1B7-C0F0-849D-6176-F97252B53AFF}"/>
              </a:ext>
            </a:extLst>
          </p:cNvPr>
          <p:cNvSpPr/>
          <p:nvPr/>
        </p:nvSpPr>
        <p:spPr>
          <a:xfrm>
            <a:off x="0" y="6624856"/>
            <a:ext cx="762000" cy="231331"/>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a:t>
            </a:r>
            <a:r>
              <a:rPr lang="en-US" sz="1600" dirty="0">
                <a:solidFill>
                  <a:schemeClr val="bg1"/>
                </a:solidFill>
                <a:latin typeface="Times New Roman"/>
                <a:ea typeface="+mn-lt"/>
                <a:cs typeface="Times New Roman"/>
              </a:rPr>
              <a:t>B-16</a:t>
            </a:r>
          </a:p>
        </p:txBody>
      </p:sp>
      <p:sp>
        <p:nvSpPr>
          <p:cNvPr id="10" name="object 9">
            <a:extLst>
              <a:ext uri="{FF2B5EF4-FFF2-40B4-BE49-F238E27FC236}">
                <a16:creationId xmlns:a16="http://schemas.microsoft.com/office/drawing/2014/main" id="{A339265E-AAA8-4E00-E070-740FC72A3D5E}"/>
              </a:ext>
            </a:extLst>
          </p:cNvPr>
          <p:cNvSpPr txBox="1">
            <a:spLocks noGrp="1"/>
          </p:cNvSpPr>
          <p:nvPr>
            <p:ph type="dt" sz="half" idx="6"/>
          </p:nvPr>
        </p:nvSpPr>
        <p:spPr>
          <a:xfrm>
            <a:off x="1123125" y="6629792"/>
            <a:ext cx="1061167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r>
              <a:rPr lang="en-US" cap="small" spc="-95" dirty="0"/>
              <a:t>                             Srinivasa Ramanujan Institute of Technology  </a:t>
            </a:r>
            <a:endParaRPr cap="small" spc="-95" dirty="0"/>
          </a:p>
        </p:txBody>
      </p:sp>
      <p:sp>
        <p:nvSpPr>
          <p:cNvPr id="22" name="object 5">
            <a:extLst>
              <a:ext uri="{FF2B5EF4-FFF2-40B4-BE49-F238E27FC236}">
                <a16:creationId xmlns:a16="http://schemas.microsoft.com/office/drawing/2014/main" id="{EB71B47D-3E69-3777-AECE-78AAAE31E5D7}"/>
              </a:ext>
            </a:extLst>
          </p:cNvPr>
          <p:cNvSpPr/>
          <p:nvPr/>
        </p:nvSpPr>
        <p:spPr>
          <a:xfrm>
            <a:off x="-518" y="233144"/>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6" name="object 6">
            <a:extLst>
              <a:ext uri="{FF2B5EF4-FFF2-40B4-BE49-F238E27FC236}">
                <a16:creationId xmlns:a16="http://schemas.microsoft.com/office/drawing/2014/main" id="{E1CBF879-DD70-0900-2E31-B5401B0A5274}"/>
              </a:ext>
            </a:extLst>
          </p:cNvPr>
          <p:cNvSpPr txBox="1">
            <a:spLocks noGrp="1"/>
          </p:cNvSpPr>
          <p:nvPr>
            <p:ph type="title"/>
          </p:nvPr>
        </p:nvSpPr>
        <p:spPr>
          <a:xfrm>
            <a:off x="20182" y="331753"/>
            <a:ext cx="4170818" cy="689932"/>
          </a:xfrm>
          <a:prstGeom prst="rect">
            <a:avLst/>
          </a:prstGeom>
        </p:spPr>
        <p:txBody>
          <a:bodyPr vert="horz" wrap="square" lIns="0" tIns="12700" rIns="0" bIns="0" rtlCol="0">
            <a:spAutoFit/>
          </a:bodyPr>
          <a:lstStyle/>
          <a:p>
            <a:pPr marL="12700" algn="ctr">
              <a:lnSpc>
                <a:spcPct val="100000"/>
              </a:lnSpc>
            </a:pPr>
            <a:r>
              <a:rPr lang="en-IN" b="1" spc="-10" dirty="0"/>
              <a:t>References</a:t>
            </a:r>
            <a:endParaRPr b="1" spc="-10" dirty="0"/>
          </a:p>
        </p:txBody>
      </p:sp>
      <p:sp>
        <p:nvSpPr>
          <p:cNvPr id="28" name="object 2">
            <a:extLst>
              <a:ext uri="{FF2B5EF4-FFF2-40B4-BE49-F238E27FC236}">
                <a16:creationId xmlns:a16="http://schemas.microsoft.com/office/drawing/2014/main" id="{C86D60A3-51E7-EDDD-14B9-611D39CA2A7C}"/>
              </a:ext>
            </a:extLst>
          </p:cNvPr>
          <p:cNvSpPr txBox="1"/>
          <p:nvPr/>
        </p:nvSpPr>
        <p:spPr>
          <a:xfrm>
            <a:off x="3429000" y="5249"/>
            <a:ext cx="4890061" cy="228268"/>
          </a:xfrm>
          <a:prstGeom prst="rect">
            <a:avLst/>
          </a:prstGeom>
        </p:spPr>
        <p:txBody>
          <a:bodyPr vert="horz" wrap="square" lIns="0" tIns="12700" rIns="0" bIns="0" rtlCol="0" anchor="t">
            <a:spAutoFit/>
          </a:bodyPr>
          <a:lstStyle/>
          <a:p>
            <a:pPr marL="12700" algn="ctr">
              <a:spcBef>
                <a:spcPts val="100"/>
              </a:spcBef>
            </a:pPr>
            <a:r>
              <a:rPr lang="en-US" sz="1400" dirty="0">
                <a:solidFill>
                  <a:schemeClr val="bg1"/>
                </a:solidFill>
              </a:rPr>
              <a:t>Secure Digital Forensic Evidence Storage System</a:t>
            </a:r>
            <a:endParaRPr lang="en-US" sz="1600" dirty="0">
              <a:solidFill>
                <a:schemeClr val="bg1"/>
              </a:solidFill>
              <a:latin typeface="Times New Roman"/>
              <a:cs typeface="Times New Roman"/>
            </a:endParaRPr>
          </a:p>
        </p:txBody>
      </p:sp>
      <p:sp>
        <p:nvSpPr>
          <p:cNvPr id="29" name="object 12">
            <a:extLst>
              <a:ext uri="{FF2B5EF4-FFF2-40B4-BE49-F238E27FC236}">
                <a16:creationId xmlns:a16="http://schemas.microsoft.com/office/drawing/2014/main" id="{170CA6EE-45D2-B17E-8404-AE48F1B3E780}"/>
              </a:ext>
            </a:extLst>
          </p:cNvPr>
          <p:cNvSpPr txBox="1">
            <a:spLocks noGrp="1"/>
          </p:cNvSpPr>
          <p:nvPr>
            <p:ph type="sldNum" sz="quarter" idx="7"/>
          </p:nvPr>
        </p:nvSpPr>
        <p:spPr>
          <a:xfrm>
            <a:off x="11858823" y="6629309"/>
            <a:ext cx="228600" cy="250825"/>
          </a:xfrm>
          <a:prstGeom prst="rect">
            <a:avLst/>
          </a:prstGeom>
        </p:spPr>
        <p:txBody>
          <a:bodyPr vert="horz" wrap="square" lIns="0" tIns="0" rIns="0" bIns="0" rtlCol="0">
            <a:spAutoFit/>
          </a:bodyPr>
          <a:lstStyle/>
          <a:p>
            <a:pPr marL="12700">
              <a:lnSpc>
                <a:spcPts val="1845"/>
              </a:lnSpc>
            </a:pPr>
            <a:fld id="{81D60167-4931-47E6-BA6A-407CBD079E47}" type="slidenum">
              <a:rPr spc="-25" dirty="0"/>
              <a:t>11</a:t>
            </a:fld>
            <a:endParaRPr spc="-25" dirty="0"/>
          </a:p>
        </p:txBody>
      </p:sp>
      <p:sp>
        <p:nvSpPr>
          <p:cNvPr id="16" name="Rectangle 7">
            <a:extLst>
              <a:ext uri="{FF2B5EF4-FFF2-40B4-BE49-F238E27FC236}">
                <a16:creationId xmlns:a16="http://schemas.microsoft.com/office/drawing/2014/main" id="{5577AE71-B96D-FE4C-F625-166DDA0E0270}"/>
              </a:ext>
            </a:extLst>
          </p:cNvPr>
          <p:cNvSpPr>
            <a:spLocks noChangeArrowheads="1"/>
          </p:cNvSpPr>
          <p:nvPr/>
        </p:nvSpPr>
        <p:spPr bwMode="auto">
          <a:xfrm>
            <a:off x="381000" y="1323203"/>
            <a:ext cx="115824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M. </a:t>
            </a:r>
            <a:r>
              <a:rPr kumimoji="0" lang="en-US" altLang="en-US"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Alashjaee</a:t>
            </a:r>
            <a:r>
              <a:rPr kumimoji="0" lang="en-US" altLang="en-US"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F. </a:t>
            </a:r>
            <a:r>
              <a:rPr kumimoji="0" lang="en-US" altLang="en-US"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Alqahtani</a:t>
            </a:r>
            <a:r>
              <a:rPr kumimoji="0" lang="en-US" altLang="en-US"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r>
              <a:rPr kumimoji="0" lang="en-US" altLang="en-US"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“Improving Digital Forensic Security: A Secure Storage Model with Authentication and Optimal Key Generation based Encryption,”</a:t>
            </a:r>
          </a:p>
          <a:p>
            <a:pPr marL="0" marR="0" lvl="0" indent="0" algn="just" defTabSz="914400" rtl="0" eaLnBrk="0" fontAlgn="base" latinLnBrk="0" hangingPunct="0">
              <a:lnSpc>
                <a:spcPct val="100000"/>
              </a:lnSpc>
              <a:spcBef>
                <a:spcPct val="0"/>
              </a:spcBef>
              <a:spcAft>
                <a:spcPct val="0"/>
              </a:spcAft>
              <a:buClrTx/>
              <a:buSzTx/>
              <a:tabLst/>
            </a:pPr>
            <a:r>
              <a:rPr kumimoji="0" lang="en-US" altLang="en-US"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IEEE Access, vol. 12, pp. 29738–29747, 2024.</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 S. </a:t>
            </a:r>
            <a:r>
              <a:rPr kumimoji="0" lang="en-US" altLang="en-US"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Apirajitha</a:t>
            </a:r>
            <a:r>
              <a:rPr kumimoji="0" lang="en-US" altLang="en-US"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R. R. Devi,</a:t>
            </a:r>
          </a:p>
          <a:p>
            <a:pPr marR="0" lvl="0" algn="just" defTabSz="914400" rtl="0" eaLnBrk="0" fontAlgn="base" latinLnBrk="0" hangingPunct="0">
              <a:lnSpc>
                <a:spcPct val="100000"/>
              </a:lnSpc>
              <a:spcBef>
                <a:spcPct val="0"/>
              </a:spcBef>
              <a:spcAft>
                <a:spcPct val="0"/>
              </a:spcAft>
              <a:buClrTx/>
              <a:buSzTx/>
              <a:tabLst/>
            </a:pPr>
            <a:r>
              <a:rPr kumimoji="0" lang="en-US" altLang="en-US"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Novel </a:t>
            </a:r>
            <a:r>
              <a:rPr kumimoji="0" lang="en-US" altLang="en-US"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Blockchain</a:t>
            </a:r>
            <a:r>
              <a:rPr kumimoji="0" lang="en-US" altLang="en-US"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Framework for Digital Forensics in Cloud Environment,”</a:t>
            </a:r>
          </a:p>
          <a:p>
            <a:pPr marR="0" lvl="0" algn="just" defTabSz="914400" rtl="0" eaLnBrk="0" fontAlgn="base" latinLnBrk="0" hangingPunct="0">
              <a:lnSpc>
                <a:spcPct val="100000"/>
              </a:lnSpc>
              <a:spcBef>
                <a:spcPct val="0"/>
              </a:spcBef>
              <a:spcAft>
                <a:spcPct val="0"/>
              </a:spcAft>
              <a:buClrTx/>
              <a:buSzTx/>
              <a:tabLst/>
            </a:pPr>
            <a:r>
              <a:rPr kumimoji="0" lang="en-US" altLang="en-US"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Wireless Personal Communications, 2023.</a:t>
            </a:r>
          </a:p>
        </p:txBody>
      </p:sp>
    </p:spTree>
    <p:extLst>
      <p:ext uri="{BB962C8B-B14F-4D97-AF65-F5344CB8AC3E}">
        <p14:creationId xmlns:p14="http://schemas.microsoft.com/office/powerpoint/2010/main" val="36384424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989EC-E189-335A-F237-F01995E1DB17}"/>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7A69AB61-70F8-0F9E-2D64-50A74E7103A3}"/>
              </a:ext>
            </a:extLst>
          </p:cNvPr>
          <p:cNvSpPr/>
          <p:nvPr/>
        </p:nvSpPr>
        <p:spPr>
          <a:xfrm>
            <a:off x="-1" y="-1"/>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dirty="0"/>
          </a:p>
        </p:txBody>
      </p:sp>
      <p:sp>
        <p:nvSpPr>
          <p:cNvPr id="7" name="object 7">
            <a:extLst>
              <a:ext uri="{FF2B5EF4-FFF2-40B4-BE49-F238E27FC236}">
                <a16:creationId xmlns:a16="http://schemas.microsoft.com/office/drawing/2014/main" id="{2EBFC1CA-2F19-3580-EB4B-7ED18CC47A98}"/>
              </a:ext>
            </a:extLst>
          </p:cNvPr>
          <p:cNvSpPr/>
          <p:nvPr/>
        </p:nvSpPr>
        <p:spPr>
          <a:xfrm>
            <a:off x="0" y="6634572"/>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a:t>
            </a:r>
            <a:r>
              <a:rPr lang="en-US" sz="1600" dirty="0">
                <a:solidFill>
                  <a:schemeClr val="bg1"/>
                </a:solidFill>
                <a:latin typeface="Times New Roman"/>
                <a:ea typeface="+mn-lt"/>
                <a:cs typeface="Times New Roman"/>
              </a:rPr>
              <a:t>B-16</a:t>
            </a:r>
          </a:p>
        </p:txBody>
      </p:sp>
      <p:sp>
        <p:nvSpPr>
          <p:cNvPr id="10" name="object 9">
            <a:extLst>
              <a:ext uri="{FF2B5EF4-FFF2-40B4-BE49-F238E27FC236}">
                <a16:creationId xmlns:a16="http://schemas.microsoft.com/office/drawing/2014/main" id="{6CD096F8-8F7D-C729-0A6D-A2723A09300F}"/>
              </a:ext>
            </a:extLst>
          </p:cNvPr>
          <p:cNvSpPr txBox="1">
            <a:spLocks noGrp="1"/>
          </p:cNvSpPr>
          <p:nvPr>
            <p:ph type="dt" sz="half" idx="6"/>
          </p:nvPr>
        </p:nvSpPr>
        <p:spPr>
          <a:xfrm>
            <a:off x="1138993" y="6634572"/>
            <a:ext cx="1068787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r>
              <a:rPr lang="en-IN" cap="small" spc="-95" dirty="0"/>
              <a:t>                      	 </a:t>
            </a:r>
            <a:r>
              <a:rPr lang="en-US" cap="small" spc="-95" dirty="0"/>
              <a:t> Srinivasa Ramanujan Institute of Technology</a:t>
            </a:r>
            <a:endParaRPr cap="small" spc="-95" dirty="0"/>
          </a:p>
        </p:txBody>
      </p:sp>
      <p:sp>
        <p:nvSpPr>
          <p:cNvPr id="22" name="object 5">
            <a:extLst>
              <a:ext uri="{FF2B5EF4-FFF2-40B4-BE49-F238E27FC236}">
                <a16:creationId xmlns:a16="http://schemas.microsoft.com/office/drawing/2014/main" id="{1ACBC29F-027F-DBF0-FA9E-DBE2D48F1DDD}"/>
              </a:ext>
            </a:extLst>
          </p:cNvPr>
          <p:cNvSpPr/>
          <p:nvPr/>
        </p:nvSpPr>
        <p:spPr>
          <a:xfrm>
            <a:off x="-518" y="233144"/>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6" name="object 6">
            <a:extLst>
              <a:ext uri="{FF2B5EF4-FFF2-40B4-BE49-F238E27FC236}">
                <a16:creationId xmlns:a16="http://schemas.microsoft.com/office/drawing/2014/main" id="{5A730D9C-6CC0-0BC4-E2C8-C39AAC4B318E}"/>
              </a:ext>
            </a:extLst>
          </p:cNvPr>
          <p:cNvSpPr txBox="1">
            <a:spLocks noGrp="1"/>
          </p:cNvSpPr>
          <p:nvPr>
            <p:ph type="title"/>
          </p:nvPr>
        </p:nvSpPr>
        <p:spPr>
          <a:xfrm>
            <a:off x="20182" y="331753"/>
            <a:ext cx="4780418" cy="689932"/>
          </a:xfrm>
          <a:prstGeom prst="rect">
            <a:avLst/>
          </a:prstGeom>
        </p:spPr>
        <p:txBody>
          <a:bodyPr vert="horz" wrap="square" lIns="0" tIns="12700" rIns="0" bIns="0" rtlCol="0">
            <a:spAutoFit/>
          </a:bodyPr>
          <a:lstStyle/>
          <a:p>
            <a:pPr marL="12700" algn="ctr">
              <a:lnSpc>
                <a:spcPct val="100000"/>
              </a:lnSpc>
            </a:pPr>
            <a:r>
              <a:rPr lang="en-IN" b="1" spc="-10" dirty="0" err="1"/>
              <a:t>Github</a:t>
            </a:r>
            <a:r>
              <a:rPr lang="en-IN" b="1" spc="-10" dirty="0"/>
              <a:t> Dashboard</a:t>
            </a:r>
            <a:endParaRPr b="1" spc="-10" dirty="0"/>
          </a:p>
        </p:txBody>
      </p:sp>
      <p:sp>
        <p:nvSpPr>
          <p:cNvPr id="28" name="object 2">
            <a:extLst>
              <a:ext uri="{FF2B5EF4-FFF2-40B4-BE49-F238E27FC236}">
                <a16:creationId xmlns:a16="http://schemas.microsoft.com/office/drawing/2014/main" id="{C195DF4B-C3B0-4F7B-DA13-13B4A167AA02}"/>
              </a:ext>
            </a:extLst>
          </p:cNvPr>
          <p:cNvSpPr txBox="1"/>
          <p:nvPr/>
        </p:nvSpPr>
        <p:spPr>
          <a:xfrm>
            <a:off x="3604386" y="-10897"/>
            <a:ext cx="4780417" cy="259045"/>
          </a:xfrm>
          <a:prstGeom prst="rect">
            <a:avLst/>
          </a:prstGeom>
        </p:spPr>
        <p:txBody>
          <a:bodyPr vert="horz" wrap="square" lIns="0" tIns="12700" rIns="0" bIns="0" rtlCol="0" anchor="t">
            <a:spAutoFit/>
          </a:bodyPr>
          <a:lstStyle/>
          <a:p>
            <a:pPr marL="12700" algn="ctr">
              <a:spcBef>
                <a:spcPts val="100"/>
              </a:spcBef>
            </a:pPr>
            <a:r>
              <a:rPr lang="en-US" sz="1600" dirty="0">
                <a:solidFill>
                  <a:schemeClr val="bg1"/>
                </a:solidFill>
              </a:rPr>
              <a:t>Secure Digital Forensic Evidence Storage System</a:t>
            </a:r>
            <a:endParaRPr lang="en-US" sz="1600" dirty="0">
              <a:solidFill>
                <a:schemeClr val="bg1"/>
              </a:solidFill>
              <a:latin typeface="Times New Roman"/>
              <a:cs typeface="Times New Roman"/>
            </a:endParaRPr>
          </a:p>
        </p:txBody>
      </p:sp>
      <p:sp>
        <p:nvSpPr>
          <p:cNvPr id="29" name="object 12">
            <a:extLst>
              <a:ext uri="{FF2B5EF4-FFF2-40B4-BE49-F238E27FC236}">
                <a16:creationId xmlns:a16="http://schemas.microsoft.com/office/drawing/2014/main" id="{09864754-2FF8-4B81-6358-D3AC9D361849}"/>
              </a:ext>
            </a:extLst>
          </p:cNvPr>
          <p:cNvSpPr txBox="1">
            <a:spLocks noGrp="1"/>
          </p:cNvSpPr>
          <p:nvPr>
            <p:ph type="sldNum" sz="quarter" idx="7"/>
          </p:nvPr>
        </p:nvSpPr>
        <p:spPr>
          <a:xfrm>
            <a:off x="11858823" y="6629309"/>
            <a:ext cx="228600" cy="250825"/>
          </a:xfrm>
          <a:prstGeom prst="rect">
            <a:avLst/>
          </a:prstGeom>
        </p:spPr>
        <p:txBody>
          <a:bodyPr vert="horz" wrap="square" lIns="0" tIns="0" rIns="0" bIns="0" rtlCol="0">
            <a:spAutoFit/>
          </a:bodyPr>
          <a:lstStyle/>
          <a:p>
            <a:pPr marL="12700">
              <a:lnSpc>
                <a:spcPts val="1845"/>
              </a:lnSpc>
            </a:pPr>
            <a:fld id="{81D60167-4931-47E6-BA6A-407CBD079E47}" type="slidenum">
              <a:rPr spc="-25" dirty="0"/>
              <a:t>12</a:t>
            </a:fld>
            <a:endParaRPr spc="-25" dirty="0"/>
          </a:p>
        </p:txBody>
      </p:sp>
      <p:pic>
        <p:nvPicPr>
          <p:cNvPr id="4" name="Picture 3"/>
          <p:cNvPicPr>
            <a:picLocks noChangeAspect="1"/>
          </p:cNvPicPr>
          <p:nvPr/>
        </p:nvPicPr>
        <p:blipFill>
          <a:blip r:embed="rId3"/>
          <a:stretch>
            <a:fillRect/>
          </a:stretch>
        </p:blipFill>
        <p:spPr>
          <a:xfrm>
            <a:off x="884364" y="1447800"/>
            <a:ext cx="10402571" cy="4776913"/>
          </a:xfrm>
          <a:prstGeom prst="rect">
            <a:avLst/>
          </a:prstGeom>
        </p:spPr>
      </p:pic>
    </p:spTree>
    <p:extLst>
      <p:ext uri="{BB962C8B-B14F-4D97-AF65-F5344CB8AC3E}">
        <p14:creationId xmlns:p14="http://schemas.microsoft.com/office/powerpoint/2010/main" val="7877837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p:nvPr/>
        </p:nvSpPr>
        <p:spPr>
          <a:xfrm>
            <a:off x="6754444" y="6624710"/>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13</a:t>
            </a:fld>
            <a:endParaRPr spc="-25" dirty="0"/>
          </a:p>
        </p:txBody>
      </p:sp>
      <p:sp>
        <p:nvSpPr>
          <p:cNvPr id="3" name="object 3"/>
          <p:cNvSpPr txBox="1">
            <a:spLocks noGrp="1"/>
          </p:cNvSpPr>
          <p:nvPr>
            <p:ph type="title"/>
          </p:nvPr>
        </p:nvSpPr>
        <p:spPr>
          <a:xfrm>
            <a:off x="2826638" y="2352302"/>
            <a:ext cx="6692265" cy="1488440"/>
          </a:xfrm>
          <a:prstGeom prst="rect">
            <a:avLst/>
          </a:prstGeom>
        </p:spPr>
        <p:txBody>
          <a:bodyPr vert="horz" wrap="square" lIns="0" tIns="12700" rIns="0" bIns="0" rtlCol="0">
            <a:spAutoFit/>
          </a:bodyPr>
          <a:lstStyle/>
          <a:p>
            <a:pPr marL="12700">
              <a:lnSpc>
                <a:spcPct val="100000"/>
              </a:lnSpc>
              <a:spcBef>
                <a:spcPts val="100"/>
              </a:spcBef>
            </a:pPr>
            <a:r>
              <a:rPr sz="9600" i="1" dirty="0">
                <a:solidFill>
                  <a:srgbClr val="FF6600"/>
                </a:solidFill>
                <a:latin typeface="Times New Roman"/>
                <a:cs typeface="Times New Roman"/>
              </a:rPr>
              <a:t>Any</a:t>
            </a:r>
            <a:r>
              <a:rPr sz="9600" i="1" spc="-30" dirty="0">
                <a:solidFill>
                  <a:srgbClr val="FF6600"/>
                </a:solidFill>
                <a:latin typeface="Times New Roman"/>
                <a:cs typeface="Times New Roman"/>
              </a:rPr>
              <a:t> </a:t>
            </a:r>
            <a:r>
              <a:rPr sz="9600" i="1" spc="-10" dirty="0">
                <a:solidFill>
                  <a:srgbClr val="FF6600"/>
                </a:solidFill>
                <a:latin typeface="Times New Roman"/>
                <a:cs typeface="Times New Roman"/>
              </a:rPr>
              <a:t>Queries?</a:t>
            </a:r>
            <a:endParaRPr sz="9600">
              <a:latin typeface="Times New Roman"/>
              <a:cs typeface="Times New Roman"/>
            </a:endParaRPr>
          </a:p>
        </p:txBody>
      </p:sp>
      <p:sp>
        <p:nvSpPr>
          <p:cNvPr id="8" name="object 9">
            <a:extLst>
              <a:ext uri="{FF2B5EF4-FFF2-40B4-BE49-F238E27FC236}">
                <a16:creationId xmlns:a16="http://schemas.microsoft.com/office/drawing/2014/main" id="{38036199-2B51-9B00-5280-3FB15D955DE6}"/>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5" name="object 2">
            <a:extLst>
              <a:ext uri="{FF2B5EF4-FFF2-40B4-BE49-F238E27FC236}">
                <a16:creationId xmlns:a16="http://schemas.microsoft.com/office/drawing/2014/main" id="{5D94190F-02FA-303B-279B-F732CC88B753}"/>
              </a:ext>
            </a:extLst>
          </p:cNvPr>
          <p:cNvSpPr txBox="1"/>
          <p:nvPr/>
        </p:nvSpPr>
        <p:spPr>
          <a:xfrm>
            <a:off x="3604386" y="-10897"/>
            <a:ext cx="5082413" cy="259045"/>
          </a:xfrm>
          <a:prstGeom prst="rect">
            <a:avLst/>
          </a:prstGeom>
        </p:spPr>
        <p:txBody>
          <a:bodyPr vert="horz" wrap="square" lIns="0" tIns="12700" rIns="0" bIns="0" rtlCol="0" anchor="t">
            <a:spAutoFit/>
          </a:bodyPr>
          <a:lstStyle/>
          <a:p>
            <a:pPr marL="12700" algn="ctr">
              <a:spcBef>
                <a:spcPts val="100"/>
              </a:spcBef>
            </a:pPr>
            <a:r>
              <a:rPr lang="en-US" sz="1600" dirty="0">
                <a:solidFill>
                  <a:schemeClr val="bg1"/>
                </a:solidFill>
              </a:rPr>
              <a:t>Secure Digital Forensic Evidence Storage System</a:t>
            </a:r>
            <a:endParaRPr lang="en-US" sz="1600" dirty="0">
              <a:solidFill>
                <a:schemeClr val="bg1"/>
              </a:solidFill>
              <a:latin typeface="Times New Roman"/>
              <a:cs typeface="Times New Roman"/>
            </a:endParaRPr>
          </a:p>
        </p:txBody>
      </p:sp>
      <p:sp>
        <p:nvSpPr>
          <p:cNvPr id="9" name="object 8">
            <a:extLst>
              <a:ext uri="{FF2B5EF4-FFF2-40B4-BE49-F238E27FC236}">
                <a16:creationId xmlns:a16="http://schemas.microsoft.com/office/drawing/2014/main" id="{244C6EFB-B7DE-99D3-22A4-6086FD307999}"/>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nchor="t">
            <a:spAutoFit/>
          </a:bodyPr>
          <a:lstStyle/>
          <a:p>
            <a:pPr marL="12700">
              <a:lnSpc>
                <a:spcPts val="1845"/>
              </a:lnSpc>
            </a:pPr>
            <a:r>
              <a:rPr lang="en-IN" spc="-25" dirty="0"/>
              <a:t>B - 16</a:t>
            </a:r>
            <a:endParaRPr spc="-2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p:nvPr/>
        </p:nvSpPr>
        <p:spPr>
          <a:xfrm>
            <a:off x="7147577" y="6629311"/>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14</a:t>
            </a:fld>
            <a:endParaRPr spc="-25" dirty="0"/>
          </a:p>
        </p:txBody>
      </p:sp>
      <p:sp>
        <p:nvSpPr>
          <p:cNvPr id="3" name="object 3"/>
          <p:cNvSpPr txBox="1">
            <a:spLocks noGrp="1"/>
          </p:cNvSpPr>
          <p:nvPr>
            <p:ph type="title"/>
          </p:nvPr>
        </p:nvSpPr>
        <p:spPr>
          <a:xfrm>
            <a:off x="2826638" y="2249889"/>
            <a:ext cx="6698362" cy="1486946"/>
          </a:xfrm>
          <a:prstGeom prst="rect">
            <a:avLst/>
          </a:prstGeom>
        </p:spPr>
        <p:txBody>
          <a:bodyPr vert="horz" wrap="square" lIns="0" tIns="12700" rIns="0" bIns="0" rtlCol="0">
            <a:spAutoFit/>
          </a:bodyPr>
          <a:lstStyle/>
          <a:p>
            <a:pPr marL="12700" marR="5080" algn="l">
              <a:lnSpc>
                <a:spcPct val="107000"/>
              </a:lnSpc>
              <a:spcBef>
                <a:spcPts val="100"/>
              </a:spcBef>
            </a:pPr>
            <a:r>
              <a:rPr sz="9600" i="1" spc="-10" dirty="0">
                <a:solidFill>
                  <a:srgbClr val="FF6600"/>
                </a:solidFill>
                <a:latin typeface="Times New Roman"/>
                <a:cs typeface="Times New Roman"/>
              </a:rPr>
              <a:t>Thank</a:t>
            </a:r>
            <a:r>
              <a:rPr lang="en-IN" sz="9600" i="1" spc="-10" dirty="0">
                <a:solidFill>
                  <a:srgbClr val="FF6600"/>
                </a:solidFill>
                <a:latin typeface="Times New Roman"/>
                <a:cs typeface="Times New Roman"/>
              </a:rPr>
              <a:t> </a:t>
            </a:r>
            <a:r>
              <a:rPr sz="9600" i="1" spc="-10" dirty="0">
                <a:solidFill>
                  <a:srgbClr val="FF6600"/>
                </a:solidFill>
                <a:latin typeface="Times New Roman"/>
                <a:cs typeface="Times New Roman"/>
              </a:rPr>
              <a:t>You!!!</a:t>
            </a:r>
            <a:endParaRPr sz="9600" dirty="0">
              <a:latin typeface="Times New Roman"/>
              <a:cs typeface="Times New Roman"/>
            </a:endParaRPr>
          </a:p>
        </p:txBody>
      </p:sp>
      <p:sp>
        <p:nvSpPr>
          <p:cNvPr id="8" name="object 9">
            <a:extLst>
              <a:ext uri="{FF2B5EF4-FFF2-40B4-BE49-F238E27FC236}">
                <a16:creationId xmlns:a16="http://schemas.microsoft.com/office/drawing/2014/main" id="{54D73473-8B89-25C7-80BC-FF44172E7C40}"/>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9" name="object 8">
            <a:extLst>
              <a:ext uri="{FF2B5EF4-FFF2-40B4-BE49-F238E27FC236}">
                <a16:creationId xmlns:a16="http://schemas.microsoft.com/office/drawing/2014/main" id="{FA43E41F-06F6-DED8-0E94-DA7D49A8DDAE}"/>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nchor="t">
            <a:spAutoFit/>
          </a:bodyPr>
          <a:lstStyle/>
          <a:p>
            <a:pPr marL="12700">
              <a:lnSpc>
                <a:spcPts val="1845"/>
              </a:lnSpc>
            </a:pPr>
            <a:r>
              <a:rPr lang="en-IN" spc="-25" dirty="0"/>
              <a:t>B - 16</a:t>
            </a:r>
            <a:endParaRPr spc="-25" dirty="0"/>
          </a:p>
        </p:txBody>
      </p:sp>
      <p:sp>
        <p:nvSpPr>
          <p:cNvPr id="2" name="TextBox 1">
            <a:extLst>
              <a:ext uri="{FF2B5EF4-FFF2-40B4-BE49-F238E27FC236}">
                <a16:creationId xmlns:a16="http://schemas.microsoft.com/office/drawing/2014/main" id="{14D708BE-FDB5-5582-CE10-A217CBCEBA85}"/>
              </a:ext>
            </a:extLst>
          </p:cNvPr>
          <p:cNvSpPr txBox="1"/>
          <p:nvPr/>
        </p:nvSpPr>
        <p:spPr>
          <a:xfrm>
            <a:off x="3280219" y="-17206"/>
            <a:ext cx="5791200" cy="307777"/>
          </a:xfrm>
          <a:prstGeom prst="rect">
            <a:avLst/>
          </a:prstGeom>
          <a:noFill/>
        </p:spPr>
        <p:txBody>
          <a:bodyPr wrap="square" rtlCol="0">
            <a:spAutoFit/>
          </a:bodyPr>
          <a:lstStyle/>
          <a:p>
            <a:pPr algn="ctr"/>
            <a:r>
              <a:rPr lang="en-US" sz="1400" dirty="0">
                <a:solidFill>
                  <a:schemeClr val="bg1"/>
                </a:solidFill>
              </a:rPr>
              <a:t>Secure Digital Forensic Evidence Storage System</a:t>
            </a:r>
            <a:endParaRPr lang="en-US" sz="1400" dirty="0">
              <a:solidFill>
                <a:schemeClr val="bg1"/>
              </a:solidFill>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563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1235</TotalTime>
  <Words>1225</Words>
  <Application>Microsoft Macintosh PowerPoint</Application>
  <PresentationFormat>Widescreen</PresentationFormat>
  <Paragraphs>167</Paragraphs>
  <Slides>14</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Secure Digital Forensic Evidence Storage System</vt:lpstr>
      <vt:lpstr>Contents</vt:lpstr>
      <vt:lpstr>Abstract</vt:lpstr>
      <vt:lpstr>Problem Statement</vt:lpstr>
      <vt:lpstr>Objectives</vt:lpstr>
      <vt:lpstr>Literature Survey for Objectives</vt:lpstr>
      <vt:lpstr>Existing System</vt:lpstr>
      <vt:lpstr>Proposed System</vt:lpstr>
      <vt:lpstr>Proposed System</vt:lpstr>
      <vt:lpstr>Proposed System</vt:lpstr>
      <vt:lpstr>References</vt:lpstr>
      <vt:lpstr>Github Dashboard</vt:lpstr>
      <vt:lpstr>Any Queries?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Biofloc Aquaculture: ML predictions with IOT Based Monitoring and Alerts</dc:title>
  <dc:creator>Revathi Reddy</dc:creator>
  <cp:lastModifiedBy>Office</cp:lastModifiedBy>
  <cp:revision>783</cp:revision>
  <dcterms:created xsi:type="dcterms:W3CDTF">2025-09-12T04:18:11Z</dcterms:created>
  <dcterms:modified xsi:type="dcterms:W3CDTF">2026-04-06T17:17:39Z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Creator">
    <vt:lpwstr>Google</vt:lpwstr>
  </property>
  <property fmtid="{D5CDD505-2E9C-101B-9397-08002B2CF9AE}" pid="4" name="LastSaved">
    <vt:filetime>2025-09-12T00:00:00Z</vt:filetime>
  </property>
</Properties>
</file>