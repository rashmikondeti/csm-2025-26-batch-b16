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8" r:id="rId3"/>
    <p:sldId id="278" r:id="rId4"/>
    <p:sldId id="266" r:id="rId5"/>
    <p:sldId id="270" r:id="rId6"/>
    <p:sldId id="274" r:id="rId7"/>
    <p:sldId id="260" r:id="rId8"/>
    <p:sldId id="277" r:id="rId9"/>
    <p:sldId id="275" r:id="rId10"/>
    <p:sldId id="271" r:id="rId11"/>
    <p:sldId id="276" r:id="rId12"/>
    <p:sldId id="279" r:id="rId13"/>
    <p:sldId id="280" r:id="rId14"/>
    <p:sldId id="281" r:id="rId15"/>
    <p:sldId id="284" r:id="rId16"/>
    <p:sldId id="283" r:id="rId17"/>
    <p:sldId id="282" r:id="rId18"/>
    <p:sldId id="285" r:id="rId19"/>
    <p:sldId id="286" r:id="rId20"/>
    <p:sldId id="272" r:id="rId21"/>
    <p:sldId id="273" r:id="rId22"/>
    <p:sldId id="264" r:id="rId23"/>
    <p:sldId id="265"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94660"/>
  </p:normalViewPr>
  <p:slideViewPr>
    <p:cSldViewPr>
      <p:cViewPr varScale="1">
        <p:scale>
          <a:sx n="65" d="100"/>
          <a:sy n="65" d="100"/>
        </p:scale>
        <p:origin x="576" y="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E791910-4FED-4A69-9027-872062396EBD}" type="datetimeFigureOut">
              <a:rPr lang="en-IN" smtClean="0"/>
              <a:t>31-01-2026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23472F7-00EC-40F3-A111-228D446E4BD5}" type="slidenum">
              <a:rPr lang="en-IN" smtClean="0"/>
              <a:t>‹#›</a:t>
            </a:fld>
            <a:endParaRPr lang="en-IN"/>
          </a:p>
        </p:txBody>
      </p:sp>
    </p:spTree>
    <p:extLst>
      <p:ext uri="{BB962C8B-B14F-4D97-AF65-F5344CB8AC3E}">
        <p14:creationId xmlns:p14="http://schemas.microsoft.com/office/powerpoint/2010/main" val="1855936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1</a:t>
            </a:fld>
            <a:endParaRPr lang="en-IN"/>
          </a:p>
        </p:txBody>
      </p:sp>
    </p:spTree>
    <p:extLst>
      <p:ext uri="{BB962C8B-B14F-4D97-AF65-F5344CB8AC3E}">
        <p14:creationId xmlns:p14="http://schemas.microsoft.com/office/powerpoint/2010/main" val="1254589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a:t>
            </a:fld>
            <a:endParaRPr lang="en-IN"/>
          </a:p>
        </p:txBody>
      </p:sp>
    </p:spTree>
    <p:extLst>
      <p:ext uri="{BB962C8B-B14F-4D97-AF65-F5344CB8AC3E}">
        <p14:creationId xmlns:p14="http://schemas.microsoft.com/office/powerpoint/2010/main" val="189416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3</a:t>
            </a:fld>
            <a:endParaRPr lang="en-IN"/>
          </a:p>
        </p:txBody>
      </p:sp>
    </p:spTree>
    <p:extLst>
      <p:ext uri="{BB962C8B-B14F-4D97-AF65-F5344CB8AC3E}">
        <p14:creationId xmlns:p14="http://schemas.microsoft.com/office/powerpoint/2010/main" val="530346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4</a:t>
            </a:fld>
            <a:endParaRPr lang="en-IN"/>
          </a:p>
        </p:txBody>
      </p:sp>
    </p:spTree>
    <p:extLst>
      <p:ext uri="{BB962C8B-B14F-4D97-AF65-F5344CB8AC3E}">
        <p14:creationId xmlns:p14="http://schemas.microsoft.com/office/powerpoint/2010/main" val="1019407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191B03-F615-A851-B852-4B2DE9AE7AEE}"/>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4DEB038A-96C2-E48A-BA72-1A39AEA253D4}"/>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91A3454-109C-CD42-F5E4-2F6C9F0D5CB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56ADAE8A-78CE-5C94-8BAD-71DD20F3F310}"/>
              </a:ext>
            </a:extLst>
          </p:cNvPr>
          <p:cNvSpPr>
            <a:spLocks noGrp="1"/>
          </p:cNvSpPr>
          <p:nvPr>
            <p:ph type="sldNum" sz="quarter" idx="5"/>
          </p:nvPr>
        </p:nvSpPr>
        <p:spPr/>
        <p:txBody>
          <a:bodyPr/>
          <a:lstStyle/>
          <a:p>
            <a:fld id="{623472F7-00EC-40F3-A111-228D446E4BD5}" type="slidenum">
              <a:rPr lang="en-IN" smtClean="0"/>
              <a:t>5</a:t>
            </a:fld>
            <a:endParaRPr lang="en-IN"/>
          </a:p>
        </p:txBody>
      </p:sp>
    </p:spTree>
    <p:extLst>
      <p:ext uri="{BB962C8B-B14F-4D97-AF65-F5344CB8AC3E}">
        <p14:creationId xmlns:p14="http://schemas.microsoft.com/office/powerpoint/2010/main" val="3456027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3472F7-00EC-40F3-A111-228D446E4BD5}" type="slidenum">
              <a:rPr lang="en-IN" smtClean="0"/>
              <a:t>6</a:t>
            </a:fld>
            <a:endParaRPr lang="en-IN"/>
          </a:p>
        </p:txBody>
      </p:sp>
    </p:spTree>
    <p:extLst>
      <p:ext uri="{BB962C8B-B14F-4D97-AF65-F5344CB8AC3E}">
        <p14:creationId xmlns:p14="http://schemas.microsoft.com/office/powerpoint/2010/main" val="316682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7</a:t>
            </a:fld>
            <a:endParaRPr lang="en-IN"/>
          </a:p>
        </p:txBody>
      </p:sp>
    </p:spTree>
    <p:extLst>
      <p:ext uri="{BB962C8B-B14F-4D97-AF65-F5344CB8AC3E}">
        <p14:creationId xmlns:p14="http://schemas.microsoft.com/office/powerpoint/2010/main" val="22259051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8</a:t>
            </a:fld>
            <a:endParaRPr lang="en-IN"/>
          </a:p>
        </p:txBody>
      </p:sp>
    </p:spTree>
    <p:extLst>
      <p:ext uri="{BB962C8B-B14F-4D97-AF65-F5344CB8AC3E}">
        <p14:creationId xmlns:p14="http://schemas.microsoft.com/office/powerpoint/2010/main" val="1107361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E658CB-2BD4-ABBB-0C76-668CB1B0C66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1812C1C1-AE70-47D0-B851-DD2D01DFF7A2}"/>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B82695A-45AC-563D-6DB7-5F88288799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0C06056F-D85E-F504-8276-35C213130D34}"/>
              </a:ext>
            </a:extLst>
          </p:cNvPr>
          <p:cNvSpPr>
            <a:spLocks noGrp="1"/>
          </p:cNvSpPr>
          <p:nvPr>
            <p:ph type="sldNum" sz="quarter" idx="5"/>
          </p:nvPr>
        </p:nvSpPr>
        <p:spPr/>
        <p:txBody>
          <a:bodyPr/>
          <a:lstStyle/>
          <a:p>
            <a:fld id="{623472F7-00EC-40F3-A111-228D446E4BD5}" type="slidenum">
              <a:rPr lang="en-IN" smtClean="0"/>
              <a:t>10</a:t>
            </a:fld>
            <a:endParaRPr lang="en-IN"/>
          </a:p>
        </p:txBody>
      </p:sp>
    </p:spTree>
    <p:extLst>
      <p:ext uri="{BB962C8B-B14F-4D97-AF65-F5344CB8AC3E}">
        <p14:creationId xmlns:p14="http://schemas.microsoft.com/office/powerpoint/2010/main" val="2694110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AAF4336-D07D-1104-44EA-7EFA117EA2F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61336D5-270E-735C-4953-51746F003EEE}"/>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C01A8A2-254D-52B3-4525-133705AB6CD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7D0FA7DA-1023-ACA4-D414-3ED18FA3E014}"/>
              </a:ext>
            </a:extLst>
          </p:cNvPr>
          <p:cNvSpPr>
            <a:spLocks noGrp="1"/>
          </p:cNvSpPr>
          <p:nvPr>
            <p:ph type="sldNum" sz="quarter" idx="5"/>
          </p:nvPr>
        </p:nvSpPr>
        <p:spPr/>
        <p:txBody>
          <a:bodyPr/>
          <a:lstStyle/>
          <a:p>
            <a:fld id="{623472F7-00EC-40F3-A111-228D446E4BD5}" type="slidenum">
              <a:rPr lang="en-IN" smtClean="0"/>
              <a:t>20</a:t>
            </a:fld>
            <a:endParaRPr lang="en-IN"/>
          </a:p>
        </p:txBody>
      </p:sp>
    </p:spTree>
    <p:extLst>
      <p:ext uri="{BB962C8B-B14F-4D97-AF65-F5344CB8AC3E}">
        <p14:creationId xmlns:p14="http://schemas.microsoft.com/office/powerpoint/2010/main" val="3863443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3695466-6BC2-5D8F-CD03-52596A89E8BA}"/>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EA958373-E867-2212-A654-21300748A0B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A29D9D3D-A91C-B18F-75D4-E264DDE929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 xmlns:a16="http://schemas.microsoft.com/office/drawing/2014/main" id="{E6BAB591-B997-5C32-8C23-C58A8502FE04}"/>
              </a:ext>
            </a:extLst>
          </p:cNvPr>
          <p:cNvSpPr>
            <a:spLocks noGrp="1"/>
          </p:cNvSpPr>
          <p:nvPr>
            <p:ph type="sldNum" sz="quarter" idx="5"/>
          </p:nvPr>
        </p:nvSpPr>
        <p:spPr/>
        <p:txBody>
          <a:bodyPr/>
          <a:lstStyle/>
          <a:p>
            <a:fld id="{623472F7-00EC-40F3-A111-228D446E4BD5}" type="slidenum">
              <a:rPr lang="en-IN" smtClean="0"/>
              <a:t>21</a:t>
            </a:fld>
            <a:endParaRPr lang="en-IN"/>
          </a:p>
        </p:txBody>
      </p:sp>
    </p:spTree>
    <p:extLst>
      <p:ext uri="{BB962C8B-B14F-4D97-AF65-F5344CB8AC3E}">
        <p14:creationId xmlns:p14="http://schemas.microsoft.com/office/powerpoint/2010/main" val="1722148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23472F7-00EC-40F3-A111-228D446E4BD5}" type="slidenum">
              <a:rPr lang="en-IN" smtClean="0"/>
              <a:t>22</a:t>
            </a:fld>
            <a:endParaRPr lang="en-IN"/>
          </a:p>
        </p:txBody>
      </p:sp>
    </p:spTree>
    <p:extLst>
      <p:ext uri="{BB962C8B-B14F-4D97-AF65-F5344CB8AC3E}">
        <p14:creationId xmlns:p14="http://schemas.microsoft.com/office/powerpoint/2010/main" val="824020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00</a:t>
            </a:r>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(Data</a:t>
            </a:r>
            <a:r>
              <a:rPr cap="small" spc="45" dirty="0"/>
              <a:t> </a:t>
            </a:r>
            <a:r>
              <a:rPr cap="small" spc="-95" dirty="0"/>
              <a:t>Science)</a:t>
            </a:r>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55008" y="6642101"/>
            <a:ext cx="11436992" cy="233679"/>
            <a:chOff x="753123" y="6600682"/>
            <a:chExt cx="11461310" cy="329426"/>
          </a:xfrm>
        </p:grpSpPr>
        <p:sp>
          <p:nvSpPr>
            <p:cNvPr id="3" name="object 3"/>
            <p:cNvSpPr/>
            <p:nvPr/>
          </p:nvSpPr>
          <p:spPr>
            <a:xfrm>
              <a:off x="753123" y="6600690"/>
              <a:ext cx="5887233" cy="325877"/>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nchor="t"/>
            <a:lstStyle/>
            <a:p>
              <a:r>
                <a:rPr lang="en-US" sz="1600" dirty="0">
                  <a:solidFill>
                    <a:schemeClr val="bg1"/>
                  </a:solidFill>
                  <a:latin typeface="Times New Roman"/>
                  <a:cs typeface="Times New Roman"/>
                </a:rPr>
                <a:t>     </a:t>
              </a:r>
              <a:r>
                <a:rPr lang="en-US" sz="1600" dirty="0" err="1">
                  <a:solidFill>
                    <a:schemeClr val="bg1"/>
                  </a:solidFill>
                  <a:latin typeface="Times New Roman"/>
                  <a:cs typeface="Times New Roman"/>
                </a:rPr>
                <a:t>Dept.of.Computer</a:t>
              </a:r>
              <a:r>
                <a:rPr lang="en-US" sz="1600" dirty="0">
                  <a:solidFill>
                    <a:schemeClr val="bg1"/>
                  </a:solidFill>
                  <a:latin typeface="Times New Roman"/>
                  <a:cs typeface="Times New Roman"/>
                </a:rPr>
                <a:t> science and Engineering(AI&amp;ML)</a:t>
              </a:r>
              <a:endParaRPr lang="en-US" sz="1600" dirty="0">
                <a:solidFill>
                  <a:schemeClr val="bg1"/>
                </a:solidFill>
                <a:latin typeface="Times New Roman"/>
                <a:ea typeface="+mn-lt"/>
                <a:cs typeface="Times New Roman"/>
              </a:endParaRPr>
            </a:p>
          </p:txBody>
        </p:sp>
        <p:sp>
          <p:nvSpPr>
            <p:cNvPr id="4" name="object 4"/>
            <p:cNvSpPr/>
            <p:nvPr/>
          </p:nvSpPr>
          <p:spPr>
            <a:xfrm>
              <a:off x="6640356" y="6600682"/>
              <a:ext cx="4976650" cy="329426"/>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617006" y="6600683"/>
              <a:ext cx="597427" cy="329425"/>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dirty="0"/>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7" name="object 7"/>
          <p:cNvSpPr/>
          <p:nvPr/>
        </p:nvSpPr>
        <p:spPr>
          <a:xfrm>
            <a:off x="-1" y="6639597"/>
            <a:ext cx="782336" cy="218404"/>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pPr algn="ctr"/>
            <a:r>
              <a:rPr lang="en-IN" sz="1600" dirty="0">
                <a:solidFill>
                  <a:schemeClr val="bg1"/>
                </a:solidFill>
                <a:latin typeface="Times New Roman"/>
                <a:cs typeface="Times New Roman"/>
              </a:rPr>
              <a:t>B-16</a:t>
            </a:r>
            <a:endParaRPr sz="1600" dirty="0">
              <a:solidFill>
                <a:schemeClr val="bg1"/>
              </a:solidFill>
              <a:latin typeface="Times New Roman" panose="02020603050405020304" pitchFamily="18" charset="0"/>
              <a:cs typeface="Times New Roman" panose="02020603050405020304" pitchFamily="18" charset="0"/>
            </a:endParaRPr>
          </a:p>
        </p:txBody>
      </p:sp>
      <p:sp>
        <p:nvSpPr>
          <p:cNvPr id="8" name="object 8"/>
          <p:cNvSpPr txBox="1"/>
          <p:nvPr/>
        </p:nvSpPr>
        <p:spPr>
          <a:xfrm>
            <a:off x="5773588" y="1683897"/>
            <a:ext cx="2211174"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smtClean="0">
                <a:latin typeface="Times New Roman"/>
                <a:cs typeface="Times New Roman"/>
              </a:rPr>
              <a:t>K. </a:t>
            </a:r>
            <a:r>
              <a:rPr lang="en-IN" sz="2400" dirty="0" err="1" smtClean="0">
                <a:latin typeface="Times New Roman"/>
                <a:cs typeface="Times New Roman"/>
              </a:rPr>
              <a:t>Rashmi</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smtClean="0">
                <a:latin typeface="Times New Roman"/>
                <a:cs typeface="Times New Roman"/>
              </a:rPr>
              <a:t>24G1A3379</a:t>
            </a:r>
            <a:endParaRPr sz="1400" dirty="0">
              <a:latin typeface="Times New Roman"/>
              <a:cs typeface="Times New Roman"/>
            </a:endParaRPr>
          </a:p>
        </p:txBody>
      </p:sp>
      <p:sp>
        <p:nvSpPr>
          <p:cNvPr id="9" name="object 9"/>
          <p:cNvSpPr txBox="1"/>
          <p:nvPr/>
        </p:nvSpPr>
        <p:spPr>
          <a:xfrm>
            <a:off x="3795352" y="2477416"/>
            <a:ext cx="4642480" cy="1365117"/>
          </a:xfrm>
          <a:prstGeom prst="rect">
            <a:avLst/>
          </a:prstGeom>
        </p:spPr>
        <p:txBody>
          <a:bodyPr vert="horz" wrap="square" lIns="0" tIns="71755" rIns="0" bIns="0" rtlCol="0" anchor="t">
            <a:spAutoFit/>
          </a:bodyPr>
          <a:lstStyle/>
          <a:p>
            <a:pPr algn="ctr">
              <a:spcBef>
                <a:spcPts val="565"/>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lang="en-IN" sz="1400" i="1" spc="-10" dirty="0">
                <a:latin typeface="Times New Roman"/>
                <a:cs typeface="Times New Roman"/>
              </a:rPr>
              <a:t> of</a:t>
            </a:r>
          </a:p>
          <a:p>
            <a:pPr algn="ctr">
              <a:spcBef>
                <a:spcPts val="565"/>
              </a:spcBef>
            </a:pPr>
            <a:r>
              <a:rPr lang="en-IN" sz="1400" i="1" spc="-35" dirty="0" smtClean="0">
                <a:latin typeface="Times New Roman"/>
                <a:cs typeface="Times New Roman"/>
              </a:rPr>
              <a:t> </a:t>
            </a:r>
            <a:r>
              <a:rPr lang="en-IN" sz="3600" baseline="20833" dirty="0" err="1" smtClean="0">
                <a:latin typeface="Times New Roman"/>
                <a:cs typeface="Times New Roman"/>
              </a:rPr>
              <a:t>Mr.</a:t>
            </a:r>
            <a:r>
              <a:rPr lang="en-IN" sz="3600" baseline="20833" dirty="0" smtClean="0">
                <a:latin typeface="Times New Roman"/>
                <a:cs typeface="Times New Roman"/>
              </a:rPr>
              <a:t> K. </a:t>
            </a:r>
            <a:r>
              <a:rPr lang="en-IN" sz="3600" baseline="20833" dirty="0" err="1" smtClean="0">
                <a:latin typeface="Times New Roman"/>
                <a:cs typeface="Times New Roman"/>
              </a:rPr>
              <a:t>Kondanna</a:t>
            </a:r>
            <a:r>
              <a:rPr lang="en-IN" sz="1400" baseline="20833" dirty="0" smtClean="0">
                <a:latin typeface="Times New Roman"/>
                <a:cs typeface="Times New Roman"/>
              </a:rPr>
              <a:t>   </a:t>
            </a:r>
            <a:r>
              <a:rPr lang="en-IN" sz="1400" spc="-10" dirty="0" err="1" smtClean="0">
                <a:latin typeface="Times New Roman"/>
                <a:cs typeface="Times New Roman"/>
              </a:rPr>
              <a:t>M.Tech</a:t>
            </a:r>
            <a:r>
              <a:rPr lang="en-IN" sz="1400" spc="-10" dirty="0" smtClean="0">
                <a:latin typeface="Times New Roman"/>
                <a:cs typeface="Times New Roman"/>
              </a:rPr>
              <a:t>. (Ph. D.)</a:t>
            </a:r>
          </a:p>
          <a:p>
            <a:pPr algn="ctr">
              <a:spcBef>
                <a:spcPts val="565"/>
              </a:spcBef>
            </a:pPr>
            <a:r>
              <a:rPr lang="en-US" sz="3600" dirty="0" smtClean="0">
                <a:latin typeface="Times New Roman"/>
                <a:cs typeface="Times New Roman"/>
              </a:rPr>
              <a:t> </a:t>
            </a:r>
            <a:r>
              <a:rPr lang="en-IN" sz="3600" baseline="20833" dirty="0" smtClean="0">
                <a:latin typeface="Times New Roman"/>
                <a:cs typeface="Times New Roman"/>
              </a:rPr>
              <a:t> </a:t>
            </a:r>
            <a:endParaRPr lang="en-IN" sz="3600" baseline="20833" dirty="0">
              <a:latin typeface="Times New Roman"/>
              <a:cs typeface="Times New Roman"/>
            </a:endParaRPr>
          </a:p>
        </p:txBody>
      </p:sp>
      <p:sp>
        <p:nvSpPr>
          <p:cNvPr id="10" name="object 10"/>
          <p:cNvSpPr txBox="1"/>
          <p:nvPr/>
        </p:nvSpPr>
        <p:spPr>
          <a:xfrm>
            <a:off x="5207934" y="3266789"/>
            <a:ext cx="1649680" cy="259045"/>
          </a:xfrm>
          <a:prstGeom prst="rect">
            <a:avLst/>
          </a:prstGeom>
        </p:spPr>
        <p:txBody>
          <a:bodyPr vert="horz" wrap="square" lIns="0" tIns="12700" rIns="0" bIns="0" rtlCol="0">
            <a:spAutoFit/>
          </a:bodyPr>
          <a:lstStyle/>
          <a:p>
            <a:pPr marL="12700" algn="ctr">
              <a:lnSpc>
                <a:spcPct val="100000"/>
              </a:lnSpc>
              <a:spcBef>
                <a:spcPts val="100"/>
              </a:spcBef>
            </a:pPr>
            <a:r>
              <a:rPr sz="1600" spc="-10" dirty="0" smtClean="0">
                <a:latin typeface="Times New Roman"/>
                <a:cs typeface="Times New Roman"/>
              </a:rPr>
              <a:t>Assistant </a:t>
            </a:r>
            <a:r>
              <a:rPr sz="1600" spc="-10" dirty="0">
                <a:latin typeface="Times New Roman"/>
                <a:cs typeface="Times New Roman"/>
              </a:rPr>
              <a:t>Professor</a:t>
            </a:r>
            <a:endParaRPr sz="1600" dirty="0">
              <a:latin typeface="Times New Roman"/>
              <a:cs typeface="Times New Roman"/>
            </a:endParaRPr>
          </a:p>
        </p:txBody>
      </p:sp>
      <p:sp>
        <p:nvSpPr>
          <p:cNvPr id="11" name="object 11"/>
          <p:cNvSpPr txBox="1"/>
          <p:nvPr/>
        </p:nvSpPr>
        <p:spPr>
          <a:xfrm>
            <a:off x="2732995" y="5216920"/>
            <a:ext cx="6767195" cy="1220470"/>
          </a:xfrm>
          <a:prstGeom prst="rect">
            <a:avLst/>
          </a:prstGeom>
        </p:spPr>
        <p:txBody>
          <a:bodyPr vert="horz" wrap="square" lIns="0" tIns="17780" rIns="0" bIns="0" rtlCol="0">
            <a:spAutoFit/>
          </a:bodyPr>
          <a:lstStyle/>
          <a:p>
            <a:pPr marL="4445" algn="ctr">
              <a:lnSpc>
                <a:spcPts val="1975"/>
              </a:lnSpc>
              <a:spcBef>
                <a:spcPts val="140"/>
              </a:spcBef>
            </a:pPr>
            <a:r>
              <a:rPr sz="1850" dirty="0">
                <a:latin typeface="Times New Roman"/>
                <a:cs typeface="Times New Roman"/>
              </a:rPr>
              <a:t>Department</a:t>
            </a:r>
            <a:r>
              <a:rPr sz="1850" spc="85" dirty="0">
                <a:latin typeface="Times New Roman"/>
                <a:cs typeface="Times New Roman"/>
              </a:rPr>
              <a:t> </a:t>
            </a:r>
            <a:r>
              <a:rPr sz="1850" dirty="0">
                <a:latin typeface="Times New Roman"/>
                <a:cs typeface="Times New Roman"/>
              </a:rPr>
              <a:t>of</a:t>
            </a:r>
            <a:r>
              <a:rPr sz="1850" spc="90" dirty="0">
                <a:latin typeface="Times New Roman"/>
                <a:cs typeface="Times New Roman"/>
              </a:rPr>
              <a:t> </a:t>
            </a:r>
            <a:r>
              <a:rPr sz="1850" dirty="0">
                <a:latin typeface="Times New Roman"/>
                <a:cs typeface="Times New Roman"/>
              </a:rPr>
              <a:t>Computer</a:t>
            </a:r>
            <a:r>
              <a:rPr sz="1850" spc="90" dirty="0">
                <a:latin typeface="Times New Roman"/>
                <a:cs typeface="Times New Roman"/>
              </a:rPr>
              <a:t> </a:t>
            </a:r>
            <a:r>
              <a:rPr sz="1850" dirty="0">
                <a:latin typeface="Times New Roman"/>
                <a:cs typeface="Times New Roman"/>
              </a:rPr>
              <a:t>Science</a:t>
            </a:r>
            <a:r>
              <a:rPr sz="1850" spc="85" dirty="0">
                <a:latin typeface="Times New Roman"/>
                <a:cs typeface="Times New Roman"/>
              </a:rPr>
              <a:t> </a:t>
            </a:r>
            <a:r>
              <a:rPr sz="1850" dirty="0">
                <a:latin typeface="Times New Roman"/>
                <a:cs typeface="Times New Roman"/>
              </a:rPr>
              <a:t>and</a:t>
            </a:r>
            <a:r>
              <a:rPr sz="1850" spc="95" dirty="0">
                <a:latin typeface="Times New Roman"/>
                <a:cs typeface="Times New Roman"/>
              </a:rPr>
              <a:t> </a:t>
            </a:r>
            <a:r>
              <a:rPr sz="1850" dirty="0">
                <a:latin typeface="Times New Roman"/>
                <a:cs typeface="Times New Roman"/>
              </a:rPr>
              <a:t>Engineering</a:t>
            </a:r>
            <a:r>
              <a:rPr sz="1850" spc="90" dirty="0">
                <a:latin typeface="Times New Roman"/>
                <a:cs typeface="Times New Roman"/>
              </a:rPr>
              <a:t> </a:t>
            </a:r>
            <a:r>
              <a:rPr sz="1850" dirty="0">
                <a:latin typeface="Times New Roman"/>
                <a:cs typeface="Times New Roman"/>
              </a:rPr>
              <a:t>(AI</a:t>
            </a:r>
            <a:r>
              <a:rPr sz="1850" spc="90" dirty="0">
                <a:latin typeface="Times New Roman"/>
                <a:cs typeface="Times New Roman"/>
              </a:rPr>
              <a:t> </a:t>
            </a:r>
            <a:r>
              <a:rPr sz="1850" dirty="0">
                <a:latin typeface="Times New Roman"/>
                <a:cs typeface="Times New Roman"/>
              </a:rPr>
              <a:t>&amp;</a:t>
            </a:r>
            <a:r>
              <a:rPr sz="1850" spc="90" dirty="0">
                <a:latin typeface="Times New Roman"/>
                <a:cs typeface="Times New Roman"/>
              </a:rPr>
              <a:t> </a:t>
            </a:r>
            <a:r>
              <a:rPr sz="1850" spc="-25" dirty="0">
                <a:latin typeface="Times New Roman"/>
                <a:cs typeface="Times New Roman"/>
              </a:rPr>
              <a:t>ML)</a:t>
            </a:r>
            <a:endParaRPr sz="1850" dirty="0">
              <a:latin typeface="Times New Roman"/>
              <a:cs typeface="Times New Roman"/>
            </a:endParaRPr>
          </a:p>
          <a:p>
            <a:pPr algn="ctr">
              <a:lnSpc>
                <a:spcPts val="3185"/>
              </a:lnSpc>
            </a:pPr>
            <a:r>
              <a:rPr sz="2900" dirty="0">
                <a:solidFill>
                  <a:srgbClr val="FF0000"/>
                </a:solidFill>
                <a:latin typeface="Times New Roman"/>
                <a:cs typeface="Times New Roman"/>
              </a:rPr>
              <a:t>Srinivasa</a:t>
            </a:r>
            <a:r>
              <a:rPr sz="2900" spc="30" dirty="0">
                <a:solidFill>
                  <a:srgbClr val="FF0000"/>
                </a:solidFill>
                <a:latin typeface="Times New Roman"/>
                <a:cs typeface="Times New Roman"/>
              </a:rPr>
              <a:t> </a:t>
            </a:r>
            <a:r>
              <a:rPr sz="2900" dirty="0">
                <a:solidFill>
                  <a:srgbClr val="FF0000"/>
                </a:solidFill>
                <a:latin typeface="Times New Roman"/>
                <a:cs typeface="Times New Roman"/>
              </a:rPr>
              <a:t>Ramanujan</a:t>
            </a:r>
            <a:r>
              <a:rPr sz="2900" spc="35" dirty="0">
                <a:solidFill>
                  <a:srgbClr val="FF0000"/>
                </a:solidFill>
                <a:latin typeface="Times New Roman"/>
                <a:cs typeface="Times New Roman"/>
              </a:rPr>
              <a:t> </a:t>
            </a:r>
            <a:r>
              <a:rPr sz="2900" dirty="0">
                <a:solidFill>
                  <a:srgbClr val="FF0000"/>
                </a:solidFill>
                <a:latin typeface="Times New Roman"/>
                <a:cs typeface="Times New Roman"/>
              </a:rPr>
              <a:t>Institute</a:t>
            </a:r>
            <a:r>
              <a:rPr sz="2900" spc="30" dirty="0">
                <a:solidFill>
                  <a:srgbClr val="FF0000"/>
                </a:solidFill>
                <a:latin typeface="Times New Roman"/>
                <a:cs typeface="Times New Roman"/>
              </a:rPr>
              <a:t> </a:t>
            </a:r>
            <a:r>
              <a:rPr sz="2900" dirty="0">
                <a:solidFill>
                  <a:srgbClr val="FF0000"/>
                </a:solidFill>
                <a:latin typeface="Times New Roman"/>
                <a:cs typeface="Times New Roman"/>
              </a:rPr>
              <a:t>of</a:t>
            </a:r>
            <a:r>
              <a:rPr sz="2900" spc="35" dirty="0">
                <a:solidFill>
                  <a:srgbClr val="FF0000"/>
                </a:solidFill>
                <a:latin typeface="Times New Roman"/>
                <a:cs typeface="Times New Roman"/>
              </a:rPr>
              <a:t> </a:t>
            </a:r>
            <a:r>
              <a:rPr sz="2900" spc="-10" dirty="0">
                <a:solidFill>
                  <a:srgbClr val="FF0000"/>
                </a:solidFill>
                <a:latin typeface="Times New Roman"/>
                <a:cs typeface="Times New Roman"/>
              </a:rPr>
              <a:t>Technology</a:t>
            </a:r>
            <a:endParaRPr sz="2900" dirty="0">
              <a:latin typeface="Times New Roman"/>
              <a:cs typeface="Times New Roman"/>
            </a:endParaRPr>
          </a:p>
          <a:p>
            <a:pPr marL="6985" algn="ctr">
              <a:lnSpc>
                <a:spcPts val="1070"/>
              </a:lnSpc>
            </a:pPr>
            <a:r>
              <a:rPr sz="950" b="1" spc="-10" dirty="0">
                <a:latin typeface="Times New Roman"/>
                <a:cs typeface="Times New Roman"/>
              </a:rPr>
              <a:t>(Affiliated</a:t>
            </a:r>
            <a:r>
              <a:rPr sz="950" b="1" spc="-25" dirty="0">
                <a:latin typeface="Times New Roman"/>
                <a:cs typeface="Times New Roman"/>
              </a:rPr>
              <a:t> </a:t>
            </a:r>
            <a:r>
              <a:rPr sz="950" b="1" dirty="0">
                <a:latin typeface="Times New Roman"/>
                <a:cs typeface="Times New Roman"/>
              </a:rPr>
              <a:t>to</a:t>
            </a:r>
            <a:r>
              <a:rPr sz="950" b="1" spc="-20" dirty="0">
                <a:latin typeface="Times New Roman"/>
                <a:cs typeface="Times New Roman"/>
              </a:rPr>
              <a:t> </a:t>
            </a:r>
            <a:r>
              <a:rPr sz="950" b="1" dirty="0">
                <a:latin typeface="Times New Roman"/>
                <a:cs typeface="Times New Roman"/>
              </a:rPr>
              <a:t>JNTUA</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Approved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AICTE)</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0" dirty="0">
                <a:latin typeface="Times New Roman"/>
                <a:cs typeface="Times New Roman"/>
              </a:rPr>
              <a:t> </a:t>
            </a:r>
            <a:r>
              <a:rPr sz="950" b="1" dirty="0">
                <a:latin typeface="Times New Roman"/>
                <a:cs typeface="Times New Roman"/>
              </a:rPr>
              <a:t>NAAC</a:t>
            </a:r>
            <a:r>
              <a:rPr sz="950" b="1" spc="-20" dirty="0">
                <a:latin typeface="Times New Roman"/>
                <a:cs typeface="Times New Roman"/>
              </a:rPr>
              <a:t> </a:t>
            </a:r>
            <a:r>
              <a:rPr sz="950" b="1" dirty="0">
                <a:latin typeface="Times New Roman"/>
                <a:cs typeface="Times New Roman"/>
              </a:rPr>
              <a:t>with</a:t>
            </a:r>
            <a:r>
              <a:rPr sz="950" b="1" spc="-25" dirty="0">
                <a:latin typeface="Times New Roman"/>
                <a:cs typeface="Times New Roman"/>
              </a:rPr>
              <a:t> </a:t>
            </a:r>
            <a:r>
              <a:rPr sz="950" b="1" dirty="0">
                <a:latin typeface="Times New Roman"/>
                <a:cs typeface="Times New Roman"/>
              </a:rPr>
              <a:t>‘A’</a:t>
            </a:r>
            <a:r>
              <a:rPr sz="950" b="1" spc="-20" dirty="0">
                <a:latin typeface="Times New Roman"/>
                <a:cs typeface="Times New Roman"/>
              </a:rPr>
              <a:t> </a:t>
            </a:r>
            <a:r>
              <a:rPr sz="950" b="1" dirty="0">
                <a:latin typeface="Times New Roman"/>
                <a:cs typeface="Times New Roman"/>
              </a:rPr>
              <a:t>Grade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a:t>
            </a:r>
            <a:r>
              <a:rPr sz="950" b="1" spc="-10" dirty="0">
                <a:latin typeface="Times New Roman"/>
                <a:cs typeface="Times New Roman"/>
              </a:rPr>
              <a:t>Accredited</a:t>
            </a:r>
            <a:r>
              <a:rPr sz="950" b="1" spc="-20" dirty="0">
                <a:latin typeface="Times New Roman"/>
                <a:cs typeface="Times New Roman"/>
              </a:rPr>
              <a:t> </a:t>
            </a:r>
            <a:r>
              <a:rPr sz="950" b="1" dirty="0">
                <a:latin typeface="Times New Roman"/>
                <a:cs typeface="Times New Roman"/>
              </a:rPr>
              <a:t>by</a:t>
            </a:r>
            <a:r>
              <a:rPr sz="950" b="1" spc="-25" dirty="0">
                <a:latin typeface="Times New Roman"/>
                <a:cs typeface="Times New Roman"/>
              </a:rPr>
              <a:t> </a:t>
            </a:r>
            <a:r>
              <a:rPr sz="950" b="1" dirty="0">
                <a:latin typeface="Times New Roman"/>
                <a:cs typeface="Times New Roman"/>
              </a:rPr>
              <a:t>NBA</a:t>
            </a:r>
            <a:r>
              <a:rPr sz="950" b="1" spc="-20" dirty="0">
                <a:latin typeface="Times New Roman"/>
                <a:cs typeface="Times New Roman"/>
              </a:rPr>
              <a:t> </a:t>
            </a:r>
            <a:r>
              <a:rPr sz="950" b="1" dirty="0">
                <a:latin typeface="Times New Roman"/>
                <a:cs typeface="Times New Roman"/>
              </a:rPr>
              <a:t>(EEE,</a:t>
            </a:r>
            <a:r>
              <a:rPr sz="950" b="1" spc="-20" dirty="0">
                <a:latin typeface="Times New Roman"/>
                <a:cs typeface="Times New Roman"/>
              </a:rPr>
              <a:t> </a:t>
            </a:r>
            <a:r>
              <a:rPr sz="950" b="1" dirty="0">
                <a:latin typeface="Times New Roman"/>
                <a:cs typeface="Times New Roman"/>
              </a:rPr>
              <a:t>ECE</a:t>
            </a:r>
            <a:r>
              <a:rPr sz="950" b="1" spc="-20" dirty="0">
                <a:latin typeface="Times New Roman"/>
                <a:cs typeface="Times New Roman"/>
              </a:rPr>
              <a:t> </a:t>
            </a:r>
            <a:r>
              <a:rPr sz="950" b="1" dirty="0">
                <a:latin typeface="Times New Roman"/>
                <a:cs typeface="Times New Roman"/>
              </a:rPr>
              <a:t>&amp;</a:t>
            </a:r>
            <a:r>
              <a:rPr sz="950" b="1" spc="-20" dirty="0">
                <a:latin typeface="Times New Roman"/>
                <a:cs typeface="Times New Roman"/>
              </a:rPr>
              <a:t> CSE)</a:t>
            </a:r>
            <a:endParaRPr sz="950" dirty="0">
              <a:latin typeface="Times New Roman"/>
              <a:cs typeface="Times New Roman"/>
            </a:endParaRPr>
          </a:p>
          <a:p>
            <a:pPr marL="5715" algn="ctr">
              <a:lnSpc>
                <a:spcPts val="1180"/>
              </a:lnSpc>
            </a:pPr>
            <a:r>
              <a:rPr sz="1000" b="1" dirty="0">
                <a:latin typeface="Times New Roman"/>
                <a:cs typeface="Times New Roman"/>
              </a:rPr>
              <a:t>Rotarypuram</a:t>
            </a:r>
            <a:r>
              <a:rPr sz="1000" b="1" spc="95" dirty="0">
                <a:latin typeface="Times New Roman"/>
                <a:cs typeface="Times New Roman"/>
              </a:rPr>
              <a:t> </a:t>
            </a:r>
            <a:r>
              <a:rPr sz="1000" b="1" dirty="0">
                <a:latin typeface="Times New Roman"/>
                <a:cs typeface="Times New Roman"/>
              </a:rPr>
              <a:t>Village,</a:t>
            </a:r>
            <a:r>
              <a:rPr sz="1000" b="1" spc="100" dirty="0">
                <a:latin typeface="Times New Roman"/>
                <a:cs typeface="Times New Roman"/>
              </a:rPr>
              <a:t> </a:t>
            </a:r>
            <a:r>
              <a:rPr sz="1000" b="1" dirty="0">
                <a:latin typeface="Times New Roman"/>
                <a:cs typeface="Times New Roman"/>
              </a:rPr>
              <a:t>B</a:t>
            </a:r>
            <a:r>
              <a:rPr sz="1000" b="1" spc="95" dirty="0">
                <a:latin typeface="Times New Roman"/>
                <a:cs typeface="Times New Roman"/>
              </a:rPr>
              <a:t> </a:t>
            </a:r>
            <a:r>
              <a:rPr sz="1000" b="1" dirty="0">
                <a:latin typeface="Times New Roman"/>
                <a:cs typeface="Times New Roman"/>
              </a:rPr>
              <a:t>K</a:t>
            </a:r>
            <a:r>
              <a:rPr sz="1000" b="1" spc="100" dirty="0">
                <a:latin typeface="Times New Roman"/>
                <a:cs typeface="Times New Roman"/>
              </a:rPr>
              <a:t> </a:t>
            </a:r>
            <a:r>
              <a:rPr sz="1000" b="1" dirty="0">
                <a:latin typeface="Times New Roman"/>
                <a:cs typeface="Times New Roman"/>
              </a:rPr>
              <a:t>Samudram</a:t>
            </a:r>
            <a:r>
              <a:rPr sz="1000" b="1" spc="100" dirty="0">
                <a:latin typeface="Times New Roman"/>
                <a:cs typeface="Times New Roman"/>
              </a:rPr>
              <a:t> </a:t>
            </a:r>
            <a:r>
              <a:rPr sz="1000" b="1" dirty="0">
                <a:latin typeface="Times New Roman"/>
                <a:cs typeface="Times New Roman"/>
              </a:rPr>
              <a:t>Mandal,</a:t>
            </a:r>
            <a:r>
              <a:rPr sz="1000" b="1" spc="95" dirty="0">
                <a:latin typeface="Times New Roman"/>
                <a:cs typeface="Times New Roman"/>
              </a:rPr>
              <a:t> </a:t>
            </a:r>
            <a:r>
              <a:rPr sz="1000" b="1" dirty="0">
                <a:latin typeface="Times New Roman"/>
                <a:cs typeface="Times New Roman"/>
              </a:rPr>
              <a:t>Ananthapuramu</a:t>
            </a:r>
            <a:r>
              <a:rPr sz="1000" b="1" spc="100" dirty="0">
                <a:latin typeface="Times New Roman"/>
                <a:cs typeface="Times New Roman"/>
              </a:rPr>
              <a:t> </a:t>
            </a:r>
            <a:r>
              <a:rPr sz="1000" b="1" dirty="0">
                <a:latin typeface="Times New Roman"/>
                <a:cs typeface="Times New Roman"/>
              </a:rPr>
              <a:t>–</a:t>
            </a:r>
            <a:r>
              <a:rPr sz="1000" b="1" spc="95" dirty="0">
                <a:latin typeface="Times New Roman"/>
                <a:cs typeface="Times New Roman"/>
              </a:rPr>
              <a:t> </a:t>
            </a:r>
            <a:r>
              <a:rPr sz="1000" b="1" spc="-10" dirty="0">
                <a:latin typeface="Times New Roman"/>
                <a:cs typeface="Times New Roman"/>
              </a:rPr>
              <a:t>515701.</a:t>
            </a:r>
            <a:endParaRPr sz="1000" dirty="0">
              <a:latin typeface="Times New Roman"/>
              <a:cs typeface="Times New Roman"/>
            </a:endParaRPr>
          </a:p>
          <a:p>
            <a:pPr marL="5080" algn="ctr">
              <a:lnSpc>
                <a:spcPct val="100000"/>
              </a:lnSpc>
              <a:spcBef>
                <a:spcPts val="630"/>
              </a:spcBef>
            </a:pPr>
            <a:r>
              <a:rPr sz="1100" b="1" dirty="0">
                <a:solidFill>
                  <a:srgbClr val="1E4E78"/>
                </a:solidFill>
                <a:latin typeface="Times New Roman"/>
                <a:cs typeface="Times New Roman"/>
              </a:rPr>
              <a:t>202</a:t>
            </a:r>
            <a:r>
              <a:rPr lang="en-IN" sz="1100" b="1" dirty="0">
                <a:solidFill>
                  <a:srgbClr val="1E4E78"/>
                </a:solidFill>
                <a:latin typeface="Times New Roman"/>
                <a:cs typeface="Times New Roman"/>
              </a:rPr>
              <a:t>5</a:t>
            </a:r>
            <a:r>
              <a:rPr sz="1100" b="1" spc="30" dirty="0">
                <a:solidFill>
                  <a:srgbClr val="1E4E78"/>
                </a:solidFill>
                <a:latin typeface="Times New Roman"/>
                <a:cs typeface="Times New Roman"/>
              </a:rPr>
              <a:t> </a:t>
            </a:r>
            <a:r>
              <a:rPr sz="1100" b="1" dirty="0">
                <a:solidFill>
                  <a:srgbClr val="1E4E78"/>
                </a:solidFill>
                <a:latin typeface="Times New Roman"/>
                <a:cs typeface="Times New Roman"/>
              </a:rPr>
              <a:t>-</a:t>
            </a:r>
            <a:r>
              <a:rPr sz="1100" b="1" spc="30" dirty="0">
                <a:solidFill>
                  <a:srgbClr val="1E4E78"/>
                </a:solidFill>
                <a:latin typeface="Times New Roman"/>
                <a:cs typeface="Times New Roman"/>
              </a:rPr>
              <a:t> </a:t>
            </a:r>
            <a:r>
              <a:rPr sz="1100" b="1" spc="-20" dirty="0">
                <a:solidFill>
                  <a:srgbClr val="1E4E78"/>
                </a:solidFill>
                <a:latin typeface="Times New Roman"/>
                <a:cs typeface="Times New Roman"/>
              </a:rPr>
              <a:t>202</a:t>
            </a:r>
            <a:r>
              <a:rPr lang="en-IN" sz="1100" b="1" spc="-20" dirty="0">
                <a:solidFill>
                  <a:srgbClr val="1E4E78"/>
                </a:solidFill>
                <a:latin typeface="Times New Roman"/>
                <a:cs typeface="Times New Roman"/>
              </a:rPr>
              <a:t>6</a:t>
            </a:r>
            <a:endParaRPr sz="1100" dirty="0">
              <a:latin typeface="Times New Roman"/>
              <a:cs typeface="Times New Roman"/>
            </a:endParaRPr>
          </a:p>
        </p:txBody>
      </p:sp>
      <p:sp>
        <p:nvSpPr>
          <p:cNvPr id="12" name="object 12"/>
          <p:cNvSpPr txBox="1"/>
          <p:nvPr/>
        </p:nvSpPr>
        <p:spPr>
          <a:xfrm>
            <a:off x="3131191" y="1663046"/>
            <a:ext cx="2211174" cy="598241"/>
          </a:xfrm>
          <a:prstGeom prst="rect">
            <a:avLst/>
          </a:prstGeom>
        </p:spPr>
        <p:txBody>
          <a:bodyPr vert="horz" wrap="square" lIns="0" tIns="13335" rIns="0" bIns="0" rtlCol="0" anchor="t">
            <a:spAutoFit/>
          </a:bodyPr>
          <a:lstStyle/>
          <a:p>
            <a:pPr algn="ctr">
              <a:lnSpc>
                <a:spcPct val="100000"/>
              </a:lnSpc>
              <a:spcBef>
                <a:spcPts val="105"/>
              </a:spcBef>
            </a:pPr>
            <a:r>
              <a:rPr lang="en-IN" sz="2400" dirty="0">
                <a:latin typeface="Times New Roman"/>
                <a:cs typeface="Times New Roman"/>
              </a:rPr>
              <a:t>P. Poojitha</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a:latin typeface="Times New Roman"/>
                <a:cs typeface="Times New Roman"/>
              </a:rPr>
              <a:t>24G1A3371</a:t>
            </a:r>
            <a:endParaRPr sz="1400" dirty="0">
              <a:latin typeface="Times New Roman"/>
              <a:cs typeface="Times New Roman"/>
            </a:endParaRPr>
          </a:p>
        </p:txBody>
      </p:sp>
      <p:sp>
        <p:nvSpPr>
          <p:cNvPr id="13" name="object 13"/>
          <p:cNvSpPr txBox="1"/>
          <p:nvPr/>
        </p:nvSpPr>
        <p:spPr>
          <a:xfrm>
            <a:off x="8193817" y="1665723"/>
            <a:ext cx="2819400" cy="611065"/>
          </a:xfrm>
          <a:prstGeom prst="rect">
            <a:avLst/>
          </a:prstGeom>
        </p:spPr>
        <p:txBody>
          <a:bodyPr vert="horz" wrap="square" lIns="0" tIns="13335" rIns="0" bIns="0" rtlCol="0" anchor="t">
            <a:spAutoFit/>
          </a:bodyPr>
          <a:lstStyle/>
          <a:p>
            <a:pPr algn="ctr">
              <a:spcBef>
                <a:spcPts val="105"/>
              </a:spcBef>
            </a:pPr>
            <a:r>
              <a:rPr lang="en-IN" sz="2400" spc="-30" dirty="0">
                <a:latin typeface="Times New Roman"/>
                <a:cs typeface="Times New Roman"/>
              </a:rPr>
              <a:t> </a:t>
            </a:r>
            <a:r>
              <a:rPr lang="en-IN" sz="2400" spc="-30" dirty="0" smtClean="0">
                <a:latin typeface="Times New Roman"/>
                <a:cs typeface="Times New Roman"/>
              </a:rPr>
              <a:t>M. </a:t>
            </a:r>
            <a:r>
              <a:rPr lang="en-IN" sz="2400" spc="-30" dirty="0" err="1" smtClean="0">
                <a:latin typeface="Times New Roman"/>
                <a:cs typeface="Times New Roman"/>
              </a:rPr>
              <a:t>Saipriya</a:t>
            </a:r>
            <a:endParaRPr lang="en-IN" sz="1100" spc="-10" dirty="0">
              <a:latin typeface="Times New Roman"/>
              <a:cs typeface="Times New Roman"/>
            </a:endParaRPr>
          </a:p>
          <a:p>
            <a:pPr algn="ctr">
              <a:spcBef>
                <a:spcPts val="105"/>
              </a:spcBef>
            </a:pPr>
            <a:r>
              <a:rPr sz="1400" dirty="0">
                <a:latin typeface="Times New Roman"/>
                <a:cs typeface="Times New Roman"/>
              </a:rPr>
              <a:t>Roll No. </a:t>
            </a:r>
            <a:r>
              <a:rPr lang="en-US" sz="1400" spc="-10" smtClean="0">
                <a:latin typeface="Times New Roman"/>
                <a:cs typeface="Times New Roman"/>
              </a:rPr>
              <a:t>224G1A3390</a:t>
            </a:r>
            <a:endParaRPr lang="en-IN" sz="1400" spc="-10" dirty="0">
              <a:latin typeface="Times New Roman"/>
              <a:cs typeface="Times New Roman"/>
            </a:endParaRPr>
          </a:p>
        </p:txBody>
      </p:sp>
      <p:sp>
        <p:nvSpPr>
          <p:cNvPr id="14" name="object 14"/>
          <p:cNvSpPr txBox="1"/>
          <p:nvPr/>
        </p:nvSpPr>
        <p:spPr>
          <a:xfrm>
            <a:off x="697859" y="1672134"/>
            <a:ext cx="2345821" cy="598241"/>
          </a:xfrm>
          <a:prstGeom prst="rect">
            <a:avLst/>
          </a:prstGeom>
        </p:spPr>
        <p:txBody>
          <a:bodyPr vert="horz" wrap="square" lIns="0" tIns="13335" rIns="0" bIns="0" rtlCol="0" anchor="t">
            <a:spAutoFit/>
          </a:bodyPr>
          <a:lstStyle/>
          <a:p>
            <a:pPr algn="ctr">
              <a:lnSpc>
                <a:spcPct val="100000"/>
              </a:lnSpc>
              <a:spcBef>
                <a:spcPts val="105"/>
              </a:spcBef>
            </a:pPr>
            <a:r>
              <a:rPr lang="en-IN" sz="2400" spc="-50" dirty="0" smtClean="0">
                <a:latin typeface="Times New Roman"/>
                <a:cs typeface="Times New Roman"/>
              </a:rPr>
              <a:t>D. </a:t>
            </a:r>
            <a:r>
              <a:rPr lang="en-IN" sz="2400" spc="-50" dirty="0" err="1" smtClean="0">
                <a:latin typeface="Times New Roman"/>
                <a:cs typeface="Times New Roman"/>
              </a:rPr>
              <a:t>Prashanth</a:t>
            </a:r>
            <a:endParaRPr sz="2400" dirty="0">
              <a:latin typeface="Times New Roman"/>
              <a:cs typeface="Times New Roman"/>
            </a:endParaRPr>
          </a:p>
          <a:p>
            <a:pPr marL="1905" algn="ctr">
              <a:lnSpc>
                <a:spcPct val="100000"/>
              </a:lnSpc>
              <a:spcBef>
                <a:spcPts val="35"/>
              </a:spcBef>
            </a:pPr>
            <a:r>
              <a:rPr sz="1400" dirty="0">
                <a:latin typeface="Times New Roman"/>
                <a:cs typeface="Times New Roman"/>
              </a:rPr>
              <a:t>Roll No. </a:t>
            </a:r>
            <a:r>
              <a:rPr sz="1400" spc="-10" dirty="0">
                <a:latin typeface="Times New Roman"/>
                <a:cs typeface="Times New Roman"/>
              </a:rPr>
              <a:t>2</a:t>
            </a:r>
            <a:r>
              <a:rPr lang="en-IN" sz="1400" spc="-10" dirty="0" smtClean="0">
                <a:latin typeface="Times New Roman"/>
                <a:cs typeface="Times New Roman"/>
              </a:rPr>
              <a:t>24G1A3374</a:t>
            </a:r>
            <a:endParaRPr sz="1400" dirty="0">
              <a:latin typeface="Times New Roman"/>
              <a:cs typeface="Times New Roman"/>
            </a:endParaRPr>
          </a:p>
        </p:txBody>
      </p:sp>
      <p:grpSp>
        <p:nvGrpSpPr>
          <p:cNvPr id="15" name="object 15"/>
          <p:cNvGrpSpPr/>
          <p:nvPr/>
        </p:nvGrpSpPr>
        <p:grpSpPr>
          <a:xfrm>
            <a:off x="697859" y="297171"/>
            <a:ext cx="10642600" cy="972185"/>
            <a:chOff x="697859" y="297171"/>
            <a:chExt cx="10642600" cy="972185"/>
          </a:xfrm>
        </p:grpSpPr>
        <p:pic>
          <p:nvPicPr>
            <p:cNvPr id="16" name="object 16"/>
            <p:cNvPicPr/>
            <p:nvPr/>
          </p:nvPicPr>
          <p:blipFill>
            <a:blip r:embed="rId3"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8" name="object 18"/>
          <p:cNvSpPr txBox="1">
            <a:spLocks noGrp="1"/>
          </p:cNvSpPr>
          <p:nvPr>
            <p:ph type="title"/>
          </p:nvPr>
        </p:nvSpPr>
        <p:spPr>
          <a:xfrm>
            <a:off x="1291835" y="501570"/>
            <a:ext cx="9525000" cy="443711"/>
          </a:xfrm>
          <a:prstGeom prst="rect">
            <a:avLst/>
          </a:prstGeom>
        </p:spPr>
        <p:txBody>
          <a:bodyPr vert="horz" wrap="square" lIns="0" tIns="12700" rIns="0" bIns="0" rtlCol="0" anchor="t">
            <a:spAutoFit/>
          </a:bodyPr>
          <a:lstStyle/>
          <a:p>
            <a:pPr marL="12700" algn="ctr">
              <a:spcBef>
                <a:spcPts val="100"/>
              </a:spcBef>
            </a:pPr>
            <a:r>
              <a:rPr lang="en-US" sz="2800" dirty="0"/>
              <a:t>Secure Digital Forensic Evidence Storage System</a:t>
            </a:r>
            <a:endParaRPr lang="en-IN" sz="2500" dirty="0"/>
          </a:p>
        </p:txBody>
      </p:sp>
      <p:sp>
        <p:nvSpPr>
          <p:cNvPr id="19" name="object 19"/>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4" cstate="print"/>
          <a:stretch>
            <a:fillRect/>
          </a:stretch>
        </p:blipFill>
        <p:spPr>
          <a:xfrm>
            <a:off x="5273238" y="3560742"/>
            <a:ext cx="1659050" cy="1578160"/>
          </a:xfrm>
          <a:prstGeom prst="rect">
            <a:avLst/>
          </a:prstGeom>
        </p:spPr>
      </p:pic>
      <p:sp>
        <p:nvSpPr>
          <p:cNvPr id="27" name="TextBox 26">
            <a:extLst>
              <a:ext uri="{FF2B5EF4-FFF2-40B4-BE49-F238E27FC236}">
                <a16:creationId xmlns="" xmlns:a16="http://schemas.microsoft.com/office/drawing/2014/main" id="{359CF6B6-5F8C-ABC8-2607-C8A5865035DA}"/>
              </a:ext>
            </a:extLst>
          </p:cNvPr>
          <p:cNvSpPr txBox="1"/>
          <p:nvPr/>
        </p:nvSpPr>
        <p:spPr>
          <a:xfrm>
            <a:off x="6668924" y="6587523"/>
            <a:ext cx="4931113" cy="323165"/>
          </a:xfrm>
          <a:prstGeom prst="rect">
            <a:avLst/>
          </a:prstGeom>
          <a:noFill/>
        </p:spPr>
        <p:txBody>
          <a:bodyPr wrap="square">
            <a:spAutoFit/>
          </a:bodyPr>
          <a:lstStyle/>
          <a:p>
            <a:pPr marL="12700">
              <a:lnSpc>
                <a:spcPts val="1845"/>
              </a:lnSpc>
            </a:pPr>
            <a:r>
              <a:rPr lang="en-US" sz="1600" cap="small" spc="-105" dirty="0">
                <a:solidFill>
                  <a:srgbClr val="FFFFFF"/>
                </a:solidFill>
                <a:latin typeface="Times New Roman"/>
                <a:cs typeface="Times New Roman"/>
              </a:rPr>
              <a:t>    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p:txBody>
      </p:sp>
      <p:sp>
        <p:nvSpPr>
          <p:cNvPr id="21" name="object 12">
            <a:extLst>
              <a:ext uri="{FF2B5EF4-FFF2-40B4-BE49-F238E27FC236}">
                <a16:creationId xmlns="" xmlns:a16="http://schemas.microsoft.com/office/drawing/2014/main" id="{15A9E691-713E-A339-E7FB-17342247BA5D}"/>
              </a:ext>
            </a:extLst>
          </p:cNvPr>
          <p:cNvSpPr txBox="1">
            <a:spLocks noGrp="1"/>
          </p:cNvSpPr>
          <p:nvPr>
            <p:ph type="sldNum" sz="quarter" idx="7"/>
          </p:nvPr>
        </p:nvSpPr>
        <p:spPr>
          <a:xfrm>
            <a:off x="11858823" y="6675966"/>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30412"/>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3820616" cy="689932"/>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2</a:t>
            </a:r>
            <a:endParaRPr sz="1600" dirty="0">
              <a:latin typeface="Times New Roman"/>
              <a:cs typeface="Times New Roman"/>
            </a:endParaRPr>
          </a:p>
        </p:txBody>
      </p:sp>
      <p:sp>
        <p:nvSpPr>
          <p:cNvPr id="7" name="object 7"/>
          <p:cNvSpPr txBox="1"/>
          <p:nvPr/>
        </p:nvSpPr>
        <p:spPr>
          <a:xfrm>
            <a:off x="304800" y="921561"/>
            <a:ext cx="8437148" cy="6550511"/>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Review Remarks</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Abstract</a:t>
            </a:r>
            <a:endParaRPr lang="en-US" sz="22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Objectives of Project</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Literature survey for </a:t>
            </a:r>
            <a:r>
              <a:rPr lang="en-US" sz="2200" dirty="0" smtClean="0">
                <a:latin typeface="Times New Roman" panose="02020603050405020304" pitchFamily="18" charset="0"/>
                <a:cs typeface="Times New Roman" panose="02020603050405020304" pitchFamily="18" charset="0"/>
              </a:rPr>
              <a:t>Objectives</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I</a:t>
            </a:r>
            <a:r>
              <a:rPr lang="en-US" sz="2200" dirty="0" smtClean="0">
                <a:latin typeface="Times New Roman" panose="02020603050405020304" pitchFamily="18" charset="0"/>
                <a:cs typeface="Times New Roman" panose="02020603050405020304" pitchFamily="18" charset="0"/>
              </a:rPr>
              <a:t>ntroduction</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Planning</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Requirements</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Data Flow Diagrams</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Data Preprocessing Techniques</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Sample Code</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Project Output</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References</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GitHub</a:t>
            </a:r>
            <a:r>
              <a:rPr lang="en-US" sz="2200" dirty="0" smtClean="0">
                <a:latin typeface="Times New Roman" panose="02020603050405020304" pitchFamily="18" charset="0"/>
                <a:cs typeface="Times New Roman" panose="02020603050405020304" pitchFamily="18" charset="0"/>
              </a:rPr>
              <a:t> Link</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Queries</a:t>
            </a:r>
          </a:p>
          <a:p>
            <a:pPr marL="342900" indent="-342900">
              <a:buFont typeface="Arial" panose="020B0604020202020204" pitchFamily="34" charset="0"/>
              <a:buChar char="•"/>
            </a:pPr>
            <a:endParaRPr lang="en-US" sz="2200" dirty="0" smtClean="0">
              <a:latin typeface="Times New Roman" panose="02020603050405020304" pitchFamily="18" charset="0"/>
              <a:cs typeface="Times New Roman" panose="02020603050405020304" pitchFamily="18" charset="0"/>
            </a:endParaRPr>
          </a:p>
          <a:p>
            <a:pPr marL="469900" indent="-457200">
              <a:lnSpc>
                <a:spcPct val="100000"/>
              </a:lnSpc>
              <a:spcBef>
                <a:spcPts val="100"/>
              </a:spcBef>
              <a:buFont typeface="Arial" panose="020B0604020202020204" pitchFamily="34" charset="0"/>
              <a:buChar char="•"/>
              <a:tabLst>
                <a:tab pos="421005" algn="l"/>
              </a:tabLst>
            </a:pPr>
            <a:endParaRPr sz="2800" dirty="0">
              <a:latin typeface="Times New Roman"/>
              <a:cs typeface="Times New Roman"/>
            </a:endParaRPr>
          </a:p>
        </p:txBody>
      </p:sp>
      <p:sp>
        <p:nvSpPr>
          <p:cNvPr id="12" name="object 2">
            <a:extLst>
              <a:ext uri="{FF2B5EF4-FFF2-40B4-BE49-F238E27FC236}">
                <a16:creationId xmlns="" xmlns:a16="http://schemas.microsoft.com/office/drawing/2014/main" id="{FDA4E3D9-FF78-45E3-9BC4-8D72D4A74DD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lang="en-IN" sz="1500" b="1" spc="-10" dirty="0">
              <a:solidFill>
                <a:schemeClr val="bg1"/>
              </a:solidFill>
              <a:latin typeface="Times New Roman"/>
              <a:cs typeface="Times New Roman"/>
            </a:endParaRPr>
          </a:p>
        </p:txBody>
      </p:sp>
      <p:sp>
        <p:nvSpPr>
          <p:cNvPr id="16" name="TextBox 15">
            <a:extLst>
              <a:ext uri="{FF2B5EF4-FFF2-40B4-BE49-F238E27FC236}">
                <a16:creationId xmlns="" xmlns:a16="http://schemas.microsoft.com/office/drawing/2014/main"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a:t>
            </a:r>
            <a:r>
              <a:rPr lang="en-IN" sz="1600" dirty="0">
                <a:solidFill>
                  <a:schemeClr val="bg1"/>
                </a:solidFill>
              </a:rPr>
              <a:t>16</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30412"/>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14744" y="293973"/>
            <a:ext cx="4457256" cy="689932"/>
          </a:xfrm>
          <a:prstGeom prst="rect">
            <a:avLst/>
          </a:prstGeom>
        </p:spPr>
        <p:txBody>
          <a:bodyPr vert="horz" wrap="square" lIns="0" tIns="12700" rIns="0" bIns="0" rtlCol="0">
            <a:spAutoFit/>
          </a:bodyPr>
          <a:lstStyle/>
          <a:p>
            <a:pPr marL="12700">
              <a:lnSpc>
                <a:spcPct val="100000"/>
              </a:lnSpc>
              <a:spcBef>
                <a:spcPts val="100"/>
              </a:spcBef>
            </a:pPr>
            <a:r>
              <a:rPr lang="en-US" spc="-10" dirty="0" smtClean="0"/>
              <a:t>Review Remarks</a:t>
            </a:r>
            <a:endParaRPr spc="-10" dirty="0"/>
          </a:p>
        </p:txBody>
      </p:sp>
      <p:sp>
        <p:nvSpPr>
          <p:cNvPr id="9" name="object 9"/>
          <p:cNvSpPr txBox="1">
            <a:spLocks noGrp="1"/>
          </p:cNvSpPr>
          <p:nvPr>
            <p:ph type="dt" sz="half" idx="6"/>
          </p:nvPr>
        </p:nvSpPr>
        <p:spPr>
          <a:xfrm>
            <a:off x="1074848" y="6625241"/>
            <a:ext cx="6306202"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10" name="object 10"/>
          <p:cNvSpPr txBox="1"/>
          <p:nvPr/>
        </p:nvSpPr>
        <p:spPr>
          <a:xfrm>
            <a:off x="6682329" y="6651444"/>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p:nvPr/>
        </p:nvSpPr>
        <p:spPr>
          <a:xfrm>
            <a:off x="11909611" y="6629309"/>
            <a:ext cx="127000" cy="230832"/>
          </a:xfrm>
          <a:prstGeom prst="rect">
            <a:avLst/>
          </a:prstGeom>
        </p:spPr>
        <p:txBody>
          <a:bodyPr vert="horz" wrap="square" lIns="0" tIns="0" rIns="0" bIns="0" rtlCol="0">
            <a:spAutoFit/>
          </a:bodyPr>
          <a:lstStyle/>
          <a:p>
            <a:pPr marL="12700">
              <a:lnSpc>
                <a:spcPts val="1845"/>
              </a:lnSpc>
            </a:pPr>
            <a:r>
              <a:rPr lang="en-IN" sz="1600" b="1" spc="-50" dirty="0">
                <a:solidFill>
                  <a:srgbClr val="002060"/>
                </a:solidFill>
                <a:latin typeface="Times New Roman"/>
                <a:cs typeface="Times New Roman"/>
              </a:rPr>
              <a:t>3</a:t>
            </a:r>
            <a:endParaRPr sz="1600" dirty="0">
              <a:latin typeface="Times New Roman"/>
              <a:cs typeface="Times New Roman"/>
            </a:endParaRPr>
          </a:p>
        </p:txBody>
      </p:sp>
      <p:sp>
        <p:nvSpPr>
          <p:cNvPr id="7" name="object 7"/>
          <p:cNvSpPr txBox="1"/>
          <p:nvPr/>
        </p:nvSpPr>
        <p:spPr>
          <a:xfrm>
            <a:off x="304800" y="921561"/>
            <a:ext cx="8437148" cy="795089"/>
          </a:xfrm>
          <a:prstGeom prst="rect">
            <a:avLst/>
          </a:prstGeom>
        </p:spPr>
        <p:txBody>
          <a:bodyPr vert="horz" wrap="square" lIns="0" tIns="12700" rIns="0" bIns="0" rtlCol="0">
            <a:spAutoFit/>
          </a:bodyPr>
          <a:lstStyle/>
          <a:p>
            <a:endParaRPr lang="en-US" sz="2200" dirty="0" smtClean="0">
              <a:latin typeface="Times New Roman" panose="02020603050405020304" pitchFamily="18" charset="0"/>
              <a:cs typeface="Times New Roman" panose="02020603050405020304" pitchFamily="18" charset="0"/>
            </a:endParaRPr>
          </a:p>
          <a:p>
            <a:pPr marL="469900" indent="-457200">
              <a:lnSpc>
                <a:spcPct val="100000"/>
              </a:lnSpc>
              <a:spcBef>
                <a:spcPts val="100"/>
              </a:spcBef>
              <a:buFont typeface="Arial" panose="020B0604020202020204" pitchFamily="34" charset="0"/>
              <a:buChar char="•"/>
              <a:tabLst>
                <a:tab pos="421005" algn="l"/>
              </a:tabLst>
            </a:pPr>
            <a:endParaRPr sz="2800" dirty="0">
              <a:latin typeface="Times New Roman"/>
              <a:cs typeface="Times New Roman"/>
            </a:endParaRPr>
          </a:p>
        </p:txBody>
      </p:sp>
      <p:sp>
        <p:nvSpPr>
          <p:cNvPr id="12" name="object 2">
            <a:extLst>
              <a:ext uri="{FF2B5EF4-FFF2-40B4-BE49-F238E27FC236}">
                <a16:creationId xmlns="" xmlns:a16="http://schemas.microsoft.com/office/drawing/2014/main" id="{FDA4E3D9-FF78-45E3-9BC4-8D72D4A74DD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lang="en-IN" sz="1500" b="1" spc="-10" dirty="0">
              <a:solidFill>
                <a:schemeClr val="bg1"/>
              </a:solidFill>
              <a:latin typeface="Times New Roman"/>
              <a:cs typeface="Times New Roman"/>
            </a:endParaRPr>
          </a:p>
        </p:txBody>
      </p:sp>
      <p:sp>
        <p:nvSpPr>
          <p:cNvPr id="16" name="TextBox 15">
            <a:extLst>
              <a:ext uri="{FF2B5EF4-FFF2-40B4-BE49-F238E27FC236}">
                <a16:creationId xmlns="" xmlns:a16="http://schemas.microsoft.com/office/drawing/2014/main" id="{23B7749F-2B78-62D7-ECE8-B0BE94DF57EE}"/>
              </a:ext>
            </a:extLst>
          </p:cNvPr>
          <p:cNvSpPr txBox="1"/>
          <p:nvPr/>
        </p:nvSpPr>
        <p:spPr>
          <a:xfrm>
            <a:off x="104600" y="6581123"/>
            <a:ext cx="914400" cy="338554"/>
          </a:xfrm>
          <a:prstGeom prst="rect">
            <a:avLst/>
          </a:prstGeom>
          <a:noFill/>
        </p:spPr>
        <p:txBody>
          <a:bodyPr wrap="square" rtlCol="0">
            <a:spAutoFit/>
          </a:bodyPr>
          <a:lstStyle/>
          <a:p>
            <a:r>
              <a:rPr lang="en-IN" sz="1600" dirty="0">
                <a:solidFill>
                  <a:schemeClr val="bg1"/>
                </a:solidFill>
                <a:latin typeface="Times New Roman" panose="02020603050405020304" pitchFamily="18" charset="0"/>
                <a:cs typeface="Times New Roman" panose="02020603050405020304" pitchFamily="18" charset="0"/>
              </a:rPr>
              <a:t>B-</a:t>
            </a:r>
            <a:r>
              <a:rPr lang="en-IN" sz="1600" dirty="0">
                <a:solidFill>
                  <a:schemeClr val="bg1"/>
                </a:solidFill>
              </a:rPr>
              <a:t>16</a:t>
            </a:r>
          </a:p>
        </p:txBody>
      </p:sp>
      <p:sp>
        <p:nvSpPr>
          <p:cNvPr id="18" name="Rectangle 17"/>
          <p:cNvSpPr/>
          <p:nvPr/>
        </p:nvSpPr>
        <p:spPr>
          <a:xfrm>
            <a:off x="385762" y="1412786"/>
            <a:ext cx="9367837" cy="3416320"/>
          </a:xfrm>
          <a:prstGeom prst="rect">
            <a:avLst/>
          </a:prstGeom>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tabLst/>
            </a:pPr>
            <a:r>
              <a:rPr lang="en-US" sz="2200" b="1" dirty="0" smtClean="0">
                <a:solidFill>
                  <a:schemeClr val="tx1"/>
                </a:solidFill>
                <a:latin typeface="Times New Roman" panose="02020603050405020304" pitchFamily="18" charset="0"/>
                <a:cs typeface="Times New Roman" panose="02020603050405020304" pitchFamily="18" charset="0"/>
              </a:rPr>
              <a:t>Review-0 Remarks:</a:t>
            </a:r>
          </a:p>
          <a:p>
            <a:pPr marL="0" marR="0" lvl="0" indent="0" algn="just" defTabSz="914400" rtl="0" eaLnBrk="0" fontAlgn="base" latinLnBrk="0" hangingPunct="0">
              <a:lnSpc>
                <a:spcPct val="150000"/>
              </a:lnSpc>
              <a:spcBef>
                <a:spcPct val="0"/>
              </a:spcBef>
              <a:spcAft>
                <a:spcPct val="0"/>
              </a:spcAft>
              <a:buClrTx/>
              <a:buSzTx/>
              <a:tabLst/>
            </a:pPr>
            <a:r>
              <a:rPr lang="en-US" sz="2200" dirty="0" smtClean="0">
                <a:solidFill>
                  <a:schemeClr val="tx1"/>
                </a:solidFill>
                <a:latin typeface="Times New Roman" panose="02020603050405020304" pitchFamily="18" charset="0"/>
                <a:cs typeface="Times New Roman" panose="02020603050405020304" pitchFamily="18" charset="0"/>
              </a:rPr>
              <a:t>No remarks</a:t>
            </a:r>
            <a:endParaRPr kumimoji="0" lang="en-US" sz="22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Review-1 Remarks: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Specification of cryptographic key sizes used in the system</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Clear explanation of </a:t>
            </a:r>
            <a:r>
              <a:rPr kumimoji="0" 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blockchain</a:t>
            </a:r>
            <a:r>
              <a:rPr kumimoji="0" lang="en-US" sz="2200"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role in evidence management</a:t>
            </a:r>
          </a:p>
          <a:p>
            <a:pPr algn="just" rtl="0" eaLnBrk="0" fontAlgn="base" hangingPunct="0">
              <a:lnSpc>
                <a:spcPct val="150000"/>
              </a:lnSpc>
              <a:spcBef>
                <a:spcPct val="0"/>
              </a:spcBef>
              <a:spcAft>
                <a:spcPct val="0"/>
              </a:spcAft>
              <a:buFontTx/>
              <a:buChar char="•"/>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Clarification on the decryption mechanism of encrypted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64033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3479092-5EBB-86EC-7548-F3C02E76B315}"/>
            </a:ext>
          </a:extLst>
        </p:cNvPr>
        <p:cNvGrpSpPr/>
        <p:nvPr/>
      </p:nvGrpSpPr>
      <p:grpSpPr>
        <a:xfrm>
          <a:off x="0" y="0"/>
          <a:ext cx="0" cy="0"/>
          <a:chOff x="0" y="0"/>
          <a:chExt cx="0" cy="0"/>
        </a:xfrm>
      </p:grpSpPr>
      <p:sp>
        <p:nvSpPr>
          <p:cNvPr id="6" name="object 6">
            <a:extLst>
              <a:ext uri="{FF2B5EF4-FFF2-40B4-BE49-F238E27FC236}">
                <a16:creationId xmlns="" xmlns:a16="http://schemas.microsoft.com/office/drawing/2014/main" id="{1A78C14C-8960-8D04-FFA5-0EB95274339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 xmlns:a16="http://schemas.microsoft.com/office/drawing/2014/main" id="{2DC6B255-0582-E4F3-D45C-244BEC43F754}"/>
              </a:ext>
            </a:extLst>
          </p:cNvPr>
          <p:cNvSpPr/>
          <p:nvPr/>
        </p:nvSpPr>
        <p:spPr>
          <a:xfrm>
            <a:off x="-989" y="6634572"/>
            <a:ext cx="762989" cy="220979"/>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9" name="object 9">
            <a:extLst>
              <a:ext uri="{FF2B5EF4-FFF2-40B4-BE49-F238E27FC236}">
                <a16:creationId xmlns="" xmlns:a16="http://schemas.microsoft.com/office/drawing/2014/main" id="{AE246CF0-101C-DC74-3F0C-37E64E7C29E0}"/>
              </a:ext>
            </a:extLst>
          </p:cNvPr>
          <p:cNvSpPr txBox="1"/>
          <p:nvPr/>
        </p:nvSpPr>
        <p:spPr>
          <a:xfrm>
            <a:off x="357087" y="1460058"/>
            <a:ext cx="11477823" cy="5044971"/>
          </a:xfrm>
          <a:prstGeom prst="rect">
            <a:avLst/>
          </a:prstGeom>
        </p:spPr>
        <p:txBody>
          <a:bodyPr vert="horz" wrap="square" lIns="0" tIns="12700" rIns="0" bIns="0" rtlCol="0" anchor="t">
            <a:spAutoFit/>
          </a:bodyPr>
          <a:lstStyle/>
          <a:p>
            <a:pPr algn="just">
              <a:lnSpc>
                <a:spcPct val="150000"/>
              </a:lnSpc>
            </a:pPr>
            <a:r>
              <a:rPr lang="en-US" sz="2200" dirty="0" smtClean="0">
                <a:latin typeface="Times New Roman" panose="02020603050405020304" pitchFamily="18" charset="0"/>
                <a:cs typeface="Times New Roman" panose="02020603050405020304" pitchFamily="18" charset="0"/>
              </a:rPr>
              <a:t>Digital forensic investigations require secure and tamper-proof storage of electronic evidence to maintain integrity and legal admissibility. Existing systems lack strong access control, immutable audit trails, and protection against insider attacks. This project proposes a Secure Digital Evidence Storage System using Multi-Factor Authentication, Role-Based Access Control, hybrid cryptographic encryption, and </a:t>
            </a:r>
            <a:r>
              <a:rPr lang="en-US" sz="2200" dirty="0" err="1" smtClean="0">
                <a:latin typeface="Times New Roman" panose="02020603050405020304" pitchFamily="18" charset="0"/>
                <a:cs typeface="Times New Roman" panose="02020603050405020304" pitchFamily="18" charset="0"/>
              </a:rPr>
              <a:t>blockchain</a:t>
            </a:r>
            <a:r>
              <a:rPr lang="en-US" sz="2200" dirty="0" smtClean="0">
                <a:latin typeface="Times New Roman" panose="02020603050405020304" pitchFamily="18" charset="0"/>
                <a:cs typeface="Times New Roman" panose="02020603050405020304" pitchFamily="18" charset="0"/>
              </a:rPr>
              <a:t>-based audit logging. Evidence is encrypted, integrity-verified, and tracked through an immutable chain-of-custody ledger. The system ensures confidentiality, authenticity, and scalability for modern forensic investigations.</a:t>
            </a:r>
          </a:p>
          <a:p>
            <a:pPr algn="just">
              <a:lnSpc>
                <a:spcPct val="150000"/>
              </a:lnSpc>
            </a:pPr>
            <a:r>
              <a:rPr lang="en-US" sz="2200" b="1" dirty="0" smtClean="0">
                <a:latin typeface="Times New Roman" panose="02020603050405020304" pitchFamily="18" charset="0"/>
                <a:cs typeface="Times New Roman" panose="02020603050405020304" pitchFamily="18" charset="0"/>
              </a:rPr>
              <a:t>Keywords</a:t>
            </a:r>
            <a:r>
              <a:rPr lang="en-US" sz="2200" b="1" dirty="0" smtClean="0"/>
              <a:t>:</a:t>
            </a:r>
            <a:r>
              <a:rPr lang="en-US" sz="2200" dirty="0" smtClean="0"/>
              <a:t> </a:t>
            </a:r>
            <a:r>
              <a:rPr lang="en-US" sz="2200" dirty="0" smtClean="0">
                <a:latin typeface="Times New Roman" panose="02020603050405020304" pitchFamily="18" charset="0"/>
                <a:cs typeface="Times New Roman" panose="02020603050405020304" pitchFamily="18" charset="0"/>
              </a:rPr>
              <a:t>Digital Forensics, Evidence Storage, </a:t>
            </a:r>
            <a:r>
              <a:rPr lang="en-US" sz="2200" dirty="0" err="1" smtClean="0">
                <a:latin typeface="Times New Roman" panose="02020603050405020304" pitchFamily="18" charset="0"/>
                <a:cs typeface="Times New Roman" panose="02020603050405020304" pitchFamily="18" charset="0"/>
              </a:rPr>
              <a:t>Blockchain</a:t>
            </a:r>
            <a:r>
              <a:rPr lang="en-US" sz="2200" dirty="0" smtClean="0">
                <a:latin typeface="Times New Roman" panose="02020603050405020304" pitchFamily="18" charset="0"/>
                <a:cs typeface="Times New Roman" panose="02020603050405020304" pitchFamily="18" charset="0"/>
              </a:rPr>
              <a:t>, Chain of Custody, Hybrid Encryption, MFA, RBAC, Data Integrity, Secure Storage</a:t>
            </a:r>
          </a:p>
          <a:p>
            <a:endParaRPr lang="en-US" sz="2400" dirty="0"/>
          </a:p>
        </p:txBody>
      </p:sp>
      <p:sp>
        <p:nvSpPr>
          <p:cNvPr id="10" name="object 9">
            <a:extLst>
              <a:ext uri="{FF2B5EF4-FFF2-40B4-BE49-F238E27FC236}">
                <a16:creationId xmlns="" xmlns:a16="http://schemas.microsoft.com/office/drawing/2014/main" id="{00DF8C02-1BC8-D7E1-63DE-7B346AEA96F2}"/>
              </a:ext>
            </a:extLst>
          </p:cNvPr>
          <p:cNvSpPr txBox="1">
            <a:spLocks noGrp="1"/>
          </p:cNvSpPr>
          <p:nvPr>
            <p:ph type="dt" sz="half" idx="6"/>
          </p:nvPr>
        </p:nvSpPr>
        <p:spPr>
          <a:xfrm>
            <a:off x="1123125" y="6629792"/>
            <a:ext cx="10611675" cy="46166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sz="1600" cap="small" spc="-105" dirty="0">
                <a:solidFill>
                  <a:srgbClr val="FFFFFF"/>
                </a:solidFill>
                <a:latin typeface="Times New Roman"/>
                <a:cs typeface="Times New Roman"/>
              </a:rPr>
              <a:t>Srinivasa</a:t>
            </a:r>
            <a:r>
              <a:rPr lang="en-US" sz="1600" cap="small" spc="70" dirty="0">
                <a:solidFill>
                  <a:srgbClr val="FFFFFF"/>
                </a:solidFill>
                <a:latin typeface="Times New Roman"/>
                <a:cs typeface="Times New Roman"/>
              </a:rPr>
              <a:t> </a:t>
            </a:r>
            <a:r>
              <a:rPr lang="en-US" sz="1600" cap="small" spc="-120" dirty="0">
                <a:solidFill>
                  <a:srgbClr val="FFFFFF"/>
                </a:solidFill>
                <a:latin typeface="Times New Roman"/>
                <a:cs typeface="Times New Roman"/>
              </a:rPr>
              <a:t>Ramanujan</a:t>
            </a:r>
            <a:r>
              <a:rPr lang="en-US" sz="1600" cap="small" spc="75" dirty="0">
                <a:solidFill>
                  <a:srgbClr val="FFFFFF"/>
                </a:solidFill>
                <a:latin typeface="Times New Roman"/>
                <a:cs typeface="Times New Roman"/>
              </a:rPr>
              <a:t> </a:t>
            </a:r>
            <a:r>
              <a:rPr lang="en-US" sz="1600" cap="small" spc="-110" dirty="0">
                <a:solidFill>
                  <a:srgbClr val="FFFFFF"/>
                </a:solidFill>
                <a:latin typeface="Times New Roman"/>
                <a:cs typeface="Times New Roman"/>
              </a:rPr>
              <a:t>Institute</a:t>
            </a:r>
            <a:r>
              <a:rPr lang="en-US" sz="1600" cap="small" spc="75" dirty="0">
                <a:solidFill>
                  <a:srgbClr val="FFFFFF"/>
                </a:solidFill>
                <a:latin typeface="Times New Roman"/>
                <a:cs typeface="Times New Roman"/>
              </a:rPr>
              <a:t> </a:t>
            </a:r>
            <a:r>
              <a:rPr lang="en-US" sz="1600" cap="small" spc="-100" dirty="0">
                <a:solidFill>
                  <a:srgbClr val="FFFFFF"/>
                </a:solidFill>
                <a:latin typeface="Times New Roman"/>
                <a:cs typeface="Times New Roman"/>
              </a:rPr>
              <a:t>of</a:t>
            </a:r>
            <a:r>
              <a:rPr lang="en-US" sz="1600" cap="small" spc="75" dirty="0">
                <a:solidFill>
                  <a:srgbClr val="FFFFFF"/>
                </a:solidFill>
                <a:latin typeface="Times New Roman"/>
                <a:cs typeface="Times New Roman"/>
              </a:rPr>
              <a:t> </a:t>
            </a:r>
            <a:r>
              <a:rPr lang="en-US" sz="1600" cap="small" spc="-140" dirty="0">
                <a:solidFill>
                  <a:srgbClr val="FFFFFF"/>
                </a:solidFill>
                <a:latin typeface="Times New Roman"/>
                <a:cs typeface="Times New Roman"/>
              </a:rPr>
              <a:t>Technology</a:t>
            </a:r>
            <a:endParaRPr lang="en-US" sz="1600" dirty="0">
              <a:latin typeface="Times New Roman"/>
              <a:cs typeface="Times New Roman"/>
            </a:endParaRPr>
          </a:p>
          <a:p>
            <a:pPr marL="12700">
              <a:lnSpc>
                <a:spcPts val="1845"/>
              </a:lnSpc>
            </a:pPr>
            <a:endParaRPr cap="small" spc="-95" dirty="0"/>
          </a:p>
        </p:txBody>
      </p:sp>
      <p:sp>
        <p:nvSpPr>
          <p:cNvPr id="22" name="object 5">
            <a:extLst>
              <a:ext uri="{FF2B5EF4-FFF2-40B4-BE49-F238E27FC236}">
                <a16:creationId xmlns="" xmlns:a16="http://schemas.microsoft.com/office/drawing/2014/main" id="{10C0CF6D-744C-0894-AE41-DC4D1C13F06F}"/>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 xmlns:a16="http://schemas.microsoft.com/office/drawing/2014/main" id="{5A396B69-336C-DBD5-633E-8FFBEB87989A}"/>
              </a:ext>
            </a:extLst>
          </p:cNvPr>
          <p:cNvSpPr txBox="1">
            <a:spLocks noGrp="1"/>
          </p:cNvSpPr>
          <p:nvPr>
            <p:ph type="title"/>
          </p:nvPr>
        </p:nvSpPr>
        <p:spPr>
          <a:xfrm>
            <a:off x="0" y="331752"/>
            <a:ext cx="2286000" cy="689932"/>
          </a:xfrm>
          <a:prstGeom prst="rect">
            <a:avLst/>
          </a:prstGeom>
        </p:spPr>
        <p:txBody>
          <a:bodyPr vert="horz" wrap="square" lIns="0" tIns="12700" rIns="0" bIns="0" rtlCol="0">
            <a:spAutoFit/>
          </a:bodyPr>
          <a:lstStyle/>
          <a:p>
            <a:pPr marL="12700" algn="ctr">
              <a:lnSpc>
                <a:spcPct val="100000"/>
              </a:lnSpc>
            </a:pPr>
            <a:r>
              <a:rPr lang="en-IN" b="1" spc="-10" dirty="0"/>
              <a:t>Abstract</a:t>
            </a:r>
            <a:endParaRPr b="1" spc="-10" dirty="0"/>
          </a:p>
        </p:txBody>
      </p:sp>
      <p:sp>
        <p:nvSpPr>
          <p:cNvPr id="28" name="object 2">
            <a:extLst>
              <a:ext uri="{FF2B5EF4-FFF2-40B4-BE49-F238E27FC236}">
                <a16:creationId xmlns="" xmlns:a16="http://schemas.microsoft.com/office/drawing/2014/main" id="{05F20B3F-B180-8979-5AC1-4F6D81ACE388}"/>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 xmlns:a16="http://schemas.microsoft.com/office/drawing/2014/main" id="{C818B434-3B05-BC15-9E9D-6E172EFF976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Tree>
    <p:extLst>
      <p:ext uri="{BB962C8B-B14F-4D97-AF65-F5344CB8AC3E}">
        <p14:creationId xmlns:p14="http://schemas.microsoft.com/office/powerpoint/2010/main" val="30458658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7AF9F2-CAE6-699F-11DE-BD872CD45D38}"/>
            </a:ext>
          </a:extLst>
        </p:cNvPr>
        <p:cNvGrpSpPr/>
        <p:nvPr/>
      </p:nvGrpSpPr>
      <p:grpSpPr>
        <a:xfrm>
          <a:off x="0" y="0"/>
          <a:ext cx="0" cy="0"/>
          <a:chOff x="0" y="0"/>
          <a:chExt cx="0" cy="0"/>
        </a:xfrm>
      </p:grpSpPr>
      <p:sp>
        <p:nvSpPr>
          <p:cNvPr id="6" name="object 6">
            <a:extLst>
              <a:ext uri="{FF2B5EF4-FFF2-40B4-BE49-F238E27FC236}">
                <a16:creationId xmlns="" xmlns:a16="http://schemas.microsoft.com/office/drawing/2014/main" id="{F51EC347-4269-3F42-F8B9-F202BB60CAFA}"/>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9" name="object 9">
            <a:extLst>
              <a:ext uri="{FF2B5EF4-FFF2-40B4-BE49-F238E27FC236}">
                <a16:creationId xmlns="" xmlns:a16="http://schemas.microsoft.com/office/drawing/2014/main" id="{8AB71811-0898-3361-3AE5-598E50D40E20}"/>
              </a:ext>
            </a:extLst>
          </p:cNvPr>
          <p:cNvSpPr txBox="1"/>
          <p:nvPr/>
        </p:nvSpPr>
        <p:spPr>
          <a:xfrm>
            <a:off x="228600" y="1434684"/>
            <a:ext cx="11630223" cy="3506857"/>
          </a:xfrm>
          <a:prstGeom prst="rect">
            <a:avLst/>
          </a:prstGeom>
        </p:spPr>
        <p:txBody>
          <a:bodyPr vert="horz" wrap="square" lIns="0" tIns="12700" rIns="0" bIns="0" rtlCol="0" anchor="t">
            <a:spAutoFit/>
          </a:bodyPr>
          <a:lstStyle/>
          <a:p>
            <a:pPr algn="just">
              <a:lnSpc>
                <a:spcPct val="150000"/>
              </a:lnSpc>
            </a:pPr>
            <a:r>
              <a:rPr lang="en-US" sz="2200" dirty="0" smtClean="0">
                <a:latin typeface="Times New Roman" panose="02020603050405020304" pitchFamily="18" charset="0"/>
                <a:cs typeface="Times New Roman" panose="02020603050405020304" pitchFamily="18" charset="0"/>
              </a:rPr>
              <a:t>Digital forensic systems must securely preserve electronic evidence with confidentiality, integrity, and a verifiable chain of custody. However, centralized storage solutions lack strong access control, secure key management, and immutable audit trails, making them vulnerable to insider threats and data tampering. Single-key encryption and weak authentication further reduce legal reliability. Hence, a secure multi-layered evidence storage system using MFA, encrypted shard-based storage, optimized key management, and </a:t>
            </a:r>
            <a:r>
              <a:rPr lang="en-US" sz="2200" dirty="0" err="1" smtClean="0">
                <a:latin typeface="Times New Roman" panose="02020603050405020304" pitchFamily="18" charset="0"/>
                <a:cs typeface="Times New Roman" panose="02020603050405020304" pitchFamily="18" charset="0"/>
              </a:rPr>
              <a:t>blockchain</a:t>
            </a:r>
            <a:r>
              <a:rPr lang="en-US" sz="2200" dirty="0" smtClean="0">
                <a:latin typeface="Times New Roman" panose="02020603050405020304" pitchFamily="18" charset="0"/>
                <a:cs typeface="Times New Roman" panose="02020603050405020304" pitchFamily="18" charset="0"/>
              </a:rPr>
              <a:t>-based auditing is required to ensure forensic integrity and legal admissibility.</a:t>
            </a:r>
            <a:endParaRPr lang="en-US" sz="2200"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 xmlns:a16="http://schemas.microsoft.com/office/drawing/2014/main" id="{B3C5EF99-88D2-D1C6-27F3-BA852AF0AB97}"/>
              </a:ext>
            </a:extLst>
          </p:cNvPr>
          <p:cNvSpPr txBox="1">
            <a:spLocks noGrp="1"/>
          </p:cNvSpPr>
          <p:nvPr>
            <p:ph type="dt" sz="half" idx="6"/>
          </p:nvPr>
        </p:nvSpPr>
        <p:spPr>
          <a:xfrm>
            <a:off x="774794" y="6634572"/>
            <a:ext cx="10960005" cy="230832"/>
          </a:xfrm>
          <a:prstGeom prst="rect">
            <a:avLst/>
          </a:prstGeom>
        </p:spPr>
        <p:txBody>
          <a:bodyPr vert="horz" wrap="square" lIns="0" tIns="0" rIns="0" bIns="0" rtlCol="0">
            <a:spAutoFit/>
          </a:bodyPr>
          <a:lstStyle/>
          <a:p>
            <a:pPr marL="12700">
              <a:lnSpc>
                <a:spcPts val="1845"/>
              </a:lnSpc>
            </a:pPr>
            <a:r>
              <a:rPr lang="en-IN" cap="small" spc="-75" dirty="0"/>
              <a:t>      </a:t>
            </a: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Srinivasa Ramanujan Institute of Technology</a:t>
            </a:r>
            <a:endParaRPr cap="small" spc="-95" dirty="0"/>
          </a:p>
        </p:txBody>
      </p:sp>
      <p:sp>
        <p:nvSpPr>
          <p:cNvPr id="22" name="object 5">
            <a:extLst>
              <a:ext uri="{FF2B5EF4-FFF2-40B4-BE49-F238E27FC236}">
                <a16:creationId xmlns="" xmlns:a16="http://schemas.microsoft.com/office/drawing/2014/main" id="{021057BB-8D93-F44B-B9E2-B26E2A078D5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 xmlns:a16="http://schemas.microsoft.com/office/drawing/2014/main" id="{D10505DB-F7E8-855A-F365-5BFF0E607288}"/>
              </a:ext>
            </a:extLst>
          </p:cNvPr>
          <p:cNvSpPr txBox="1">
            <a:spLocks noGrp="1"/>
          </p:cNvSpPr>
          <p:nvPr>
            <p:ph type="title"/>
          </p:nvPr>
        </p:nvSpPr>
        <p:spPr>
          <a:xfrm>
            <a:off x="20182" y="331752"/>
            <a:ext cx="5313818" cy="689932"/>
          </a:xfrm>
          <a:prstGeom prst="rect">
            <a:avLst/>
          </a:prstGeom>
        </p:spPr>
        <p:txBody>
          <a:bodyPr vert="horz" wrap="square" lIns="0" tIns="12700" rIns="0" bIns="0" rtlCol="0">
            <a:spAutoFit/>
          </a:bodyPr>
          <a:lstStyle/>
          <a:p>
            <a:pPr marL="12700" algn="ctr">
              <a:lnSpc>
                <a:spcPct val="100000"/>
              </a:lnSpc>
            </a:pPr>
            <a:r>
              <a:rPr lang="en-IN" b="1" spc="-10" dirty="0" smtClean="0"/>
              <a:t>Problem Statement</a:t>
            </a:r>
            <a:endParaRPr b="1" spc="-10" dirty="0"/>
          </a:p>
        </p:txBody>
      </p:sp>
      <p:sp>
        <p:nvSpPr>
          <p:cNvPr id="28" name="object 2">
            <a:extLst>
              <a:ext uri="{FF2B5EF4-FFF2-40B4-BE49-F238E27FC236}">
                <a16:creationId xmlns="" xmlns:a16="http://schemas.microsoft.com/office/drawing/2014/main" id="{BA43E4AB-4DA4-83FC-9279-66EC70BE0FEA}"/>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sz="1400" dirty="0">
              <a:solidFill>
                <a:schemeClr val="bg1"/>
              </a:solidFill>
              <a:latin typeface="Times New Roman"/>
              <a:cs typeface="Times New Roman"/>
            </a:endParaRPr>
          </a:p>
        </p:txBody>
      </p:sp>
      <p:sp>
        <p:nvSpPr>
          <p:cNvPr id="29" name="object 12">
            <a:extLst>
              <a:ext uri="{FF2B5EF4-FFF2-40B4-BE49-F238E27FC236}">
                <a16:creationId xmlns="" xmlns:a16="http://schemas.microsoft.com/office/drawing/2014/main" id="{D1955DD0-3570-10E4-F36C-5B17246839E1}"/>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Tree>
    <p:extLst>
      <p:ext uri="{BB962C8B-B14F-4D97-AF65-F5344CB8AC3E}">
        <p14:creationId xmlns:p14="http://schemas.microsoft.com/office/powerpoint/2010/main" val="42945085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 xmlns:a16="http://schemas.microsoft.com/office/drawing/2014/main" id="{021057BB-8D93-F44B-B9E2-B26E2A078D57}"/>
              </a:ext>
            </a:extLst>
          </p:cNvPr>
          <p:cNvSpPr/>
          <p:nvPr/>
        </p:nvSpPr>
        <p:spPr>
          <a:xfrm>
            <a:off x="19455"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400814"/>
            <a:ext cx="5257800" cy="677108"/>
          </a:xfrm>
        </p:spPr>
        <p:txBody>
          <a:bodyPr/>
          <a:lstStyle/>
          <a:p>
            <a:r>
              <a:rPr lang="en-US" b="1" dirty="0" smtClean="0"/>
              <a:t>Objectives</a:t>
            </a:r>
            <a:endParaRPr lang="en-US" b="1" dirty="0"/>
          </a:p>
        </p:txBody>
      </p:sp>
      <p:sp>
        <p:nvSpPr>
          <p:cNvPr id="5" name="Rectangle 4"/>
          <p:cNvSpPr/>
          <p:nvPr/>
        </p:nvSpPr>
        <p:spPr>
          <a:xfrm>
            <a:off x="3255646" y="-80845"/>
            <a:ext cx="5301451" cy="369332"/>
          </a:xfrm>
          <a:prstGeom prst="rect">
            <a:avLst/>
          </a:prstGeom>
        </p:spPr>
        <p:txBody>
          <a:bodyPr wrap="none">
            <a:spAutoFit/>
          </a:bodyPr>
          <a:lstStyle/>
          <a:p>
            <a:pPr marL="12700" algn="ctr">
              <a:spcBef>
                <a:spcPts val="100"/>
              </a:spcBef>
            </a:pPr>
            <a:r>
              <a:rPr lang="en-US" dirty="0" smtClean="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Rectangle 5"/>
          <p:cNvSpPr/>
          <p:nvPr/>
        </p:nvSpPr>
        <p:spPr>
          <a:xfrm>
            <a:off x="685800" y="6553200"/>
            <a:ext cx="11963400" cy="369332"/>
          </a:xfrm>
          <a:prstGeom prst="rect">
            <a:avLst/>
          </a:prstGeom>
        </p:spPr>
        <p:txBody>
          <a:bodyPr wrap="square">
            <a:spAutoFit/>
          </a:bodyPr>
          <a:lstStyle/>
          <a:p>
            <a:r>
              <a:rPr lang="en-US" cap="small" spc="-75" dirty="0" smtClean="0"/>
              <a:t> </a:t>
            </a:r>
            <a:r>
              <a:rPr lang="en-US" sz="1600" cap="small" spc="-75" dirty="0" smtClean="0">
                <a:solidFill>
                  <a:schemeClr val="bg1"/>
                </a:solidFill>
                <a:latin typeface="Times New Roman" panose="02020603050405020304" pitchFamily="18" charset="0"/>
                <a:cs typeface="Times New Roman" panose="02020603050405020304" pitchFamily="18" charset="0"/>
              </a:rPr>
              <a:t>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6</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9" name="Rectangle 2"/>
          <p:cNvSpPr>
            <a:spLocks noGrp="1" noChangeArrowheads="1"/>
          </p:cNvSpPr>
          <p:nvPr>
            <p:ph type="body" idx="1"/>
          </p:nvPr>
        </p:nvSpPr>
        <p:spPr bwMode="auto">
          <a:xfrm>
            <a:off x="419971" y="1553997"/>
            <a:ext cx="10972800"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protect digital forensic evidence using advanced cryptographic mechanisms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including hybrid encryption (AES-256), SHA-256 integrity verification, and optimized key management.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implement strong authentication and authorization controls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integrating Multi-Factor Authentication (password, biometric, OTP) and Role-Based Access Control (RBAC).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establish a</a:t>
            </a:r>
            <a:r>
              <a:rPr kumimoji="0" lang="en-US" sz="2200" b="1"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tamper-proof chain-of-custody mechanism</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by recording all evidence operations on a </a:t>
            </a:r>
            <a:r>
              <a:rPr kumimoji="0" 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blockchain</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-based immutable audit ledger.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To enable secure evidence access and lifecycle management</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including controlled one-time decryption key release and secure handling of large-scale forensic data.</a:t>
            </a:r>
          </a:p>
        </p:txBody>
      </p:sp>
    </p:spTree>
    <p:extLst>
      <p:ext uri="{BB962C8B-B14F-4D97-AF65-F5344CB8AC3E}">
        <p14:creationId xmlns:p14="http://schemas.microsoft.com/office/powerpoint/2010/main" val="17461798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8"/>
            <a:ext cx="8468817" cy="689932"/>
          </a:xfrm>
          <a:prstGeom prst="rect">
            <a:avLst/>
          </a:prstGeom>
        </p:spPr>
        <p:txBody>
          <a:bodyPr vert="horz" wrap="square" lIns="0" tIns="12700" rIns="0" bIns="0" rtlCol="0">
            <a:spAutoFit/>
          </a:bodyPr>
          <a:lstStyle/>
          <a:p>
            <a:pPr marL="12700">
              <a:lnSpc>
                <a:spcPct val="100000"/>
              </a:lnSpc>
              <a:spcBef>
                <a:spcPts val="100"/>
              </a:spcBef>
            </a:pPr>
            <a:r>
              <a:rPr dirty="0"/>
              <a:t>Literature</a:t>
            </a:r>
            <a:r>
              <a:rPr spc="-50" dirty="0"/>
              <a:t> </a:t>
            </a:r>
            <a:r>
              <a:rPr spc="-10" dirty="0" smtClean="0"/>
              <a:t>Survey</a:t>
            </a:r>
            <a:r>
              <a:rPr lang="en-US" spc="-10" dirty="0" smtClean="0"/>
              <a:t> for Objectives</a:t>
            </a:r>
            <a:endParaRPr spc="-10" dirty="0"/>
          </a:p>
        </p:txBody>
      </p:sp>
      <p:sp>
        <p:nvSpPr>
          <p:cNvPr id="8" name="object 8"/>
          <p:cNvSpPr txBox="1">
            <a:spLocks noGrp="1"/>
          </p:cNvSpPr>
          <p:nvPr>
            <p:ph type="ftr" sz="quarter" idx="5"/>
          </p:nvPr>
        </p:nvSpPr>
        <p:spPr>
          <a:xfrm>
            <a:off x="104577" y="6640376"/>
            <a:ext cx="582036" cy="230832"/>
          </a:xfrm>
          <a:prstGeom prst="rect">
            <a:avLst/>
          </a:prstGeom>
        </p:spPr>
        <p:txBody>
          <a:bodyPr vert="horz" wrap="square" lIns="0" tIns="0" rIns="0" bIns="0" rtlCol="0" anchor="t">
            <a:spAutoFit/>
          </a:bodyPr>
          <a:lstStyle/>
          <a:p>
            <a:pPr marL="12700">
              <a:lnSpc>
                <a:spcPts val="1845"/>
              </a:lnSpc>
            </a:pPr>
            <a:r>
              <a:rPr lang="en-IN" spc="-25" dirty="0"/>
              <a:t>B -16</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6749909" y="6640376"/>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2731237545"/>
              </p:ext>
            </p:extLst>
          </p:nvPr>
        </p:nvGraphicFramePr>
        <p:xfrm>
          <a:off x="479642" y="1143000"/>
          <a:ext cx="11212015" cy="4026730"/>
        </p:xfrm>
        <a:graphic>
          <a:graphicData uri="http://schemas.openxmlformats.org/drawingml/2006/table">
            <a:tbl>
              <a:tblPr firstRow="1" bandRow="1">
                <a:tableStyleId>{5C22544A-7EE6-4342-B048-85BDC9FD1C3A}</a:tableStyleId>
              </a:tblPr>
              <a:tblGrid>
                <a:gridCol w="467817">
                  <a:extLst>
                    <a:ext uri="{9D8B030D-6E8A-4147-A177-3AD203B41FA5}">
                      <a16:colId xmlns="" xmlns:a16="http://schemas.microsoft.com/office/drawing/2014/main" val="20000"/>
                    </a:ext>
                  </a:extLst>
                </a:gridCol>
                <a:gridCol w="1905000">
                  <a:extLst>
                    <a:ext uri="{9D8B030D-6E8A-4147-A177-3AD203B41FA5}">
                      <a16:colId xmlns="" xmlns:a16="http://schemas.microsoft.com/office/drawing/2014/main" val="20001"/>
                    </a:ext>
                  </a:extLst>
                </a:gridCol>
                <a:gridCol w="1600200">
                  <a:extLst>
                    <a:ext uri="{9D8B030D-6E8A-4147-A177-3AD203B41FA5}">
                      <a16:colId xmlns="" xmlns:a16="http://schemas.microsoft.com/office/drawing/2014/main" val="20002"/>
                    </a:ext>
                  </a:extLst>
                </a:gridCol>
                <a:gridCol w="1447800">
                  <a:extLst>
                    <a:ext uri="{9D8B030D-6E8A-4147-A177-3AD203B41FA5}">
                      <a16:colId xmlns="" xmlns:a16="http://schemas.microsoft.com/office/drawing/2014/main" val="20003"/>
                    </a:ext>
                  </a:extLst>
                </a:gridCol>
                <a:gridCol w="2133600">
                  <a:extLst>
                    <a:ext uri="{9D8B030D-6E8A-4147-A177-3AD203B41FA5}">
                      <a16:colId xmlns="" xmlns:a16="http://schemas.microsoft.com/office/drawing/2014/main" val="20004"/>
                    </a:ext>
                  </a:extLst>
                </a:gridCol>
                <a:gridCol w="1981200">
                  <a:extLst>
                    <a:ext uri="{9D8B030D-6E8A-4147-A177-3AD203B41FA5}">
                      <a16:colId xmlns="" xmlns:a16="http://schemas.microsoft.com/office/drawing/2014/main" val="20005"/>
                    </a:ext>
                  </a:extLst>
                </a:gridCol>
                <a:gridCol w="1676398">
                  <a:extLst>
                    <a:ext uri="{9D8B030D-6E8A-4147-A177-3AD203B41FA5}">
                      <a16:colId xmlns="" xmlns:a16="http://schemas.microsoft.com/office/drawing/2014/main" val="20006"/>
                    </a:ext>
                  </a:extLst>
                </a:gridCol>
              </a:tblGrid>
              <a:tr h="689426">
                <a:tc>
                  <a:txBody>
                    <a:bodyPr/>
                    <a:lstStyle/>
                    <a:p>
                      <a:pPr marL="85725">
                        <a:lnSpc>
                          <a:spcPct val="100000"/>
                        </a:lnSpc>
                        <a:spcBef>
                          <a:spcPts val="225"/>
                        </a:spcBef>
                      </a:pPr>
                      <a:r>
                        <a:rPr sz="1800" b="1" spc="-25" dirty="0">
                          <a:solidFill>
                            <a:srgbClr val="FFFFFF"/>
                          </a:solidFill>
                        </a:rPr>
                        <a:t>No</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Title</a:t>
                      </a:r>
                      <a:endParaRPr sz="1800" dirty="0">
                        <a:latin typeface="Calibri"/>
                        <a:cs typeface="Calibri"/>
                      </a:endParaRPr>
                    </a:p>
                  </a:txBody>
                  <a:tcPr marL="0" marR="0" marT="28575" marB="0"/>
                </a:tc>
                <a:tc>
                  <a:txBody>
                    <a:bodyPr/>
                    <a:lstStyle/>
                    <a:p>
                      <a:pPr marL="85725">
                        <a:lnSpc>
                          <a:spcPct val="100000"/>
                        </a:lnSpc>
                        <a:spcBef>
                          <a:spcPts val="225"/>
                        </a:spcBef>
                      </a:pPr>
                      <a:r>
                        <a:rPr sz="1800" b="1" spc="-10" dirty="0">
                          <a:solidFill>
                            <a:srgbClr val="FFFFFF"/>
                          </a:solidFill>
                        </a:rPr>
                        <a:t>Author</a:t>
                      </a:r>
                      <a:endParaRPr sz="1800" dirty="0">
                        <a:latin typeface="Calibri"/>
                        <a:cs typeface="Calibri"/>
                      </a:endParaRPr>
                    </a:p>
                  </a:txBody>
                  <a:tcPr marL="0" marR="0" marT="28575" marB="0"/>
                </a:tc>
                <a:tc>
                  <a:txBody>
                    <a:bodyPr/>
                    <a:lstStyle/>
                    <a:p>
                      <a:pPr marL="85725" marR="137160">
                        <a:lnSpc>
                          <a:spcPct val="100000"/>
                        </a:lnSpc>
                        <a:spcBef>
                          <a:spcPts val="225"/>
                        </a:spcBef>
                      </a:pPr>
                      <a:r>
                        <a:rPr sz="1800" b="1" dirty="0">
                          <a:solidFill>
                            <a:srgbClr val="FFFFFF"/>
                          </a:solidFill>
                        </a:rPr>
                        <a:t>Journal</a:t>
                      </a:r>
                      <a:r>
                        <a:rPr sz="1800" b="1" spc="-35" dirty="0">
                          <a:solidFill>
                            <a:srgbClr val="FFFFFF"/>
                          </a:solidFill>
                        </a:rPr>
                        <a:t> </a:t>
                      </a:r>
                      <a:r>
                        <a:rPr sz="1800" b="1" spc="-20" dirty="0">
                          <a:solidFill>
                            <a:srgbClr val="FFFFFF"/>
                          </a:solidFill>
                        </a:rPr>
                        <a:t>Name </a:t>
                      </a:r>
                      <a:r>
                        <a:rPr sz="1800" b="1" dirty="0">
                          <a:solidFill>
                            <a:srgbClr val="FFFFFF"/>
                          </a:solidFill>
                        </a:rPr>
                        <a:t>&amp;</a:t>
                      </a:r>
                      <a:r>
                        <a:rPr sz="1800" b="1" spc="-5" dirty="0">
                          <a:solidFill>
                            <a:srgbClr val="FFFFFF"/>
                          </a:solidFill>
                        </a:rPr>
                        <a:t> </a:t>
                      </a:r>
                      <a:r>
                        <a:rPr sz="1800" b="1" spc="-20" dirty="0">
                          <a:solidFill>
                            <a:srgbClr val="FFFFFF"/>
                          </a:solidFill>
                        </a:rPr>
                        <a:t>Year</a:t>
                      </a:r>
                      <a:endParaRPr sz="1800">
                        <a:latin typeface="Calibri"/>
                        <a:cs typeface="Calibri"/>
                      </a:endParaRPr>
                    </a:p>
                  </a:txBody>
                  <a:tcPr marL="0" marR="0" marT="28575" marB="0"/>
                </a:tc>
                <a:tc>
                  <a:txBody>
                    <a:bodyPr/>
                    <a:lstStyle/>
                    <a:p>
                      <a:pPr marL="85090" marR="521334">
                        <a:lnSpc>
                          <a:spcPct val="100000"/>
                        </a:lnSpc>
                        <a:spcBef>
                          <a:spcPts val="225"/>
                        </a:spcBef>
                      </a:pPr>
                      <a:r>
                        <a:rPr sz="1800" b="1" spc="-10" dirty="0">
                          <a:solidFill>
                            <a:srgbClr val="FFFFFF"/>
                          </a:solidFill>
                        </a:rPr>
                        <a:t>Methodology Adapted</a:t>
                      </a:r>
                      <a:endParaRPr sz="1800">
                        <a:latin typeface="Calibri"/>
                        <a:cs typeface="Calibri"/>
                      </a:endParaRPr>
                    </a:p>
                  </a:txBody>
                  <a:tcPr marL="0" marR="0" marT="28575" marB="0"/>
                </a:tc>
                <a:tc>
                  <a:txBody>
                    <a:bodyPr/>
                    <a:lstStyle/>
                    <a:p>
                      <a:pPr marL="85725">
                        <a:lnSpc>
                          <a:spcPct val="100000"/>
                        </a:lnSpc>
                        <a:spcBef>
                          <a:spcPts val="225"/>
                        </a:spcBef>
                      </a:pPr>
                      <a:r>
                        <a:rPr sz="1800" b="1" dirty="0">
                          <a:solidFill>
                            <a:srgbClr val="FFFFFF"/>
                          </a:solidFill>
                        </a:rPr>
                        <a:t>Key</a:t>
                      </a:r>
                      <a:r>
                        <a:rPr sz="1800" b="1" spc="-25" dirty="0">
                          <a:solidFill>
                            <a:srgbClr val="FFFFFF"/>
                          </a:solidFill>
                        </a:rPr>
                        <a:t> </a:t>
                      </a:r>
                      <a:r>
                        <a:rPr sz="1800" b="1" spc="-10" dirty="0">
                          <a:solidFill>
                            <a:srgbClr val="FFFFFF"/>
                          </a:solidFill>
                        </a:rPr>
                        <a:t>Findings</a:t>
                      </a:r>
                      <a:endParaRPr sz="1800">
                        <a:latin typeface="Calibri"/>
                        <a:cs typeface="Calibri"/>
                      </a:endParaRPr>
                    </a:p>
                  </a:txBody>
                  <a:tcPr marL="0" marR="0" marT="28575" marB="0"/>
                </a:tc>
                <a:tc>
                  <a:txBody>
                    <a:bodyPr/>
                    <a:lstStyle/>
                    <a:p>
                      <a:pPr marL="85725">
                        <a:lnSpc>
                          <a:spcPct val="100000"/>
                        </a:lnSpc>
                        <a:spcBef>
                          <a:spcPts val="225"/>
                        </a:spcBef>
                      </a:pPr>
                      <a:r>
                        <a:rPr sz="1800" b="1" spc="-20" dirty="0">
                          <a:solidFill>
                            <a:srgbClr val="FFFFFF"/>
                          </a:solidFill>
                        </a:rPr>
                        <a:t>Gaps</a:t>
                      </a:r>
                      <a:endParaRPr sz="1800">
                        <a:latin typeface="Calibri"/>
                        <a:cs typeface="Calibri"/>
                      </a:endParaRPr>
                    </a:p>
                  </a:txBody>
                  <a:tcPr marL="0" marR="0" marT="28575" marB="0"/>
                </a:tc>
                <a:extLst>
                  <a:ext uri="{0D108BD9-81ED-4DB2-BD59-A6C34878D82A}">
                    <a16:rowId xmlns="" xmlns:a16="http://schemas.microsoft.com/office/drawing/2014/main" val="10000"/>
                  </a:ext>
                </a:extLst>
              </a:tr>
              <a:tr h="1593491">
                <a:tc>
                  <a:txBody>
                    <a:bodyPr/>
                    <a:lstStyle/>
                    <a:p>
                      <a:pPr marL="85725">
                        <a:lnSpc>
                          <a:spcPct val="100000"/>
                        </a:lnSpc>
                        <a:spcBef>
                          <a:spcPts val="225"/>
                        </a:spcBef>
                      </a:pPr>
                      <a:r>
                        <a:rPr sz="1800" spc="-25" dirty="0"/>
                        <a:t>1.</a:t>
                      </a:r>
                      <a:endParaRPr sz="1800">
                        <a:latin typeface="Calibri"/>
                        <a:cs typeface="Calibri"/>
                      </a:endParaRPr>
                    </a:p>
                  </a:txBody>
                  <a:tcPr marL="0" marR="0" marT="28575" marB="0"/>
                </a:tc>
                <a:tc>
                  <a:txBody>
                    <a:bodyPr/>
                    <a:lstStyle/>
                    <a:p>
                      <a:pPr marL="85725" marR="172720" lvl="0">
                        <a:lnSpc>
                          <a:spcPct val="100000"/>
                        </a:lnSpc>
                        <a:spcBef>
                          <a:spcPts val="225"/>
                        </a:spcBef>
                        <a:buNone/>
                      </a:pPr>
                      <a:r>
                        <a:rPr lang="en-US" sz="1400" dirty="0" smtClean="0"/>
                        <a:t>Improving Digital Forensic Security: A Secure Storage Model with Authentication and Optimal Key Generation based Encryption</a:t>
                      </a:r>
                      <a:endParaRPr lang="en-US" sz="1400" dirty="0">
                        <a:latin typeface="Times New Roman"/>
                      </a:endParaRPr>
                    </a:p>
                  </a:txBody>
                  <a:tcPr marL="0" marR="0" marT="28575" marB="0"/>
                </a:tc>
                <a:tc>
                  <a:txBody>
                    <a:bodyPr/>
                    <a:lstStyle/>
                    <a:p>
                      <a:pPr marL="85725" marR="504825" lvl="0">
                        <a:lnSpc>
                          <a:spcPct val="100000"/>
                        </a:lnSpc>
                        <a:spcBef>
                          <a:spcPts val="225"/>
                        </a:spcBef>
                        <a:buNone/>
                      </a:pPr>
                      <a:r>
                        <a:rPr lang="en-US" sz="1400" dirty="0" smtClean="0"/>
                        <a:t>Abdullah </a:t>
                      </a:r>
                      <a:r>
                        <a:rPr lang="en-US" sz="1400" dirty="0" err="1" smtClean="0"/>
                        <a:t>Mujawib</a:t>
                      </a:r>
                      <a:r>
                        <a:rPr lang="en-US" sz="1400" dirty="0" smtClean="0"/>
                        <a:t> </a:t>
                      </a:r>
                      <a:r>
                        <a:rPr lang="en-US" sz="1400" dirty="0" err="1" smtClean="0"/>
                        <a:t>Alashjaee</a:t>
                      </a:r>
                      <a:r>
                        <a:rPr lang="en-US" sz="1400" dirty="0" smtClean="0"/>
                        <a:t>, </a:t>
                      </a:r>
                      <a:r>
                        <a:rPr lang="en-US" sz="1400" dirty="0" err="1" smtClean="0"/>
                        <a:t>Fahad</a:t>
                      </a:r>
                      <a:r>
                        <a:rPr lang="en-US" sz="1400" dirty="0" smtClean="0"/>
                        <a:t> </a:t>
                      </a:r>
                      <a:r>
                        <a:rPr lang="en-US" sz="1400" dirty="0" err="1" smtClean="0"/>
                        <a:t>Alqahtani</a:t>
                      </a:r>
                      <a:endParaRPr sz="1400" dirty="0">
                        <a:latin typeface="Times New Roman"/>
                        <a:cs typeface="Calibri"/>
                      </a:endParaRPr>
                    </a:p>
                  </a:txBody>
                  <a:tcPr marL="0" marR="0" marT="28575" marB="0"/>
                </a:tc>
                <a:tc>
                  <a:txBody>
                    <a:bodyPr/>
                    <a:lstStyle/>
                    <a:p>
                      <a:pPr marL="85725" marR="103505" lvl="0">
                        <a:lnSpc>
                          <a:spcPct val="100000"/>
                        </a:lnSpc>
                        <a:spcBef>
                          <a:spcPts val="225"/>
                        </a:spcBef>
                        <a:buNone/>
                      </a:pPr>
                      <a:r>
                        <a:rPr lang="en-US" sz="1400" spc="-10" dirty="0" smtClean="0"/>
                        <a:t>IEEE Access, 2024</a:t>
                      </a:r>
                      <a:endParaRPr sz="1400" spc="-10" dirty="0">
                        <a:latin typeface="Times New Roman" panose="02020603050405020304" pitchFamily="18" charset="0"/>
                        <a:cs typeface="Times New Roman" panose="02020603050405020304" pitchFamily="18" charset="0"/>
                      </a:endParaRPr>
                    </a:p>
                  </a:txBody>
                  <a:tcPr marL="0" marR="0" marT="28575" marB="0"/>
                </a:tc>
                <a:tc>
                  <a:txBody>
                    <a:bodyPr/>
                    <a:lstStyle/>
                    <a:p>
                      <a:pPr marL="85090" marR="462915">
                        <a:lnSpc>
                          <a:spcPct val="100000"/>
                        </a:lnSpc>
                        <a:spcBef>
                          <a:spcPts val="225"/>
                        </a:spcBef>
                      </a:pPr>
                      <a:r>
                        <a:rPr lang="en-US" sz="1400" dirty="0" err="1" smtClean="0"/>
                        <a:t>Blockchain</a:t>
                      </a:r>
                      <a:r>
                        <a:rPr lang="en-US" sz="1400" dirty="0" smtClean="0"/>
                        <a:t>-based decentralized storage, SBVM authentication, EEO-based key generation, Multi-Key </a:t>
                      </a:r>
                      <a:r>
                        <a:rPr lang="en-US" sz="1400" dirty="0" err="1" smtClean="0"/>
                        <a:t>Homomorphic</a:t>
                      </a:r>
                      <a:r>
                        <a:rPr lang="en-US" sz="1400" dirty="0" smtClean="0"/>
                        <a:t> Encryption</a:t>
                      </a:r>
                      <a:endParaRPr sz="1400" dirty="0">
                        <a:latin typeface="Times New Roman"/>
                        <a:cs typeface="Calibri"/>
                      </a:endParaRPr>
                    </a:p>
                  </a:txBody>
                  <a:tcPr marL="0" marR="0" marT="28575" marB="0"/>
                </a:tc>
                <a:tc>
                  <a:txBody>
                    <a:bodyPr/>
                    <a:lstStyle/>
                    <a:p>
                      <a:pPr marL="85725" marR="192405">
                        <a:lnSpc>
                          <a:spcPct val="100000"/>
                        </a:lnSpc>
                        <a:spcBef>
                          <a:spcPts val="225"/>
                        </a:spcBef>
                      </a:pPr>
                      <a:r>
                        <a:rPr lang="en-US" sz="1400" b="0" u="none" strike="noStrike" spc="-10" noProof="0" dirty="0" smtClean="0"/>
                        <a:t>Improved security, authentication, and integrity of forensic data in cloud environments</a:t>
                      </a:r>
                      <a:endParaRPr sz="1400" b="0" i="0" u="none" strike="noStrike" spc="-10" noProof="0" dirty="0">
                        <a:latin typeface="Times New Roman"/>
                      </a:endParaRPr>
                    </a:p>
                  </a:txBody>
                  <a:tcPr marL="0" marR="0" marT="28575" marB="0"/>
                </a:tc>
                <a:tc>
                  <a:txBody>
                    <a:bodyPr/>
                    <a:lstStyle/>
                    <a:p>
                      <a:pPr marL="85725" marR="348615" lvl="0" algn="l">
                        <a:lnSpc>
                          <a:spcPct val="100000"/>
                        </a:lnSpc>
                        <a:spcBef>
                          <a:spcPts val="225"/>
                        </a:spcBef>
                        <a:buNone/>
                      </a:pPr>
                      <a:r>
                        <a:rPr lang="en-US" sz="1400" dirty="0" smtClean="0"/>
                        <a:t>High computational overhead, complex encryption, lacks lightweight and practical implementation</a:t>
                      </a:r>
                      <a:endParaRPr sz="1400" dirty="0">
                        <a:latin typeface="Times New Roman" panose="02020603050405020304" pitchFamily="18" charset="0"/>
                        <a:cs typeface="Times New Roman" panose="02020603050405020304" pitchFamily="18" charset="0"/>
                      </a:endParaRPr>
                    </a:p>
                  </a:txBody>
                  <a:tcPr marL="0" marR="0" marT="28575" marB="0"/>
                </a:tc>
                <a:extLst>
                  <a:ext uri="{0D108BD9-81ED-4DB2-BD59-A6C34878D82A}">
                    <a16:rowId xmlns="" xmlns:a16="http://schemas.microsoft.com/office/drawing/2014/main" val="10001"/>
                  </a:ext>
                </a:extLst>
              </a:tr>
              <a:tr h="1439740">
                <a:tc>
                  <a:txBody>
                    <a:bodyPr/>
                    <a:lstStyle/>
                    <a:p>
                      <a:pPr marL="85725">
                        <a:lnSpc>
                          <a:spcPct val="100000"/>
                        </a:lnSpc>
                        <a:spcBef>
                          <a:spcPts val="225"/>
                        </a:spcBef>
                      </a:pPr>
                      <a:r>
                        <a:rPr sz="1800" spc="-50" dirty="0"/>
                        <a:t>2</a:t>
                      </a:r>
                      <a:endParaRPr sz="1800">
                        <a:latin typeface="Calibri"/>
                        <a:cs typeface="Calibri"/>
                      </a:endParaRPr>
                    </a:p>
                  </a:txBody>
                  <a:tcPr marL="0" marR="0" marT="28575" marB="0"/>
                </a:tc>
                <a:tc>
                  <a:txBody>
                    <a:bodyPr/>
                    <a:lstStyle/>
                    <a:p>
                      <a:pPr lvl="0">
                        <a:lnSpc>
                          <a:spcPct val="100000"/>
                        </a:lnSpc>
                        <a:buNone/>
                      </a:pPr>
                      <a:r>
                        <a:rPr lang="en-US" sz="1400" dirty="0" smtClean="0"/>
                        <a:t>A Novel </a:t>
                      </a:r>
                      <a:r>
                        <a:rPr lang="en-US" sz="1400" dirty="0" err="1" smtClean="0"/>
                        <a:t>Blockchain</a:t>
                      </a:r>
                      <a:r>
                        <a:rPr lang="en-US" sz="1400" dirty="0" smtClean="0"/>
                        <a:t> Framework for Digital Forensics in Cloud Environment</a:t>
                      </a:r>
                      <a:endParaRPr lang="en-US" sz="1400" dirty="0">
                        <a:latin typeface="Times New Roman"/>
                      </a:endParaRPr>
                    </a:p>
                  </a:txBody>
                  <a:tcPr marL="0" marR="0" marT="0" marB="0"/>
                </a:tc>
                <a:tc>
                  <a:txBody>
                    <a:bodyPr/>
                    <a:lstStyle/>
                    <a:p>
                      <a:pPr lvl="0">
                        <a:lnSpc>
                          <a:spcPct val="100000"/>
                        </a:lnSpc>
                        <a:buNone/>
                      </a:pPr>
                      <a:r>
                        <a:rPr lang="fi-FI" sz="1400" dirty="0" smtClean="0"/>
                        <a:t>Apirajitha &amp; Devi</a:t>
                      </a:r>
                      <a:endParaRPr sz="1400" dirty="0">
                        <a:latin typeface="Times New Roman"/>
                      </a:endParaRPr>
                    </a:p>
                  </a:txBody>
                  <a:tcPr marL="0" marR="0" marT="0" marB="0"/>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400" dirty="0" smtClean="0"/>
                        <a:t>Wireless Personal Communications, 2023</a:t>
                      </a:r>
                      <a:endParaRPr sz="1400" dirty="0">
                        <a:latin typeface="Times New Roman"/>
                      </a:endParaRPr>
                    </a:p>
                  </a:txBody>
                  <a:tcPr marL="0" marR="0" marT="0" marB="0"/>
                </a:tc>
                <a:tc>
                  <a:txBody>
                    <a:bodyPr/>
                    <a:lstStyle/>
                    <a:p>
                      <a:pPr lvl="0">
                        <a:lnSpc>
                          <a:spcPct val="100000"/>
                        </a:lnSpc>
                        <a:buNone/>
                      </a:pPr>
                      <a:r>
                        <a:rPr lang="en-US" sz="1400" dirty="0" err="1" smtClean="0"/>
                        <a:t>Blockchain</a:t>
                      </a:r>
                      <a:r>
                        <a:rPr lang="en-US" sz="1400" dirty="0" smtClean="0"/>
                        <a:t> with optimization algorithms for forensic data protection</a:t>
                      </a:r>
                      <a:endParaRPr sz="1400" dirty="0">
                        <a:latin typeface="Times New Roman"/>
                      </a:endParaRPr>
                    </a:p>
                  </a:txBody>
                  <a:tcPr marL="0" marR="0" marT="0" marB="0"/>
                </a:tc>
                <a:tc>
                  <a:txBody>
                    <a:bodyPr/>
                    <a:lstStyle/>
                    <a:p>
                      <a:pPr lvl="0">
                        <a:lnSpc>
                          <a:spcPct val="100000"/>
                        </a:lnSpc>
                        <a:buNone/>
                      </a:pPr>
                      <a:r>
                        <a:rPr lang="en-IN" sz="1400" dirty="0"/>
                        <a:t> </a:t>
                      </a:r>
                      <a:r>
                        <a:rPr lang="en-US" sz="1400" dirty="0" smtClean="0"/>
                        <a:t>Improved evidence traceability and integrity</a:t>
                      </a:r>
                      <a:endParaRPr sz="1400" dirty="0">
                        <a:latin typeface="Times New Roman"/>
                      </a:endParaRPr>
                    </a:p>
                  </a:txBody>
                  <a:tcPr marL="0" marR="0" marT="0" marB="0"/>
                </a:tc>
                <a:tc>
                  <a:txBody>
                    <a:bodyPr/>
                    <a:lstStyle/>
                    <a:p>
                      <a:pPr lvl="0">
                        <a:lnSpc>
                          <a:spcPct val="100000"/>
                        </a:lnSpc>
                        <a:buNone/>
                      </a:pPr>
                      <a:r>
                        <a:rPr lang="en-US" sz="1400" b="0" u="none" strike="noStrike" noProof="0" dirty="0"/>
                        <a:t> </a:t>
                      </a:r>
                      <a:r>
                        <a:rPr lang="en-US" sz="1400" b="0" u="none" strike="noStrike" noProof="0" dirty="0" smtClean="0"/>
                        <a:t>Lacks efficient authentication and access control mechanisms</a:t>
                      </a:r>
                      <a:endParaRPr sz="1400" dirty="0">
                        <a:latin typeface="Times New Roman"/>
                      </a:endParaRPr>
                    </a:p>
                  </a:txBody>
                  <a:tcPr marL="0" marR="0" marT="0" marB="0"/>
                </a:tc>
                <a:extLst>
                  <a:ext uri="{0D108BD9-81ED-4DB2-BD59-A6C34878D82A}">
                    <a16:rowId xmlns="" xmlns:a16="http://schemas.microsoft.com/office/drawing/2014/main" val="10002"/>
                  </a:ext>
                </a:extLst>
              </a:tr>
            </a:tbl>
          </a:graphicData>
        </a:graphic>
      </p:graphicFrame>
      <p:sp>
        <p:nvSpPr>
          <p:cNvPr id="12" name="object 2">
            <a:extLst>
              <a:ext uri="{FF2B5EF4-FFF2-40B4-BE49-F238E27FC236}">
                <a16:creationId xmlns="" xmlns:a16="http://schemas.microsoft.com/office/drawing/2014/main" id="{645C9295-2517-9D36-F2D9-E747C2A3E8EA}"/>
              </a:ext>
            </a:extLst>
          </p:cNvPr>
          <p:cNvSpPr txBox="1"/>
          <p:nvPr/>
        </p:nvSpPr>
        <p:spPr>
          <a:xfrm>
            <a:off x="3337685" y="0"/>
            <a:ext cx="5006213"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r>
              <a:rPr lang="en-US" sz="1400" dirty="0" smtClean="0">
                <a:solidFill>
                  <a:schemeClr val="bg1"/>
                </a:solidFill>
                <a:latin typeface="Times New Roman"/>
                <a:cs typeface="Times New Roman"/>
              </a:rPr>
              <a:t>.</a:t>
            </a:r>
            <a:endParaRPr sz="1400" dirty="0">
              <a:solidFill>
                <a:schemeClr val="bg1"/>
              </a:solidFill>
              <a:latin typeface="Times New Roman"/>
              <a:cs typeface="Times New Roman"/>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8"/>
            <a:ext cx="8468817" cy="689932"/>
          </a:xfrm>
          <a:prstGeom prst="rect">
            <a:avLst/>
          </a:prstGeom>
        </p:spPr>
        <p:txBody>
          <a:bodyPr vert="horz" wrap="square" lIns="0" tIns="12700" rIns="0" bIns="0" rtlCol="0">
            <a:spAutoFit/>
          </a:bodyPr>
          <a:lstStyle/>
          <a:p>
            <a:pPr marL="12700">
              <a:lnSpc>
                <a:spcPct val="100000"/>
              </a:lnSpc>
              <a:spcBef>
                <a:spcPts val="100"/>
              </a:spcBef>
            </a:pPr>
            <a:r>
              <a:rPr lang="en-US" dirty="0" smtClean="0"/>
              <a:t>Introduction</a:t>
            </a:r>
            <a:endParaRPr spc="-10" dirty="0"/>
          </a:p>
        </p:txBody>
      </p:sp>
      <p:sp>
        <p:nvSpPr>
          <p:cNvPr id="8" name="object 8"/>
          <p:cNvSpPr txBox="1">
            <a:spLocks noGrp="1"/>
          </p:cNvSpPr>
          <p:nvPr>
            <p:ph type="ftr" sz="quarter" idx="5"/>
          </p:nvPr>
        </p:nvSpPr>
        <p:spPr>
          <a:xfrm>
            <a:off x="104577" y="6640376"/>
            <a:ext cx="582036" cy="230832"/>
          </a:xfrm>
          <a:prstGeom prst="rect">
            <a:avLst/>
          </a:prstGeom>
        </p:spPr>
        <p:txBody>
          <a:bodyPr vert="horz" wrap="square" lIns="0" tIns="0" rIns="0" bIns="0" rtlCol="0" anchor="t">
            <a:spAutoFit/>
          </a:bodyPr>
          <a:lstStyle/>
          <a:p>
            <a:pPr marL="12700">
              <a:lnSpc>
                <a:spcPts val="1845"/>
              </a:lnSpc>
            </a:pPr>
            <a:r>
              <a:rPr lang="en-IN" spc="-25" dirty="0"/>
              <a:t>B -16</a:t>
            </a:r>
            <a:endParaRPr spc="-25" dirty="0"/>
          </a:p>
        </p:txBody>
      </p:sp>
      <p:sp>
        <p:nvSpPr>
          <p:cNvPr id="9" name="object 9"/>
          <p:cNvSpPr txBox="1">
            <a:spLocks noGrp="1"/>
          </p:cNvSpPr>
          <p:nvPr>
            <p:ph type="dt" sz="half" idx="6"/>
          </p:nvPr>
        </p:nvSpPr>
        <p:spPr>
          <a:xfrm>
            <a:off x="1123125" y="6629792"/>
            <a:ext cx="4962525" cy="461665"/>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25" dirty="0"/>
              <a:t> </a:t>
            </a:r>
            <a:r>
              <a:rPr lang="en-US" cap="small" spc="-114" dirty="0"/>
              <a:t>Computer</a:t>
            </a:r>
            <a:r>
              <a:rPr lang="en-US" cap="small" spc="50" dirty="0"/>
              <a:t> </a:t>
            </a:r>
            <a:r>
              <a:rPr lang="en-US" cap="small" spc="-95" dirty="0"/>
              <a:t>Science</a:t>
            </a:r>
            <a:r>
              <a:rPr lang="en-US" cap="small" spc="50" dirty="0"/>
              <a:t> </a:t>
            </a:r>
            <a:r>
              <a:rPr lang="en-US" cap="small" spc="-130" dirty="0"/>
              <a:t>and</a:t>
            </a:r>
            <a:r>
              <a:rPr lang="en-US" cap="small" spc="45" dirty="0"/>
              <a:t> </a:t>
            </a:r>
            <a:r>
              <a:rPr lang="en-US" cap="small" spc="-110" dirty="0"/>
              <a:t>Engineering</a:t>
            </a:r>
            <a:r>
              <a:rPr lang="en-US" cap="small" spc="45" dirty="0"/>
              <a:t> </a:t>
            </a:r>
            <a:r>
              <a:rPr lang="en-US" cap="small" spc="-70" dirty="0"/>
              <a:t>(</a:t>
            </a:r>
            <a:r>
              <a:rPr lang="en-US" cap="small" spc="-70" dirty="0" err="1"/>
              <a:t>AI&amp;ml</a:t>
            </a:r>
            <a:r>
              <a:rPr lang="en-US" cap="small" spc="-95" dirty="0"/>
              <a:t>)</a:t>
            </a:r>
          </a:p>
          <a:p>
            <a:pPr marL="12700">
              <a:lnSpc>
                <a:spcPts val="1845"/>
              </a:lnSpc>
            </a:pPr>
            <a:endParaRPr cap="small" spc="-95" dirty="0"/>
          </a:p>
        </p:txBody>
      </p:sp>
      <p:sp>
        <p:nvSpPr>
          <p:cNvPr id="10" name="object 10"/>
          <p:cNvSpPr txBox="1"/>
          <p:nvPr/>
        </p:nvSpPr>
        <p:spPr>
          <a:xfrm>
            <a:off x="6749909" y="6640376"/>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12" name="object 2">
            <a:extLst>
              <a:ext uri="{FF2B5EF4-FFF2-40B4-BE49-F238E27FC236}">
                <a16:creationId xmlns="" xmlns:a16="http://schemas.microsoft.com/office/drawing/2014/main" id="{645C9295-2517-9D36-F2D9-E747C2A3E8EA}"/>
              </a:ext>
            </a:extLst>
          </p:cNvPr>
          <p:cNvSpPr txBox="1"/>
          <p:nvPr/>
        </p:nvSpPr>
        <p:spPr>
          <a:xfrm>
            <a:off x="3337685" y="0"/>
            <a:ext cx="5006213"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r>
              <a:rPr lang="en-US" sz="1400" dirty="0" smtClean="0">
                <a:solidFill>
                  <a:schemeClr val="bg1"/>
                </a:solidFill>
                <a:latin typeface="Times New Roman"/>
                <a:cs typeface="Times New Roman"/>
              </a:rPr>
              <a:t>.</a:t>
            </a:r>
            <a:endParaRPr sz="1400" dirty="0">
              <a:solidFill>
                <a:schemeClr val="bg1"/>
              </a:solidFill>
              <a:latin typeface="Times New Roman"/>
              <a:cs typeface="Times New Roman"/>
            </a:endParaRPr>
          </a:p>
        </p:txBody>
      </p:sp>
      <p:sp>
        <p:nvSpPr>
          <p:cNvPr id="2" name="Rectangle 1"/>
          <p:cNvSpPr/>
          <p:nvPr/>
        </p:nvSpPr>
        <p:spPr>
          <a:xfrm>
            <a:off x="533400" y="1246574"/>
            <a:ext cx="10895787" cy="4602029"/>
          </a:xfrm>
          <a:prstGeom prst="rect">
            <a:avLst/>
          </a:prstGeom>
        </p:spPr>
        <p:txBody>
          <a:bodyPr wrap="square">
            <a:spAutoFit/>
          </a:bodyPr>
          <a:lstStyle/>
          <a:p>
            <a:pPr algn="just">
              <a:lnSpc>
                <a:spcPct val="150000"/>
              </a:lnSpc>
            </a:pPr>
            <a:r>
              <a:rPr lang="en-US" sz="2200" dirty="0" smtClean="0">
                <a:latin typeface="Times New Roman" panose="02020603050405020304" pitchFamily="18" charset="0"/>
                <a:cs typeface="Times New Roman" panose="02020603050405020304" pitchFamily="18" charset="0"/>
              </a:rPr>
              <a:t>The rapid growth of digital technologies has increased cybercrimes, making digital evidence such as emails, logs, images, videos, and network records crucial in modern investigations. Secure handling and storage of this evidence are essential to maintain integrity, authenticity, and legal admissibility. However, traditional storage systems often lack strong encryption, access control, and reliable chain-of-custody mechanisms, leading to risks such as insider threats and data tampering. This project proposes a Secure Digital Forensic Evidence Storage System that integrates cryptographic techniques, role-based access control, and </a:t>
            </a:r>
            <a:r>
              <a:rPr lang="en-US" sz="2200" dirty="0" err="1" smtClean="0">
                <a:latin typeface="Times New Roman" panose="02020603050405020304" pitchFamily="18" charset="0"/>
                <a:cs typeface="Times New Roman" panose="02020603050405020304" pitchFamily="18" charset="0"/>
              </a:rPr>
              <a:t>blockchain</a:t>
            </a:r>
            <a:r>
              <a:rPr lang="en-US" sz="2200" dirty="0" smtClean="0">
                <a:latin typeface="Times New Roman" panose="02020603050405020304" pitchFamily="18" charset="0"/>
                <a:cs typeface="Times New Roman" panose="02020603050405020304" pitchFamily="18" charset="0"/>
              </a:rPr>
              <a:t> technology to ensure confidentiality, integrity, and traceability of digital evidence throughout the investigation lifecycle.</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11466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 xmlns:a16="http://schemas.microsoft.com/office/drawing/2014/main" id="{021057BB-8D93-F44B-B9E2-B26E2A078D57}"/>
              </a:ext>
            </a:extLst>
          </p:cNvPr>
          <p:cNvSpPr/>
          <p:nvPr/>
        </p:nvSpPr>
        <p:spPr>
          <a:xfrm>
            <a:off x="-11349" y="19885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39855"/>
            <a:ext cx="3888104" cy="695960"/>
          </a:xfrm>
        </p:spPr>
        <p:txBody>
          <a:bodyPr/>
          <a:lstStyle/>
          <a:p>
            <a:r>
              <a:rPr lang="en-US" b="1" dirty="0" smtClean="0"/>
              <a:t>Existing System</a:t>
            </a:r>
            <a:endParaRPr lang="en-US" b="1" dirty="0"/>
          </a:p>
        </p:txBody>
      </p:sp>
      <p:sp>
        <p:nvSpPr>
          <p:cNvPr id="5" name="Rectangle 4"/>
          <p:cNvSpPr/>
          <p:nvPr/>
        </p:nvSpPr>
        <p:spPr>
          <a:xfrm>
            <a:off x="3331846" y="-93260"/>
            <a:ext cx="5301451" cy="369332"/>
          </a:xfrm>
          <a:prstGeom prst="rect">
            <a:avLst/>
          </a:prstGeom>
        </p:spPr>
        <p:txBody>
          <a:bodyPr wrap="none">
            <a:spAutoFit/>
          </a:bodyPr>
          <a:lstStyle/>
          <a:p>
            <a:pPr marL="12700" algn="ctr">
              <a:spcBef>
                <a:spcPts val="100"/>
              </a:spcBef>
            </a:pPr>
            <a:r>
              <a:rPr lang="en-US" dirty="0" smtClean="0">
                <a:solidFill>
                  <a:schemeClr val="bg1"/>
                </a:solidFill>
              </a:rPr>
              <a:t>Secure Digital Forensic Evidence Storage System</a:t>
            </a:r>
            <a:endParaRPr lang="en-US"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6385"/>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5609"/>
            <a:ext cx="118872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a:solidFill>
                  <a:schemeClr val="tx1"/>
                </a:solidFill>
                <a:latin typeface="Times New Roman" panose="02020603050405020304" pitchFamily="18" charset="0"/>
                <a:cs typeface="Times New Roman" panose="02020603050405020304" pitchFamily="18" charset="0"/>
              </a:rPr>
              <a:t>9</a:t>
            </a:r>
            <a:endParaRPr lang="en-US" sz="1600" b="1" cap="small" spc="-95" dirty="0">
              <a:solidFill>
                <a:schemeClr val="tx1"/>
              </a:solidFill>
              <a:latin typeface="Times New Roman" panose="02020603050405020304" pitchFamily="18" charset="0"/>
              <a:cs typeface="Times New Roman" panose="02020603050405020304" pitchFamily="18" charset="0"/>
            </a:endParaRPr>
          </a:p>
        </p:txBody>
      </p:sp>
      <p:sp>
        <p:nvSpPr>
          <p:cNvPr id="8" name="Rectangle 1"/>
          <p:cNvSpPr>
            <a:spLocks noGrp="1" noChangeArrowheads="1"/>
          </p:cNvSpPr>
          <p:nvPr>
            <p:ph type="body" idx="1"/>
          </p:nvPr>
        </p:nvSpPr>
        <p:spPr bwMode="auto">
          <a:xfrm>
            <a:off x="245519" y="1240598"/>
            <a:ext cx="11658600"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Digital forensic evidence is commonly stored in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centralized servers, external storage devices, or basic cloud platforms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limited security features.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Most systems rely on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password-based authentication</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making them vulnerable to unauthorized access and insider threats.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Encryption is often absent or weak</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increasing the risk of data leakage and </a:t>
            </a:r>
            <a:r>
              <a:rPr kumimoji="0" 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cyberattacks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Chain-of-custody tracking is inadequate</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with manual or poorly monitored access logs that can be altered.</a:t>
            </a:r>
          </a:p>
          <a:p>
            <a:pPr lvl="0" algn="just" rtl="0" eaLnBrk="0" fontAlgn="base" hangingPunct="0">
              <a:lnSpc>
                <a:spcPct val="150000"/>
              </a:lnSpc>
              <a:spcBef>
                <a:spcPct val="0"/>
              </a:spcBef>
              <a:spcAft>
                <a:spcPct val="0"/>
              </a:spcAft>
              <a:buFontTx/>
              <a:buChar char="•"/>
            </a:pPr>
            <a:r>
              <a:rPr lang="en-US" sz="2400" dirty="0"/>
              <a:t>Integrity verification uses </a:t>
            </a:r>
            <a:r>
              <a:rPr lang="en-US" sz="2400" b="1" dirty="0"/>
              <a:t>basic hashing</a:t>
            </a:r>
            <a:r>
              <a:rPr lang="en-US" sz="2400" dirty="0"/>
              <a:t>, but hash values are stored within the same system, allowing possible manipulation.</a:t>
            </a:r>
            <a:endPar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8148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1A66828-A339-AA64-5D50-6C5B5F278A91}"/>
            </a:ext>
          </a:extLst>
        </p:cNvPr>
        <p:cNvGrpSpPr/>
        <p:nvPr/>
      </p:nvGrpSpPr>
      <p:grpSpPr>
        <a:xfrm>
          <a:off x="0" y="0"/>
          <a:ext cx="0" cy="0"/>
          <a:chOff x="0" y="0"/>
          <a:chExt cx="0" cy="0"/>
        </a:xfrm>
      </p:grpSpPr>
      <p:sp>
        <p:nvSpPr>
          <p:cNvPr id="6" name="object 6">
            <a:extLst>
              <a:ext uri="{FF2B5EF4-FFF2-40B4-BE49-F238E27FC236}">
                <a16:creationId xmlns="" xmlns:a16="http://schemas.microsoft.com/office/drawing/2014/main" id="{F604F1D4-AF1C-BEF1-3D11-95D52A753DD2}"/>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 xmlns:a16="http://schemas.microsoft.com/office/drawing/2014/main" id="{EA8FBB2A-94DD-8C04-7DE6-469F07640FB7}"/>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sz="1600" dirty="0">
                <a:solidFill>
                  <a:schemeClr val="bg1"/>
                </a:solidFill>
                <a:latin typeface="Times New Roman"/>
                <a:ea typeface="+mn-lt"/>
                <a:cs typeface="Times New Roman"/>
              </a:rPr>
              <a:t>  B-16</a:t>
            </a:r>
          </a:p>
        </p:txBody>
      </p:sp>
      <p:sp>
        <p:nvSpPr>
          <p:cNvPr id="9" name="object 9">
            <a:extLst>
              <a:ext uri="{FF2B5EF4-FFF2-40B4-BE49-F238E27FC236}">
                <a16:creationId xmlns="" xmlns:a16="http://schemas.microsoft.com/office/drawing/2014/main" id="{50839E0F-372E-263B-86FD-DB74B34137E4}"/>
              </a:ext>
            </a:extLst>
          </p:cNvPr>
          <p:cNvSpPr txBox="1"/>
          <p:nvPr/>
        </p:nvSpPr>
        <p:spPr>
          <a:xfrm>
            <a:off x="162123" y="1103013"/>
            <a:ext cx="11811000" cy="6106800"/>
          </a:xfrm>
          <a:prstGeom prst="rect">
            <a:avLst/>
          </a:prstGeom>
        </p:spPr>
        <p:txBody>
          <a:bodyPr vert="horz" wrap="square" lIns="0" tIns="12700" rIns="0" bIns="0" rtlCol="0" anchor="t">
            <a:spAutoFit/>
          </a:bodyPr>
          <a:lstStyle/>
          <a:p>
            <a:pPr algn="just">
              <a:lnSpc>
                <a:spcPct val="150000"/>
              </a:lnSpc>
            </a:pPr>
            <a:r>
              <a:rPr lang="en-US" sz="2200" b="1" dirty="0" smtClean="0">
                <a:latin typeface="Times New Roman" panose="02020603050405020304" pitchFamily="18" charset="0"/>
                <a:cs typeface="Times New Roman" panose="02020603050405020304" pitchFamily="18" charset="0"/>
              </a:rPr>
              <a:t>Step 1: User Authentication &amp; Authorization</a:t>
            </a:r>
          </a:p>
          <a:p>
            <a:pPr algn="just">
              <a:lnSpc>
                <a:spcPct val="150000"/>
              </a:lnSpc>
            </a:pPr>
            <a:r>
              <a:rPr lang="en-US" sz="2200" dirty="0" smtClean="0">
                <a:latin typeface="Times New Roman" panose="02020603050405020304" pitchFamily="18" charset="0"/>
                <a:cs typeface="Times New Roman" panose="02020603050405020304" pitchFamily="18" charset="0"/>
              </a:rPr>
              <a:t>      Users authenticate using </a:t>
            </a:r>
            <a:r>
              <a:rPr lang="en-US" sz="2200" b="1" dirty="0" smtClean="0">
                <a:latin typeface="Times New Roman" panose="02020603050405020304" pitchFamily="18" charset="0"/>
                <a:cs typeface="Times New Roman" panose="02020603050405020304" pitchFamily="18" charset="0"/>
              </a:rPr>
              <a:t>Multi-Factor Authentication (password, biometric, OTP)</a:t>
            </a:r>
            <a:r>
              <a:rPr lang="en-US" sz="2200" dirty="0" smtClean="0">
                <a:latin typeface="Times New Roman" panose="02020603050405020304" pitchFamily="18" charset="0"/>
                <a:cs typeface="Times New Roman" panose="02020603050405020304" pitchFamily="18" charset="0"/>
              </a:rPr>
              <a:t>.</a:t>
            </a:r>
          </a:p>
          <a:p>
            <a:pPr algn="just">
              <a:lnSpc>
                <a:spcPct val="150000"/>
              </a:lnSpc>
            </a:pPr>
            <a:r>
              <a:rPr lang="en-US" sz="2200" b="1" dirty="0" smtClean="0">
                <a:latin typeface="Times New Roman" panose="02020603050405020304" pitchFamily="18" charset="0"/>
                <a:cs typeface="Times New Roman" panose="02020603050405020304" pitchFamily="18" charset="0"/>
              </a:rPr>
              <a:t>      Role-Based Access Control (RBAC)</a:t>
            </a:r>
            <a:r>
              <a:rPr lang="en-US" sz="2200" dirty="0" smtClean="0">
                <a:latin typeface="Times New Roman" panose="02020603050405020304" pitchFamily="18" charset="0"/>
                <a:cs typeface="Times New Roman" panose="02020603050405020304" pitchFamily="18" charset="0"/>
              </a:rPr>
              <a:t> determines permitted actions (upload, view, download, verify).</a:t>
            </a:r>
          </a:p>
          <a:p>
            <a:pPr algn="just">
              <a:lnSpc>
                <a:spcPct val="150000"/>
              </a:lnSpc>
            </a:pPr>
            <a:r>
              <a:rPr lang="en-US" sz="2200" b="1" dirty="0" smtClean="0">
                <a:latin typeface="Times New Roman" panose="02020603050405020304" pitchFamily="18" charset="0"/>
                <a:cs typeface="Times New Roman" panose="02020603050405020304" pitchFamily="18" charset="0"/>
              </a:rPr>
              <a:t>Step 2: Evidence Acquisition</a:t>
            </a:r>
          </a:p>
          <a:p>
            <a:pPr algn="just">
              <a:lnSpc>
                <a:spcPct val="150000"/>
              </a:lnSpc>
            </a:pPr>
            <a:r>
              <a:rPr lang="en-US" sz="2200" dirty="0" smtClean="0">
                <a:latin typeface="Times New Roman" panose="02020603050405020304" pitchFamily="18" charset="0"/>
                <a:cs typeface="Times New Roman" panose="02020603050405020304" pitchFamily="18" charset="0"/>
              </a:rPr>
              <a:t>      Authorized investigators upload digital evidence (images, videos, logs, documents, audio).</a:t>
            </a:r>
          </a:p>
          <a:p>
            <a:pPr algn="just">
              <a:lnSpc>
                <a:spcPct val="150000"/>
              </a:lnSpc>
            </a:pPr>
            <a:r>
              <a:rPr lang="en-US" sz="2200" b="1" dirty="0" smtClean="0">
                <a:latin typeface="Times New Roman" panose="02020603050405020304" pitchFamily="18" charset="0"/>
                <a:cs typeface="Times New Roman" panose="02020603050405020304" pitchFamily="18" charset="0"/>
              </a:rPr>
              <a:t>Step 3: Integrity Generation</a:t>
            </a:r>
          </a:p>
          <a:p>
            <a:pPr algn="just">
              <a:lnSpc>
                <a:spcPct val="150000"/>
              </a:lnSpc>
            </a:pPr>
            <a:r>
              <a:rPr lang="en-US" sz="2200" dirty="0" smtClean="0">
                <a:latin typeface="Times New Roman" panose="02020603050405020304" pitchFamily="18" charset="0"/>
                <a:cs typeface="Times New Roman" panose="02020603050405020304" pitchFamily="18" charset="0"/>
              </a:rPr>
              <a:t>      A </a:t>
            </a:r>
            <a:r>
              <a:rPr lang="en-US" sz="2200" b="1" dirty="0" smtClean="0">
                <a:latin typeface="Times New Roman" panose="02020603050405020304" pitchFamily="18" charset="0"/>
                <a:cs typeface="Times New Roman" panose="02020603050405020304" pitchFamily="18" charset="0"/>
              </a:rPr>
              <a:t>SHA-256 hash</a:t>
            </a:r>
            <a:r>
              <a:rPr lang="en-US" sz="2200" dirty="0" smtClean="0">
                <a:latin typeface="Times New Roman" panose="02020603050405020304" pitchFamily="18" charset="0"/>
                <a:cs typeface="Times New Roman" panose="02020603050405020304" pitchFamily="18" charset="0"/>
              </a:rPr>
              <a:t> is generated immediately to preserve evidence integrity.</a:t>
            </a:r>
          </a:p>
          <a:p>
            <a:pPr algn="just">
              <a:lnSpc>
                <a:spcPct val="150000"/>
              </a:lnSpc>
            </a:pPr>
            <a:r>
              <a:rPr lang="en-US" sz="2200" b="1" dirty="0" smtClean="0">
                <a:latin typeface="Times New Roman" panose="02020603050405020304" pitchFamily="18" charset="0"/>
                <a:cs typeface="Times New Roman" panose="02020603050405020304" pitchFamily="18" charset="0"/>
              </a:rPr>
              <a:t>Step 4: Secure Encryption &amp; </a:t>
            </a:r>
            <a:r>
              <a:rPr lang="en-US" sz="2200" b="1" dirty="0" err="1" smtClean="0">
                <a:latin typeface="Times New Roman" panose="02020603050405020304" pitchFamily="18" charset="0"/>
                <a:cs typeface="Times New Roman" panose="02020603050405020304" pitchFamily="18" charset="0"/>
              </a:rPr>
              <a:t>Sharding</a:t>
            </a:r>
            <a:endParaRPr lang="en-US" sz="2200" b="1" dirty="0" smtClean="0">
              <a:latin typeface="Times New Roman" panose="02020603050405020304" pitchFamily="18" charset="0"/>
              <a:cs typeface="Times New Roman" panose="02020603050405020304" pitchFamily="18" charset="0"/>
            </a:endParaRPr>
          </a:p>
          <a:p>
            <a:pPr algn="just">
              <a:lnSpc>
                <a:spcPct val="150000"/>
              </a:lnSpc>
            </a:pPr>
            <a:r>
              <a:rPr lang="en-US" sz="2200" dirty="0" smtClean="0">
                <a:latin typeface="Times New Roman" panose="02020603050405020304" pitchFamily="18" charset="0"/>
                <a:cs typeface="Times New Roman" panose="02020603050405020304" pitchFamily="18" charset="0"/>
              </a:rPr>
              <a:t>      Evidence is split into </a:t>
            </a:r>
            <a:r>
              <a:rPr lang="en-US" sz="2200" b="1" dirty="0" smtClean="0">
                <a:latin typeface="Times New Roman" panose="02020603050405020304" pitchFamily="18" charset="0"/>
                <a:cs typeface="Times New Roman" panose="02020603050405020304" pitchFamily="18" charset="0"/>
              </a:rPr>
              <a:t>multiple shards</a:t>
            </a:r>
            <a:r>
              <a:rPr lang="en-US" sz="2200" dirty="0" smtClean="0">
                <a:latin typeface="Times New Roman" panose="02020603050405020304" pitchFamily="18" charset="0"/>
                <a:cs typeface="Times New Roman" panose="02020603050405020304" pitchFamily="18" charset="0"/>
              </a:rPr>
              <a:t>.</a:t>
            </a:r>
          </a:p>
          <a:p>
            <a:pPr algn="just">
              <a:lnSpc>
                <a:spcPct val="150000"/>
              </a:lnSpc>
            </a:pPr>
            <a:r>
              <a:rPr lang="en-US" sz="2200" dirty="0" smtClean="0">
                <a:latin typeface="Times New Roman" panose="02020603050405020304" pitchFamily="18" charset="0"/>
                <a:cs typeface="Times New Roman" panose="02020603050405020304" pitchFamily="18" charset="0"/>
              </a:rPr>
              <a:t>      Shards are encrypted using </a:t>
            </a:r>
            <a:r>
              <a:rPr lang="en-US" sz="2200" b="1" dirty="0" smtClean="0">
                <a:latin typeface="Times New Roman" panose="02020603050405020304" pitchFamily="18" charset="0"/>
                <a:cs typeface="Times New Roman" panose="02020603050405020304" pitchFamily="18" charset="0"/>
              </a:rPr>
              <a:t>AES-256</a:t>
            </a:r>
            <a:r>
              <a:rPr lang="en-US" sz="2200" dirty="0" smtClean="0">
                <a:latin typeface="Times New Roman" panose="02020603050405020304" pitchFamily="18" charset="0"/>
                <a:cs typeface="Times New Roman" panose="02020603050405020304" pitchFamily="18" charset="0"/>
              </a:rPr>
              <a:t>.</a:t>
            </a:r>
          </a:p>
          <a:p>
            <a:pPr algn="just">
              <a:lnSpc>
                <a:spcPct val="150000"/>
              </a:lnSpc>
            </a:pPr>
            <a:r>
              <a:rPr lang="en-US" sz="2200" dirty="0" smtClean="0">
                <a:latin typeface="Times New Roman" panose="02020603050405020304" pitchFamily="18" charset="0"/>
                <a:cs typeface="Times New Roman" panose="02020603050405020304" pitchFamily="18" charset="0"/>
              </a:rPr>
              <a:t>      Encryption keys are optimized using a </a:t>
            </a:r>
            <a:r>
              <a:rPr lang="en-US" sz="2200" b="1" dirty="0" smtClean="0">
                <a:latin typeface="Times New Roman" panose="02020603050405020304" pitchFamily="18" charset="0"/>
                <a:cs typeface="Times New Roman" panose="02020603050405020304" pitchFamily="18" charset="0"/>
              </a:rPr>
              <a:t>Genetic Algorithm</a:t>
            </a:r>
            <a:r>
              <a:rPr lang="en-US" sz="2200" dirty="0" smtClean="0">
                <a:latin typeface="Times New Roman" panose="02020603050405020304" pitchFamily="18" charset="0"/>
                <a:cs typeface="Times New Roman" panose="02020603050405020304" pitchFamily="18" charset="0"/>
              </a:rPr>
              <a:t> and protected via </a:t>
            </a:r>
            <a:r>
              <a:rPr lang="en-US" sz="2200" b="1" dirty="0" smtClean="0">
                <a:latin typeface="Times New Roman" panose="02020603050405020304" pitchFamily="18" charset="0"/>
                <a:cs typeface="Times New Roman" panose="02020603050405020304" pitchFamily="18" charset="0"/>
              </a:rPr>
              <a:t>ECC encryption</a:t>
            </a:r>
            <a:r>
              <a:rPr lang="en-US" sz="2200" dirty="0" smtClean="0">
                <a:latin typeface="Times New Roman" panose="02020603050405020304" pitchFamily="18" charset="0"/>
                <a:cs typeface="Times New Roman" panose="02020603050405020304" pitchFamily="18" charset="0"/>
              </a:rPr>
              <a:t>.</a:t>
            </a:r>
          </a:p>
          <a:p>
            <a:pPr>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10" name="object 9">
            <a:extLst>
              <a:ext uri="{FF2B5EF4-FFF2-40B4-BE49-F238E27FC236}">
                <a16:creationId xmlns="" xmlns:a16="http://schemas.microsoft.com/office/drawing/2014/main" id="{D1977AE6-95C9-1128-E2F4-41C85FF29E21}"/>
              </a:ext>
            </a:extLst>
          </p:cNvPr>
          <p:cNvSpPr txBox="1">
            <a:spLocks noGrp="1"/>
          </p:cNvSpPr>
          <p:nvPr>
            <p:ph type="dt" sz="half" idx="6"/>
          </p:nvPr>
        </p:nvSpPr>
        <p:spPr>
          <a:xfrm>
            <a:off x="1175812" y="6629309"/>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a:t>
            </a:r>
            <a:endParaRPr cap="small" spc="-95" dirty="0"/>
          </a:p>
        </p:txBody>
      </p:sp>
      <p:sp>
        <p:nvSpPr>
          <p:cNvPr id="22" name="object 5">
            <a:extLst>
              <a:ext uri="{FF2B5EF4-FFF2-40B4-BE49-F238E27FC236}">
                <a16:creationId xmlns="" xmlns:a16="http://schemas.microsoft.com/office/drawing/2014/main" id="{30513A1C-239C-B928-A044-F829A49F0D17}"/>
              </a:ext>
            </a:extLst>
          </p:cNvPr>
          <p:cNvSpPr/>
          <p:nvPr/>
        </p:nvSpPr>
        <p:spPr>
          <a:xfrm>
            <a:off x="-1" y="243940"/>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 xmlns:a16="http://schemas.microsoft.com/office/drawing/2014/main" id="{775D5862-A5AD-3A3F-AFD6-4C5BE588AEC1}"/>
              </a:ext>
            </a:extLst>
          </p:cNvPr>
          <p:cNvSpPr txBox="1">
            <a:spLocks noGrp="1"/>
          </p:cNvSpPr>
          <p:nvPr>
            <p:ph type="title"/>
          </p:nvPr>
        </p:nvSpPr>
        <p:spPr>
          <a:xfrm>
            <a:off x="20182" y="331753"/>
            <a:ext cx="4170818" cy="689932"/>
          </a:xfrm>
          <a:prstGeom prst="rect">
            <a:avLst/>
          </a:prstGeom>
        </p:spPr>
        <p:txBody>
          <a:bodyPr vert="horz" wrap="square" lIns="0" tIns="12700" rIns="0" bIns="0" rtlCol="0">
            <a:spAutoFit/>
          </a:bodyPr>
          <a:lstStyle/>
          <a:p>
            <a:pPr marL="12700" algn="ctr">
              <a:lnSpc>
                <a:spcPct val="100000"/>
              </a:lnSpc>
            </a:pPr>
            <a:r>
              <a:rPr lang="en-IN" b="1" spc="-10" dirty="0"/>
              <a:t>Proposed </a:t>
            </a:r>
            <a:r>
              <a:rPr lang="en-IN" b="1" spc="-10" dirty="0" smtClean="0"/>
              <a:t>System</a:t>
            </a:r>
            <a:endParaRPr b="1" spc="-10" dirty="0"/>
          </a:p>
        </p:txBody>
      </p:sp>
      <p:sp>
        <p:nvSpPr>
          <p:cNvPr id="28" name="object 2">
            <a:extLst>
              <a:ext uri="{FF2B5EF4-FFF2-40B4-BE49-F238E27FC236}">
                <a16:creationId xmlns="" xmlns:a16="http://schemas.microsoft.com/office/drawing/2014/main" id="{D2A3787C-07C2-74BD-C3C4-E5E17AEEFDE6}"/>
              </a:ext>
            </a:extLst>
          </p:cNvPr>
          <p:cNvSpPr txBox="1"/>
          <p:nvPr/>
        </p:nvSpPr>
        <p:spPr>
          <a:xfrm>
            <a:off x="3604387" y="-10897"/>
            <a:ext cx="4333674"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sz="1500" dirty="0">
              <a:solidFill>
                <a:schemeClr val="bg1"/>
              </a:solidFill>
              <a:latin typeface="Times New Roman"/>
              <a:cs typeface="Times New Roman"/>
            </a:endParaRPr>
          </a:p>
        </p:txBody>
      </p:sp>
      <p:sp>
        <p:nvSpPr>
          <p:cNvPr id="29" name="object 12">
            <a:extLst>
              <a:ext uri="{FF2B5EF4-FFF2-40B4-BE49-F238E27FC236}">
                <a16:creationId xmlns="" xmlns:a16="http://schemas.microsoft.com/office/drawing/2014/main" id="{127EC2EF-88B0-B702-9676-CA235700A147}"/>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Tree>
    <p:extLst>
      <p:ext uri="{BB962C8B-B14F-4D97-AF65-F5344CB8AC3E}">
        <p14:creationId xmlns:p14="http://schemas.microsoft.com/office/powerpoint/2010/main" val="6948779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5475" y="1170100"/>
            <a:ext cx="11950325" cy="5924699"/>
          </a:xfrm>
        </p:spPr>
        <p:txBody>
          <a:bodyPr/>
          <a:lstStyle/>
          <a:p>
            <a:pPr algn="just">
              <a:lnSpc>
                <a:spcPct val="150000"/>
              </a:lnSpc>
            </a:pPr>
            <a:r>
              <a:rPr lang="en-US" sz="2200" b="1" dirty="0">
                <a:latin typeface="Times New Roman" panose="02020603050405020304" pitchFamily="18" charset="0"/>
                <a:cs typeface="Times New Roman" panose="02020603050405020304" pitchFamily="18" charset="0"/>
              </a:rPr>
              <a:t>Step 5: Secure Storage</a:t>
            </a:r>
          </a:p>
          <a:p>
            <a:pPr algn="just">
              <a:lnSpc>
                <a:spcPct val="150000"/>
              </a:lnSpc>
            </a:pPr>
            <a:r>
              <a:rPr lang="en-US" sz="2200" dirty="0" smtClean="0">
                <a:latin typeface="Times New Roman" panose="02020603050405020304" pitchFamily="18" charset="0"/>
                <a:cs typeface="Times New Roman" panose="02020603050405020304" pitchFamily="18" charset="0"/>
              </a:rPr>
              <a:t>       Encrypted </a:t>
            </a:r>
            <a:r>
              <a:rPr lang="en-US" sz="2200" dirty="0">
                <a:latin typeface="Times New Roman" panose="02020603050405020304" pitchFamily="18" charset="0"/>
                <a:cs typeface="Times New Roman" panose="02020603050405020304" pitchFamily="18" charset="0"/>
              </a:rPr>
              <a:t>shards are stored in a </a:t>
            </a:r>
            <a:r>
              <a:rPr lang="en-US" sz="2200" b="1" dirty="0">
                <a:latin typeface="Times New Roman" panose="02020603050405020304" pitchFamily="18" charset="0"/>
                <a:cs typeface="Times New Roman" panose="02020603050405020304" pitchFamily="18" charset="0"/>
              </a:rPr>
              <a:t>secure server / cloud database</a:t>
            </a:r>
            <a:r>
              <a:rPr lang="en-US" sz="2200" dirty="0">
                <a:latin typeface="Times New Roman" panose="02020603050405020304" pitchFamily="18" charset="0"/>
                <a:cs typeface="Times New Roman" panose="02020603050405020304" pitchFamily="18" charset="0"/>
              </a:rPr>
              <a:t>.</a:t>
            </a:r>
          </a:p>
          <a:p>
            <a:pPr algn="just">
              <a:lnSpc>
                <a:spcPct val="150000"/>
              </a:lnSpc>
            </a:pPr>
            <a:r>
              <a:rPr lang="en-US" sz="2200" dirty="0" smtClean="0">
                <a:latin typeface="Times New Roman" panose="02020603050405020304" pitchFamily="18" charset="0"/>
                <a:cs typeface="Times New Roman" panose="02020603050405020304" pitchFamily="18" charset="0"/>
              </a:rPr>
              <a:t>       Hash </a:t>
            </a:r>
            <a:r>
              <a:rPr lang="en-US" sz="2200" dirty="0">
                <a:latin typeface="Times New Roman" panose="02020603050405020304" pitchFamily="18" charset="0"/>
                <a:cs typeface="Times New Roman" panose="02020603050405020304" pitchFamily="18" charset="0"/>
              </a:rPr>
              <a:t>values are stored on a </a:t>
            </a:r>
            <a:r>
              <a:rPr lang="en-US" sz="2200" b="1" dirty="0" err="1">
                <a:latin typeface="Times New Roman" panose="02020603050405020304" pitchFamily="18" charset="0"/>
                <a:cs typeface="Times New Roman" panose="02020603050405020304" pitchFamily="18" charset="0"/>
              </a:rPr>
              <a:t>blockchain</a:t>
            </a:r>
            <a:r>
              <a:rPr lang="en-US" sz="2200" b="1" dirty="0">
                <a:latin typeface="Times New Roman" panose="02020603050405020304" pitchFamily="18" charset="0"/>
                <a:cs typeface="Times New Roman" panose="02020603050405020304" pitchFamily="18" charset="0"/>
              </a:rPr>
              <a:t> ledger</a:t>
            </a:r>
            <a:r>
              <a:rPr lang="en-US" sz="2200" dirty="0">
                <a:latin typeface="Times New Roman" panose="02020603050405020304" pitchFamily="18" charset="0"/>
                <a:cs typeface="Times New Roman" panose="02020603050405020304" pitchFamily="18" charset="0"/>
              </a:rPr>
              <a:t> to ensure immutability.</a:t>
            </a:r>
          </a:p>
          <a:p>
            <a:pPr algn="just">
              <a:lnSpc>
                <a:spcPct val="150000"/>
              </a:lnSpc>
            </a:pPr>
            <a:r>
              <a:rPr lang="en-US" sz="2200" b="1" dirty="0">
                <a:latin typeface="Times New Roman" panose="02020603050405020304" pitchFamily="18" charset="0"/>
                <a:cs typeface="Times New Roman" panose="02020603050405020304" pitchFamily="18" charset="0"/>
              </a:rPr>
              <a:t>Step 6: </a:t>
            </a:r>
            <a:r>
              <a:rPr lang="en-US" sz="2200" b="1" dirty="0" err="1">
                <a:latin typeface="Times New Roman" panose="02020603050405020304" pitchFamily="18" charset="0"/>
                <a:cs typeface="Times New Roman" panose="02020603050405020304" pitchFamily="18" charset="0"/>
              </a:rPr>
              <a:t>Blockchain</a:t>
            </a:r>
            <a:r>
              <a:rPr lang="en-US" sz="2200" b="1" dirty="0">
                <a:latin typeface="Times New Roman" panose="02020603050405020304" pitchFamily="18" charset="0"/>
                <a:cs typeface="Times New Roman" panose="02020603050405020304" pitchFamily="18" charset="0"/>
              </a:rPr>
              <a:t>-Based Chain of Custody</a:t>
            </a:r>
          </a:p>
          <a:p>
            <a:pPr algn="just">
              <a:lnSpc>
                <a:spcPct val="150000"/>
              </a:lnSpc>
            </a:pPr>
            <a:r>
              <a:rPr lang="en-US" sz="2200" dirty="0" smtClean="0">
                <a:latin typeface="Times New Roman" panose="02020603050405020304" pitchFamily="18" charset="0"/>
                <a:cs typeface="Times New Roman" panose="02020603050405020304" pitchFamily="18" charset="0"/>
              </a:rPr>
              <a:t>       All </a:t>
            </a:r>
            <a:r>
              <a:rPr lang="en-US" sz="2200" dirty="0">
                <a:latin typeface="Times New Roman" panose="02020603050405020304" pitchFamily="18" charset="0"/>
                <a:cs typeface="Times New Roman" panose="02020603050405020304" pitchFamily="18" charset="0"/>
              </a:rPr>
              <a:t>operations (upload, access, transfer, verification, key release) are </a:t>
            </a:r>
            <a:r>
              <a:rPr lang="en-US" sz="2200" b="1" dirty="0">
                <a:latin typeface="Times New Roman" panose="02020603050405020304" pitchFamily="18" charset="0"/>
                <a:cs typeface="Times New Roman" panose="02020603050405020304" pitchFamily="18" charset="0"/>
              </a:rPr>
              <a:t>time-stamped and logged </a:t>
            </a:r>
            <a:r>
              <a:rPr lang="en-US" sz="2200" b="1" dirty="0" smtClean="0">
                <a:latin typeface="Times New Roman" panose="02020603050405020304" pitchFamily="18" charset="0"/>
                <a:cs typeface="Times New Roman" panose="02020603050405020304" pitchFamily="18" charset="0"/>
              </a:rPr>
              <a:t>on                         </a:t>
            </a:r>
            <a:r>
              <a:rPr lang="en-US" sz="2200" b="1" dirty="0" err="1" smtClean="0">
                <a:latin typeface="Times New Roman" panose="02020603050405020304" pitchFamily="18" charset="0"/>
                <a:cs typeface="Times New Roman" panose="02020603050405020304" pitchFamily="18" charset="0"/>
              </a:rPr>
              <a:t>blockchain</a:t>
            </a:r>
            <a:r>
              <a:rPr lang="en-US" sz="2200" dirty="0">
                <a:latin typeface="Times New Roman" panose="02020603050405020304" pitchFamily="18" charset="0"/>
                <a:cs typeface="Times New Roman" panose="02020603050405020304" pitchFamily="18" charset="0"/>
              </a:rPr>
              <a:t>.</a:t>
            </a:r>
          </a:p>
          <a:p>
            <a:pPr algn="just">
              <a:lnSpc>
                <a:spcPct val="150000"/>
              </a:lnSpc>
            </a:pPr>
            <a:r>
              <a:rPr lang="en-US" sz="2200" b="1" dirty="0">
                <a:latin typeface="Times New Roman" panose="02020603050405020304" pitchFamily="18" charset="0"/>
                <a:cs typeface="Times New Roman" panose="02020603050405020304" pitchFamily="18" charset="0"/>
              </a:rPr>
              <a:t>Step 7: Controlled Evidence Access</a:t>
            </a:r>
          </a:p>
          <a:p>
            <a:pPr algn="just">
              <a:lnSpc>
                <a:spcPct val="150000"/>
              </a:lnSpc>
            </a:pPr>
            <a:r>
              <a:rPr lang="en-US" sz="2200" dirty="0" smtClean="0">
                <a:latin typeface="Times New Roman" panose="02020603050405020304" pitchFamily="18" charset="0"/>
                <a:cs typeface="Times New Roman" panose="02020603050405020304" pitchFamily="18" charset="0"/>
              </a:rPr>
              <a:t>       Authorized </a:t>
            </a:r>
            <a:r>
              <a:rPr lang="en-US" sz="2200" dirty="0">
                <a:latin typeface="Times New Roman" panose="02020603050405020304" pitchFamily="18" charset="0"/>
                <a:cs typeface="Times New Roman" panose="02020603050405020304" pitchFamily="18" charset="0"/>
              </a:rPr>
              <a:t>users receive </a:t>
            </a:r>
            <a:r>
              <a:rPr lang="en-US" sz="2200" b="1" dirty="0">
                <a:latin typeface="Times New Roman" panose="02020603050405020304" pitchFamily="18" charset="0"/>
                <a:cs typeface="Times New Roman" panose="02020603050405020304" pitchFamily="18" charset="0"/>
              </a:rPr>
              <a:t>one-time decryption keys</a:t>
            </a:r>
            <a:r>
              <a:rPr lang="en-US" sz="2200" dirty="0">
                <a:latin typeface="Times New Roman" panose="02020603050405020304" pitchFamily="18" charset="0"/>
                <a:cs typeface="Times New Roman" panose="02020603050405020304" pitchFamily="18" charset="0"/>
              </a:rPr>
              <a:t> for controlled evidence access.</a:t>
            </a:r>
          </a:p>
          <a:p>
            <a:pPr algn="just">
              <a:lnSpc>
                <a:spcPct val="150000"/>
              </a:lnSpc>
            </a:pPr>
            <a:r>
              <a:rPr lang="en-US" sz="2200" b="1" dirty="0">
                <a:latin typeface="Times New Roman" panose="02020603050405020304" pitchFamily="18" charset="0"/>
                <a:cs typeface="Times New Roman" panose="02020603050405020304" pitchFamily="18" charset="0"/>
              </a:rPr>
              <a:t>Step 8: Audit &amp; Verification</a:t>
            </a:r>
          </a:p>
          <a:p>
            <a:pPr algn="just">
              <a:lnSpc>
                <a:spcPct val="150000"/>
              </a:lnSpc>
            </a:pPr>
            <a:r>
              <a:rPr lang="en-US" sz="2200" b="1" dirty="0" smtClean="0">
                <a:latin typeface="Times New Roman" panose="02020603050405020304" pitchFamily="18" charset="0"/>
                <a:cs typeface="Times New Roman" panose="02020603050405020304" pitchFamily="18" charset="0"/>
              </a:rPr>
              <a:t>       Tamper-proof </a:t>
            </a:r>
            <a:r>
              <a:rPr lang="en-US" sz="2200" b="1" dirty="0">
                <a:latin typeface="Times New Roman" panose="02020603050405020304" pitchFamily="18" charset="0"/>
                <a:cs typeface="Times New Roman" panose="02020603050405020304" pitchFamily="18" charset="0"/>
              </a:rPr>
              <a:t>audit logs</a:t>
            </a:r>
            <a:r>
              <a:rPr lang="en-US" sz="2200" dirty="0">
                <a:latin typeface="Times New Roman" panose="02020603050405020304" pitchFamily="18" charset="0"/>
                <a:cs typeface="Times New Roman" panose="02020603050405020304" pitchFamily="18" charset="0"/>
              </a:rPr>
              <a:t> maintain transparency.</a:t>
            </a:r>
          </a:p>
          <a:p>
            <a:pPr algn="just">
              <a:lnSpc>
                <a:spcPct val="150000"/>
              </a:lnSpc>
            </a:pPr>
            <a:r>
              <a:rPr lang="en-US" sz="2200" dirty="0" smtClean="0">
                <a:latin typeface="Times New Roman" panose="02020603050405020304" pitchFamily="18" charset="0"/>
                <a:cs typeface="Times New Roman" panose="02020603050405020304" pitchFamily="18" charset="0"/>
              </a:rPr>
              <a:t>       Any </a:t>
            </a:r>
            <a:r>
              <a:rPr lang="en-US" sz="2200" dirty="0">
                <a:latin typeface="Times New Roman" panose="02020603050405020304" pitchFamily="18" charset="0"/>
                <a:cs typeface="Times New Roman" panose="02020603050405020304" pitchFamily="18" charset="0"/>
              </a:rPr>
              <a:t>modification attempt triggers a </a:t>
            </a:r>
            <a:r>
              <a:rPr lang="en-US" sz="2200" b="1" dirty="0">
                <a:latin typeface="Times New Roman" panose="02020603050405020304" pitchFamily="18" charset="0"/>
                <a:cs typeface="Times New Roman" panose="02020603050405020304" pitchFamily="18" charset="0"/>
              </a:rPr>
              <a:t>hash mismatch alert</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1354217"/>
          </a:xfrm>
        </p:spPr>
        <p:txBody>
          <a:bodyPr/>
          <a:lstStyle/>
          <a:p>
            <a:r>
              <a:rPr lang="en-US" b="1" dirty="0" smtClean="0"/>
              <a:t>Proposed System</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11</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8590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8620" y="1478182"/>
            <a:ext cx="11950325" cy="3893374"/>
          </a:xfrm>
        </p:spPr>
        <p:txBody>
          <a:bodyPr/>
          <a:lstStyle/>
          <a:p>
            <a:pPr algn="just">
              <a:lnSpc>
                <a:spcPct val="150000"/>
              </a:lnSpc>
            </a:pPr>
            <a:r>
              <a:rPr lang="en-US" sz="2200" b="1" dirty="0">
                <a:latin typeface="Times New Roman" panose="02020603050405020304" pitchFamily="18" charset="0"/>
                <a:cs typeface="Times New Roman" panose="02020603050405020304" pitchFamily="18" charset="0"/>
              </a:rPr>
              <a:t>Phased Development Approach</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Requirement Analysis &amp; Threat Modeling</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System Architecture Design</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Module-wise Implementation</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Integration &amp; Testing</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Performance Evaluation</a:t>
            </a:r>
          </a:p>
          <a:p>
            <a:pPr marL="4572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Documentation &amp; Deployment</a:t>
            </a:r>
          </a:p>
          <a:p>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Planning</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12</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0326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1675" y="1304846"/>
            <a:ext cx="11950325" cy="4909036"/>
          </a:xfrm>
        </p:spPr>
        <p:txBody>
          <a:bodyPr/>
          <a:lstStyle/>
          <a:p>
            <a:pPr algn="just">
              <a:lnSpc>
                <a:spcPct val="150000"/>
              </a:lnSpc>
            </a:pPr>
            <a:r>
              <a:rPr lang="en-US" sz="2200" b="1" dirty="0">
                <a:latin typeface="Times New Roman" panose="02020603050405020304" pitchFamily="18" charset="0"/>
                <a:cs typeface="Times New Roman" panose="02020603050405020304" pitchFamily="18" charset="0"/>
              </a:rPr>
              <a:t>Functional Requirements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User registration and admin approval</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Multi-Factor Authentication (MFA) login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Role-Based Access Control (RBAC)</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Upload and encryption of evidence</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File </a:t>
            </a:r>
            <a:r>
              <a:rPr lang="en-US" sz="2200" dirty="0" err="1">
                <a:latin typeface="Times New Roman" panose="02020603050405020304" pitchFamily="18" charset="0"/>
                <a:cs typeface="Times New Roman" panose="02020603050405020304" pitchFamily="18" charset="0"/>
              </a:rPr>
              <a:t>sharding</a:t>
            </a:r>
            <a:r>
              <a:rPr lang="en-US" sz="2200" dirty="0">
                <a:latin typeface="Times New Roman" panose="02020603050405020304" pitchFamily="18" charset="0"/>
                <a:cs typeface="Times New Roman" panose="02020603050405020304" pitchFamily="18" charset="0"/>
              </a:rPr>
              <a:t> for security</a:t>
            </a:r>
          </a:p>
          <a:p>
            <a:pPr marL="342900" indent="-342900" algn="just">
              <a:lnSpc>
                <a:spcPct val="150000"/>
              </a:lnSpc>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Blockchain</a:t>
            </a:r>
            <a:r>
              <a:rPr lang="en-US" sz="2200" dirty="0">
                <a:latin typeface="Times New Roman" panose="02020603050405020304" pitchFamily="18" charset="0"/>
                <a:cs typeface="Times New Roman" panose="02020603050405020304" pitchFamily="18" charset="0"/>
              </a:rPr>
              <a:t>-based audit logging</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Access request and one-time decryption key</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Audit log visualization</a:t>
            </a:r>
          </a:p>
          <a:p>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Requirements</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13</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2084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1675" y="1304846"/>
            <a:ext cx="11950325" cy="5078313"/>
          </a:xfrm>
        </p:spPr>
        <p:txBody>
          <a:bodyPr/>
          <a:lstStyle/>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Authentication Module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MFA Module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Evidence Upload Module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Encryption Engine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Key Optimization Engine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Blockchain</a:t>
            </a:r>
            <a:r>
              <a:rPr lang="en-IN" sz="2200" dirty="0">
                <a:latin typeface="Times New Roman" panose="02020603050405020304" pitchFamily="18" charset="0"/>
                <a:cs typeface="Times New Roman" panose="02020603050405020304" pitchFamily="18" charset="0"/>
              </a:rPr>
              <a:t> Audit Module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RBAC Module</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Access Request Handler</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Decryption Key Manager</a:t>
            </a:r>
            <a:endParaRPr lang="en-US" sz="2200"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Notification Service</a:t>
            </a:r>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4419600" cy="677108"/>
          </a:xfrm>
        </p:spPr>
        <p:txBody>
          <a:bodyPr/>
          <a:lstStyle/>
          <a:p>
            <a:r>
              <a:rPr lang="en-US" b="1" dirty="0" smtClean="0"/>
              <a:t>Modules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14</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49654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015943" y="1304846"/>
            <a:ext cx="4518457" cy="447045"/>
          </a:xfrm>
        </p:spPr>
        <p:txBody>
          <a:bodyPr/>
          <a:lstStyle/>
          <a:p>
            <a:pPr lvl="0" algn="just">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9525000" cy="677108"/>
          </a:xfrm>
        </p:spPr>
        <p:txBody>
          <a:bodyPr/>
          <a:lstStyle/>
          <a:p>
            <a:r>
              <a:rPr lang="en-US" b="1" dirty="0" smtClean="0"/>
              <a:t>System Design</a:t>
            </a:r>
            <a:r>
              <a:rPr lang="en-US" b="1" dirty="0" smtClean="0"/>
              <a:t>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15</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913" y="1249656"/>
            <a:ext cx="8926171" cy="5363323"/>
          </a:xfrm>
          <a:prstGeom prst="rect">
            <a:avLst/>
          </a:prstGeom>
        </p:spPr>
      </p:pic>
    </p:spTree>
    <p:extLst>
      <p:ext uri="{BB962C8B-B14F-4D97-AF65-F5344CB8AC3E}">
        <p14:creationId xmlns:p14="http://schemas.microsoft.com/office/powerpoint/2010/main" val="3322519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flipH="1">
            <a:off x="3926666" y="1600200"/>
            <a:ext cx="3312333" cy="447045"/>
          </a:xfrm>
        </p:spPr>
        <p:txBody>
          <a:bodyPr/>
          <a:lstStyle/>
          <a:p>
            <a:pPr lvl="0" algn="just">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5410200" cy="1354217"/>
          </a:xfrm>
        </p:spPr>
        <p:txBody>
          <a:bodyPr/>
          <a:lstStyle/>
          <a:p>
            <a:r>
              <a:rPr lang="en-US" b="1" dirty="0" smtClean="0"/>
              <a:t>Data Flow Diagram</a:t>
            </a:r>
            <a:r>
              <a:rPr lang="en-US" b="1" dirty="0" smtClean="0"/>
              <a:t>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16</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786" y="1304846"/>
            <a:ext cx="10058400" cy="5348092"/>
          </a:xfrm>
          <a:prstGeom prst="rect">
            <a:avLst/>
          </a:prstGeom>
        </p:spPr>
      </p:pic>
    </p:spTree>
    <p:extLst>
      <p:ext uri="{BB962C8B-B14F-4D97-AF65-F5344CB8AC3E}">
        <p14:creationId xmlns:p14="http://schemas.microsoft.com/office/powerpoint/2010/main" val="115436154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8229600" cy="677108"/>
          </a:xfrm>
        </p:spPr>
        <p:txBody>
          <a:bodyPr/>
          <a:lstStyle/>
          <a:p>
            <a:r>
              <a:rPr lang="en-US" b="1" dirty="0" smtClean="0"/>
              <a:t>Data Preprocessing Techniques</a:t>
            </a:r>
            <a:r>
              <a:rPr lang="en-US" b="1" dirty="0" smtClean="0"/>
              <a:t>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17</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
        <p:nvSpPr>
          <p:cNvPr id="8" name="Rectangle 1"/>
          <p:cNvSpPr>
            <a:spLocks noGrp="1" noChangeArrowheads="1"/>
          </p:cNvSpPr>
          <p:nvPr>
            <p:ph type="body" idx="1"/>
          </p:nvPr>
        </p:nvSpPr>
        <p:spPr bwMode="auto">
          <a:xfrm>
            <a:off x="152400" y="1304846"/>
            <a:ext cx="11739015"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Check file format:</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Make sure the file type is supported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Scan for malware:</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Remove any harmful content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Extract metadata:</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Save file info like date, device, location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Split files: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Divide evidence into 4 parts for security</a:t>
            </a:r>
          </a:p>
          <a:p>
            <a:pPr lvl="0" algn="just" rtl="0" eaLnBrk="0" fontAlgn="base" hangingPunct="0">
              <a:lnSpc>
                <a:spcPct val="150000"/>
              </a:lnSpc>
              <a:spcBef>
                <a:spcPct val="0"/>
              </a:spcBef>
              <a:spcAft>
                <a:spcPct val="0"/>
              </a:spcAft>
              <a:buFontTx/>
              <a:buChar char="•"/>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Generate hash:</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Create SHA-256 code to check </a:t>
            </a:r>
            <a:r>
              <a:rPr kumimoji="0" lang="en-US" sz="22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integrity</a:t>
            </a:r>
            <a:r>
              <a:rPr lang="en-US" sz="2200" dirty="0" err="1">
                <a:solidFill>
                  <a:schemeClr val="tx1"/>
                </a:solidFill>
                <a:latin typeface="Times New Roman" panose="02020603050405020304" pitchFamily="18" charset="0"/>
                <a:cs typeface="Times New Roman" panose="02020603050405020304" pitchFamily="18" charset="0"/>
              </a:rPr>
              <a:t>blocks</a:t>
            </a:r>
            <a:endParaRPr lang="en-US" sz="2200" dirty="0">
              <a:solidFill>
                <a:schemeClr val="tx1"/>
              </a:solidFill>
              <a:latin typeface="Times New Roman" panose="02020603050405020304" pitchFamily="18" charset="0"/>
              <a:cs typeface="Times New Roman" panose="02020603050405020304" pitchFamily="18" charset="0"/>
            </a:endParaRPr>
          </a:p>
          <a:p>
            <a:pPr lvl="0" algn="just" rtl="0" eaLnBrk="0" fontAlgn="base" hangingPunct="0">
              <a:lnSpc>
                <a:spcPct val="150000"/>
              </a:lnSpc>
              <a:spcBef>
                <a:spcPct val="0"/>
              </a:spcBef>
              <a:spcAft>
                <a:spcPct val="0"/>
              </a:spcAft>
              <a:buFontTx/>
              <a:buChar char="•"/>
            </a:pPr>
            <a:r>
              <a:rPr lang="en-US" sz="2200" b="1" dirty="0">
                <a:solidFill>
                  <a:schemeClr val="tx1"/>
                </a:solidFill>
                <a:latin typeface="Times New Roman" panose="02020603050405020304" pitchFamily="18" charset="0"/>
                <a:cs typeface="Times New Roman" panose="02020603050405020304" pitchFamily="18" charset="0"/>
              </a:rPr>
              <a:t>Add timestamp &amp; signature:</a:t>
            </a:r>
            <a:r>
              <a:rPr lang="en-US" sz="2200" dirty="0">
                <a:solidFill>
                  <a:schemeClr val="tx1"/>
                </a:solidFill>
                <a:latin typeface="Times New Roman" panose="02020603050405020304" pitchFamily="18" charset="0"/>
                <a:cs typeface="Times New Roman" panose="02020603050405020304" pitchFamily="18" charset="0"/>
              </a:rPr>
              <a:t> Record time and verify authenticity</a:t>
            </a:r>
          </a:p>
          <a:p>
            <a:pPr lvl="0" algn="just" rtl="0" eaLnBrk="0" fontAlgn="base" hangingPunct="0">
              <a:lnSpc>
                <a:spcPct val="150000"/>
              </a:lnSpc>
              <a:spcBef>
                <a:spcPct val="0"/>
              </a:spcBef>
              <a:spcAft>
                <a:spcPct val="0"/>
              </a:spcAft>
              <a:buFontTx/>
              <a:buChar char="•"/>
            </a:pPr>
            <a:r>
              <a:rPr lang="en-US" sz="2200" b="1" dirty="0">
                <a:solidFill>
                  <a:schemeClr val="tx1"/>
                </a:solidFill>
                <a:latin typeface="Times New Roman" panose="02020603050405020304" pitchFamily="18" charset="0"/>
                <a:cs typeface="Times New Roman" panose="02020603050405020304" pitchFamily="18" charset="0"/>
              </a:rPr>
              <a:t>Process biometric data:</a:t>
            </a:r>
            <a:r>
              <a:rPr lang="en-US" sz="2200" dirty="0">
                <a:solidFill>
                  <a:schemeClr val="tx1"/>
                </a:solidFill>
                <a:latin typeface="Times New Roman" panose="02020603050405020304" pitchFamily="18" charset="0"/>
                <a:cs typeface="Times New Roman" panose="02020603050405020304" pitchFamily="18" charset="0"/>
              </a:rPr>
              <a:t> Clean and extract features for MFA</a:t>
            </a:r>
          </a:p>
          <a:p>
            <a:pPr lvl="0" algn="just" rtl="0" eaLnBrk="0" fontAlgn="base" hangingPunct="0">
              <a:lnSpc>
                <a:spcPct val="150000"/>
              </a:lnSpc>
              <a:spcBef>
                <a:spcPct val="0"/>
              </a:spcBef>
              <a:spcAft>
                <a:spcPct val="0"/>
              </a:spcAft>
              <a:buFontTx/>
              <a:buChar char="•"/>
            </a:pPr>
            <a:r>
              <a:rPr lang="en-US" sz="2200" b="1" dirty="0">
                <a:solidFill>
                  <a:schemeClr val="tx1"/>
                </a:solidFill>
                <a:latin typeface="Times New Roman" panose="02020603050405020304" pitchFamily="18" charset="0"/>
                <a:cs typeface="Times New Roman" panose="02020603050405020304" pitchFamily="18" charset="0"/>
              </a:rPr>
              <a:t>Prepare text/logs:</a:t>
            </a:r>
            <a:r>
              <a:rPr lang="en-US" sz="2200" dirty="0">
                <a:solidFill>
                  <a:schemeClr val="tx1"/>
                </a:solidFill>
                <a:latin typeface="Times New Roman" panose="02020603050405020304" pitchFamily="18" charset="0"/>
                <a:cs typeface="Times New Roman" panose="02020603050405020304" pitchFamily="18" charset="0"/>
              </a:rPr>
              <a:t> Make searchable without revealing </a:t>
            </a:r>
            <a:r>
              <a:rPr lang="en-US" sz="2200" dirty="0" err="1">
                <a:solidFill>
                  <a:schemeClr val="tx1"/>
                </a:solidFill>
                <a:latin typeface="Times New Roman" panose="02020603050405020304" pitchFamily="18" charset="0"/>
                <a:cs typeface="Times New Roman" panose="02020603050405020304" pitchFamily="18" charset="0"/>
              </a:rPr>
              <a:t>sensitiv</a:t>
            </a:r>
            <a:endPar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Compress &amp; pad files: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Save space and make uniform e info</a:t>
            </a:r>
          </a:p>
        </p:txBody>
      </p:sp>
    </p:spTree>
    <p:extLst>
      <p:ext uri="{BB962C8B-B14F-4D97-AF65-F5344CB8AC3E}">
        <p14:creationId xmlns:p14="http://schemas.microsoft.com/office/powerpoint/2010/main" val="3059248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8229600" cy="677108"/>
          </a:xfrm>
        </p:spPr>
        <p:txBody>
          <a:bodyPr/>
          <a:lstStyle/>
          <a:p>
            <a:r>
              <a:rPr lang="en-US" b="1" dirty="0" smtClean="0"/>
              <a:t>Sample Code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18</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
        <p:nvSpPr>
          <p:cNvPr id="8" name="Rectangle 1"/>
          <p:cNvSpPr>
            <a:spLocks noGrp="1" noChangeArrowheads="1"/>
          </p:cNvSpPr>
          <p:nvPr>
            <p:ph type="body" idx="1"/>
          </p:nvPr>
        </p:nvSpPr>
        <p:spPr bwMode="auto">
          <a:xfrm>
            <a:off x="3048001" y="3366564"/>
            <a:ext cx="4267200" cy="539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1271390"/>
            <a:ext cx="10058400" cy="5269104"/>
          </a:xfrm>
          <a:prstGeom prst="rect">
            <a:avLst/>
          </a:prstGeom>
        </p:spPr>
      </p:pic>
    </p:spTree>
    <p:extLst>
      <p:ext uri="{BB962C8B-B14F-4D97-AF65-F5344CB8AC3E}">
        <p14:creationId xmlns:p14="http://schemas.microsoft.com/office/powerpoint/2010/main" val="1978786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5">
            <a:extLst>
              <a:ext uri="{FF2B5EF4-FFF2-40B4-BE49-F238E27FC236}">
                <a16:creationId xmlns="" xmlns:a16="http://schemas.microsoft.com/office/drawing/2014/main" id="{021057BB-8D93-F44B-B9E2-B26E2A078D57}"/>
              </a:ext>
            </a:extLst>
          </p:cNvPr>
          <p:cNvSpPr/>
          <p:nvPr/>
        </p:nvSpPr>
        <p:spPr>
          <a:xfrm>
            <a:off x="9832" y="212288"/>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52400" y="326885"/>
            <a:ext cx="8229600" cy="677108"/>
          </a:xfrm>
        </p:spPr>
        <p:txBody>
          <a:bodyPr/>
          <a:lstStyle/>
          <a:p>
            <a:r>
              <a:rPr lang="en-US" b="1" dirty="0" smtClean="0"/>
              <a:t>Project Execution</a:t>
            </a:r>
            <a:r>
              <a:rPr lang="en-US" b="1" dirty="0" smtClean="0"/>
              <a:t> </a:t>
            </a:r>
            <a:endParaRPr lang="en-US" b="1" dirty="0"/>
          </a:p>
        </p:txBody>
      </p:sp>
      <p:sp>
        <p:nvSpPr>
          <p:cNvPr id="5" name="Rectangle 4"/>
          <p:cNvSpPr/>
          <p:nvPr/>
        </p:nvSpPr>
        <p:spPr>
          <a:xfrm>
            <a:off x="4015943" y="-69160"/>
            <a:ext cx="4160113" cy="307777"/>
          </a:xfrm>
          <a:prstGeom prst="rect">
            <a:avLst/>
          </a:prstGeom>
        </p:spPr>
        <p:txBody>
          <a:bodyPr wrap="none">
            <a:spAutoFit/>
          </a:bodyPr>
          <a:lstStyle/>
          <a:p>
            <a:pPr marL="12700" algn="ctr">
              <a:spcBef>
                <a:spcPts val="100"/>
              </a:spcBef>
            </a:pP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
        <p:nvSpPr>
          <p:cNvPr id="6" name="object 7">
            <a:extLst>
              <a:ext uri="{FF2B5EF4-FFF2-40B4-BE49-F238E27FC236}">
                <a16:creationId xmlns="" xmlns:a16="http://schemas.microsoft.com/office/drawing/2014/main" id="{C42EBEF0-D446-3503-6898-2738D242A7C0}"/>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B-16</a:t>
            </a:r>
          </a:p>
        </p:txBody>
      </p:sp>
      <p:sp>
        <p:nvSpPr>
          <p:cNvPr id="7" name="Rectangle 6"/>
          <p:cNvSpPr/>
          <p:nvPr/>
        </p:nvSpPr>
        <p:spPr>
          <a:xfrm>
            <a:off x="777240" y="6583796"/>
            <a:ext cx="12115800" cy="323165"/>
          </a:xfrm>
          <a:prstGeom prst="rect">
            <a:avLst/>
          </a:prstGeom>
        </p:spPr>
        <p:txBody>
          <a:bodyPr wrap="square">
            <a:spAutoFit/>
          </a:bodyPr>
          <a:lstStyle/>
          <a:p>
            <a:pPr marL="12700">
              <a:lnSpc>
                <a:spcPts val="1845"/>
              </a:lnSpc>
            </a:pPr>
            <a:r>
              <a:rPr lang="en-US" sz="1600" cap="small" spc="-75" dirty="0" smtClean="0">
                <a:solidFill>
                  <a:schemeClr val="bg1"/>
                </a:solidFill>
                <a:latin typeface="Times New Roman" panose="02020603050405020304" pitchFamily="18" charset="0"/>
                <a:cs typeface="Times New Roman" panose="02020603050405020304" pitchFamily="18" charset="0"/>
              </a:rPr>
              <a:t>   Dept.</a:t>
            </a:r>
            <a:r>
              <a:rPr lang="en-US" sz="1600" cap="small" spc="-10" dirty="0" smtClean="0">
                <a:solidFill>
                  <a:schemeClr val="bg1"/>
                </a:solidFill>
                <a:latin typeface="Times New Roman" panose="02020603050405020304" pitchFamily="18" charset="0"/>
                <a:cs typeface="Times New Roman" panose="02020603050405020304" pitchFamily="18" charset="0"/>
              </a:rPr>
              <a:t> </a:t>
            </a:r>
            <a:r>
              <a:rPr lang="en-US" sz="1600" cap="small" spc="-100" dirty="0" smtClean="0">
                <a:solidFill>
                  <a:schemeClr val="bg1"/>
                </a:solidFill>
                <a:latin typeface="Times New Roman" panose="02020603050405020304" pitchFamily="18" charset="0"/>
                <a:cs typeface="Times New Roman" panose="02020603050405020304" pitchFamily="18" charset="0"/>
              </a:rPr>
              <a:t>of</a:t>
            </a:r>
            <a:r>
              <a:rPr lang="en-US" sz="1600" cap="small" spc="25" dirty="0" smtClean="0">
                <a:solidFill>
                  <a:schemeClr val="bg1"/>
                </a:solidFill>
                <a:latin typeface="Times New Roman" panose="02020603050405020304" pitchFamily="18" charset="0"/>
                <a:cs typeface="Times New Roman" panose="02020603050405020304" pitchFamily="18" charset="0"/>
              </a:rPr>
              <a:t> </a:t>
            </a:r>
            <a:r>
              <a:rPr lang="en-US" sz="1600" cap="small" spc="-114" dirty="0" smtClean="0">
                <a:solidFill>
                  <a:schemeClr val="bg1"/>
                </a:solidFill>
                <a:latin typeface="Times New Roman" panose="02020603050405020304" pitchFamily="18" charset="0"/>
                <a:cs typeface="Times New Roman" panose="02020603050405020304" pitchFamily="18" charset="0"/>
              </a:rPr>
              <a:t>Computer</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Science</a:t>
            </a:r>
            <a:r>
              <a:rPr lang="en-US" sz="1600" cap="small" spc="50" dirty="0" smtClean="0">
                <a:solidFill>
                  <a:schemeClr val="bg1"/>
                </a:solidFill>
                <a:latin typeface="Times New Roman" panose="02020603050405020304" pitchFamily="18" charset="0"/>
                <a:cs typeface="Times New Roman" panose="02020603050405020304" pitchFamily="18" charset="0"/>
              </a:rPr>
              <a:t> </a:t>
            </a:r>
            <a:r>
              <a:rPr lang="en-US" sz="1600" cap="small" spc="-130" dirty="0" smtClean="0">
                <a:solidFill>
                  <a:schemeClr val="bg1"/>
                </a:solidFill>
                <a:latin typeface="Times New Roman" panose="02020603050405020304" pitchFamily="18" charset="0"/>
                <a:cs typeface="Times New Roman" panose="02020603050405020304" pitchFamily="18" charset="0"/>
              </a:rPr>
              <a:t>and</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110" dirty="0" smtClean="0">
                <a:solidFill>
                  <a:schemeClr val="bg1"/>
                </a:solidFill>
                <a:latin typeface="Times New Roman" panose="02020603050405020304" pitchFamily="18" charset="0"/>
                <a:cs typeface="Times New Roman" panose="02020603050405020304" pitchFamily="18" charset="0"/>
              </a:rPr>
              <a:t>Engineering</a:t>
            </a:r>
            <a:r>
              <a:rPr lang="en-US" sz="1600" cap="small" spc="45" dirty="0" smtClean="0">
                <a:solidFill>
                  <a:schemeClr val="bg1"/>
                </a:solidFill>
                <a:latin typeface="Times New Roman" panose="02020603050405020304" pitchFamily="18" charset="0"/>
                <a:cs typeface="Times New Roman" panose="02020603050405020304" pitchFamily="18" charset="0"/>
              </a:rPr>
              <a:t> </a:t>
            </a:r>
            <a:r>
              <a:rPr lang="en-US" sz="1600" cap="small" spc="-70" dirty="0" smtClean="0">
                <a:solidFill>
                  <a:schemeClr val="bg1"/>
                </a:solidFill>
                <a:latin typeface="Times New Roman" panose="02020603050405020304" pitchFamily="18" charset="0"/>
                <a:cs typeface="Times New Roman" panose="02020603050405020304" pitchFamily="18" charset="0"/>
              </a:rPr>
              <a:t>(</a:t>
            </a:r>
            <a:r>
              <a:rPr lang="en-US" sz="1600" cap="small" spc="-70" dirty="0" err="1" smtClean="0">
                <a:solidFill>
                  <a:schemeClr val="bg1"/>
                </a:solidFill>
                <a:latin typeface="Times New Roman" panose="02020603050405020304" pitchFamily="18" charset="0"/>
                <a:cs typeface="Times New Roman" panose="02020603050405020304" pitchFamily="18" charset="0"/>
              </a:rPr>
              <a:t>AI&amp;ml</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Srinivasa</a:t>
            </a:r>
            <a:r>
              <a:rPr lang="en-US" sz="1600" cap="small" spc="-95" dirty="0" smtClean="0">
                <a:solidFill>
                  <a:schemeClr val="bg1"/>
                </a:solidFill>
                <a:latin typeface="Times New Roman" panose="02020603050405020304" pitchFamily="18" charset="0"/>
                <a:cs typeface="Times New Roman" panose="02020603050405020304" pitchFamily="18" charset="0"/>
              </a:rPr>
              <a:t> </a:t>
            </a:r>
            <a:r>
              <a:rPr lang="en-US" sz="1600" cap="small" spc="-95" dirty="0" err="1" smtClean="0">
                <a:solidFill>
                  <a:schemeClr val="bg1"/>
                </a:solidFill>
                <a:latin typeface="Times New Roman" panose="02020603050405020304" pitchFamily="18" charset="0"/>
                <a:cs typeface="Times New Roman" panose="02020603050405020304" pitchFamily="18" charset="0"/>
              </a:rPr>
              <a:t>Ramanujan</a:t>
            </a:r>
            <a:r>
              <a:rPr lang="en-US" sz="1600" cap="small" spc="-95" dirty="0" smtClean="0">
                <a:solidFill>
                  <a:schemeClr val="bg1"/>
                </a:solidFill>
                <a:latin typeface="Times New Roman" panose="02020603050405020304" pitchFamily="18" charset="0"/>
                <a:cs typeface="Times New Roman" panose="02020603050405020304" pitchFamily="18" charset="0"/>
              </a:rPr>
              <a:t> Institute of Technology                    </a:t>
            </a:r>
            <a:r>
              <a:rPr lang="en-US" sz="1600" b="1" cap="small" spc="-95" dirty="0" smtClean="0">
                <a:solidFill>
                  <a:schemeClr val="tx1"/>
                </a:solidFill>
                <a:latin typeface="Times New Roman" panose="02020603050405020304" pitchFamily="18" charset="0"/>
                <a:cs typeface="Times New Roman" panose="02020603050405020304" pitchFamily="18" charset="0"/>
              </a:rPr>
              <a:t>18</a:t>
            </a:r>
            <a:r>
              <a:rPr lang="en-US" sz="1600" b="1" cap="small" spc="-95" dirty="0" smtClean="0">
                <a:solidFill>
                  <a:schemeClr val="tx1"/>
                </a:solidFill>
                <a:latin typeface="Times New Roman" panose="02020603050405020304" pitchFamily="18" charset="0"/>
                <a:cs typeface="Times New Roman" panose="02020603050405020304" pitchFamily="18" charset="0"/>
              </a:rPr>
              <a:t>  </a:t>
            </a:r>
            <a:r>
              <a:rPr lang="en-US" sz="1600" cap="small" spc="-95" dirty="0" smtClean="0">
                <a:solidFill>
                  <a:schemeClr val="bg1"/>
                </a:solidFill>
                <a:latin typeface="Times New Roman" panose="02020603050405020304" pitchFamily="18" charset="0"/>
                <a:cs typeface="Times New Roman" panose="02020603050405020304" pitchFamily="18" charset="0"/>
              </a:rPr>
              <a:t>                 </a:t>
            </a:r>
            <a:endParaRPr lang="en-US" sz="1600" cap="small" spc="-95" dirty="0">
              <a:solidFill>
                <a:schemeClr val="bg1"/>
              </a:solidFill>
              <a:latin typeface="Times New Roman" panose="02020603050405020304" pitchFamily="18" charset="0"/>
              <a:cs typeface="Times New Roman" panose="02020603050405020304" pitchFamily="18" charset="0"/>
            </a:endParaRPr>
          </a:p>
        </p:txBody>
      </p:sp>
      <p:sp>
        <p:nvSpPr>
          <p:cNvPr id="8" name="Rectangle 1"/>
          <p:cNvSpPr>
            <a:spLocks noGrp="1" noChangeArrowheads="1"/>
          </p:cNvSpPr>
          <p:nvPr>
            <p:ph type="body" idx="1"/>
          </p:nvPr>
        </p:nvSpPr>
        <p:spPr bwMode="auto">
          <a:xfrm>
            <a:off x="3048001" y="3366564"/>
            <a:ext cx="4267200" cy="539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endPar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28" y="1304846"/>
            <a:ext cx="6088380" cy="4817353"/>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9200" y="1459427"/>
            <a:ext cx="4200525" cy="4817352"/>
          </a:xfrm>
          <a:prstGeom prst="rect">
            <a:avLst/>
          </a:prstGeom>
        </p:spPr>
      </p:pic>
    </p:spTree>
    <p:extLst>
      <p:ext uri="{BB962C8B-B14F-4D97-AF65-F5344CB8AC3E}">
        <p14:creationId xmlns:p14="http://schemas.microsoft.com/office/powerpoint/2010/main" val="1253809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B931819-BD2D-B786-D7DD-96ABD311A155}"/>
            </a:ext>
          </a:extLst>
        </p:cNvPr>
        <p:cNvGrpSpPr/>
        <p:nvPr/>
      </p:nvGrpSpPr>
      <p:grpSpPr>
        <a:xfrm>
          <a:off x="0" y="0"/>
          <a:ext cx="0" cy="0"/>
          <a:chOff x="0" y="0"/>
          <a:chExt cx="0" cy="0"/>
        </a:xfrm>
      </p:grpSpPr>
      <p:sp>
        <p:nvSpPr>
          <p:cNvPr id="6" name="object 6">
            <a:extLst>
              <a:ext uri="{FF2B5EF4-FFF2-40B4-BE49-F238E27FC236}">
                <a16:creationId xmlns="" xmlns:a16="http://schemas.microsoft.com/office/drawing/2014/main" id="{FF65975D-5A32-3BA7-60A4-B0594FC93BE6}"/>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 xmlns:a16="http://schemas.microsoft.com/office/drawing/2014/main" id="{FAB1C1B7-C0F0-849D-6176-F97252B53AFF}"/>
              </a:ext>
            </a:extLst>
          </p:cNvPr>
          <p:cNvSpPr/>
          <p:nvPr/>
        </p:nvSpPr>
        <p:spPr>
          <a:xfrm>
            <a:off x="0" y="6624856"/>
            <a:ext cx="762000" cy="231331"/>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 xmlns:a16="http://schemas.microsoft.com/office/drawing/2014/main" id="{A339265E-AAA8-4E00-E070-740FC72A3D5E}"/>
              </a:ext>
            </a:extLst>
          </p:cNvPr>
          <p:cNvSpPr txBox="1">
            <a:spLocks noGrp="1"/>
          </p:cNvSpPr>
          <p:nvPr>
            <p:ph type="dt" sz="half" idx="6"/>
          </p:nvPr>
        </p:nvSpPr>
        <p:spPr>
          <a:xfrm>
            <a:off x="1123125" y="6629792"/>
            <a:ext cx="106116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US" cap="small" spc="-95" dirty="0"/>
              <a:t>                             Srinivasa Ramanujan Institute of Technology  </a:t>
            </a:r>
            <a:endParaRPr cap="small" spc="-95" dirty="0"/>
          </a:p>
        </p:txBody>
      </p:sp>
      <p:sp>
        <p:nvSpPr>
          <p:cNvPr id="22" name="object 5">
            <a:extLst>
              <a:ext uri="{FF2B5EF4-FFF2-40B4-BE49-F238E27FC236}">
                <a16:creationId xmlns="" xmlns:a16="http://schemas.microsoft.com/office/drawing/2014/main" id="{EB71B47D-3E69-3777-AECE-78AAAE31E5D7}"/>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 xmlns:a16="http://schemas.microsoft.com/office/drawing/2014/main" id="{E1CBF879-DD70-0900-2E31-B5401B0A5274}"/>
              </a:ext>
            </a:extLst>
          </p:cNvPr>
          <p:cNvSpPr txBox="1">
            <a:spLocks noGrp="1"/>
          </p:cNvSpPr>
          <p:nvPr>
            <p:ph type="title"/>
          </p:nvPr>
        </p:nvSpPr>
        <p:spPr>
          <a:xfrm>
            <a:off x="20182" y="331753"/>
            <a:ext cx="4170818" cy="689932"/>
          </a:xfrm>
          <a:prstGeom prst="rect">
            <a:avLst/>
          </a:prstGeom>
        </p:spPr>
        <p:txBody>
          <a:bodyPr vert="horz" wrap="square" lIns="0" tIns="12700" rIns="0" bIns="0" rtlCol="0">
            <a:spAutoFit/>
          </a:bodyPr>
          <a:lstStyle/>
          <a:p>
            <a:pPr marL="12700" algn="ctr">
              <a:lnSpc>
                <a:spcPct val="100000"/>
              </a:lnSpc>
            </a:pPr>
            <a:r>
              <a:rPr lang="en-IN" b="1" spc="-10" dirty="0"/>
              <a:t>References</a:t>
            </a:r>
            <a:endParaRPr b="1" spc="-10" dirty="0"/>
          </a:p>
        </p:txBody>
      </p:sp>
      <p:sp>
        <p:nvSpPr>
          <p:cNvPr id="28" name="object 2">
            <a:extLst>
              <a:ext uri="{FF2B5EF4-FFF2-40B4-BE49-F238E27FC236}">
                <a16:creationId xmlns="" xmlns:a16="http://schemas.microsoft.com/office/drawing/2014/main" id="{C86D60A3-51E7-EDDD-14B9-611D39CA2A7C}"/>
              </a:ext>
            </a:extLst>
          </p:cNvPr>
          <p:cNvSpPr txBox="1"/>
          <p:nvPr/>
        </p:nvSpPr>
        <p:spPr>
          <a:xfrm>
            <a:off x="3429000" y="5249"/>
            <a:ext cx="4890061" cy="228268"/>
          </a:xfrm>
          <a:prstGeom prst="rect">
            <a:avLst/>
          </a:prstGeom>
        </p:spPr>
        <p:txBody>
          <a:bodyPr vert="horz" wrap="square" lIns="0" tIns="12700" rIns="0" bIns="0" rtlCol="0" anchor="t">
            <a:spAutoFit/>
          </a:bodyPr>
          <a:lstStyle/>
          <a:p>
            <a:pPr marL="12700" algn="ctr">
              <a:spcBef>
                <a:spcPts val="100"/>
              </a:spcBef>
            </a:pPr>
            <a:r>
              <a:rPr lang="en-US" sz="1400" dirty="0" smtClean="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 xmlns:a16="http://schemas.microsoft.com/office/drawing/2014/main" id="{170CA6EE-45D2-B17E-8404-AE48F1B3E780}"/>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16" name="Rectangle 7">
            <a:extLst>
              <a:ext uri="{FF2B5EF4-FFF2-40B4-BE49-F238E27FC236}">
                <a16:creationId xmlns="" xmlns:a16="http://schemas.microsoft.com/office/drawing/2014/main" id="{5577AE71-B96D-FE4C-F625-166DDA0E0270}"/>
              </a:ext>
            </a:extLst>
          </p:cNvPr>
          <p:cNvSpPr>
            <a:spLocks noChangeArrowheads="1"/>
          </p:cNvSpPr>
          <p:nvPr/>
        </p:nvSpPr>
        <p:spPr bwMode="auto">
          <a:xfrm>
            <a:off x="381000" y="1323203"/>
            <a:ext cx="11582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M. </a:t>
            </a:r>
            <a:r>
              <a:rPr kumimoji="0" lang="en-US" altLang="en-US"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Alashjaee</a:t>
            </a: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F. </a:t>
            </a:r>
            <a:r>
              <a:rPr kumimoji="0" lang="en-US" altLang="en-US"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Alqahtani</a:t>
            </a: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“Improving Digital Forensic Security: A Secure Storage Model with Authentication and Optimal Key Generation based Encryption,”</a:t>
            </a:r>
          </a:p>
          <a:p>
            <a:pPr marL="0" marR="0" lvl="0" indent="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IEEE Access, vol. 12, pp. 29738–29747, 2024.</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 S. </a:t>
            </a:r>
            <a:r>
              <a:rPr kumimoji="0" lang="en-US" altLang="en-US"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Apirajitha</a:t>
            </a: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R. R. Devi,</a:t>
            </a:r>
          </a:p>
          <a:p>
            <a:pPr marR="0" lvl="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 Novel </a:t>
            </a:r>
            <a:r>
              <a:rPr kumimoji="0" lang="en-US" altLang="en-US"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Blockchain</a:t>
            </a: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Framework for Digital Forensics in Cloud Environment,”</a:t>
            </a:r>
          </a:p>
          <a:p>
            <a:pPr marR="0" lvl="0" algn="just" defTabSz="914400" rtl="0" eaLnBrk="0" fontAlgn="base" latinLnBrk="0" hangingPunct="0">
              <a:lnSpc>
                <a:spcPct val="100000"/>
              </a:lnSpc>
              <a:spcBef>
                <a:spcPct val="0"/>
              </a:spcBef>
              <a:spcAft>
                <a:spcPct val="0"/>
              </a:spcAft>
              <a:buClrTx/>
              <a:buSzTx/>
              <a:tabLst/>
            </a:pPr>
            <a:r>
              <a:rPr kumimoji="0" lang="en-US" altLang="en-US"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Wireless Personal Communications, 2023.</a:t>
            </a:r>
            <a:endParaRPr kumimoji="0" lang="en-US" altLang="en-US"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4424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E4989EC-E189-335A-F237-F01995E1DB17}"/>
            </a:ext>
          </a:extLst>
        </p:cNvPr>
        <p:cNvGrpSpPr/>
        <p:nvPr/>
      </p:nvGrpSpPr>
      <p:grpSpPr>
        <a:xfrm>
          <a:off x="0" y="0"/>
          <a:ext cx="0" cy="0"/>
          <a:chOff x="0" y="0"/>
          <a:chExt cx="0" cy="0"/>
        </a:xfrm>
      </p:grpSpPr>
      <p:sp>
        <p:nvSpPr>
          <p:cNvPr id="6" name="object 6">
            <a:extLst>
              <a:ext uri="{FF2B5EF4-FFF2-40B4-BE49-F238E27FC236}">
                <a16:creationId xmlns="" xmlns:a16="http://schemas.microsoft.com/office/drawing/2014/main" id="{7A69AB61-70F8-0F9E-2D64-50A74E7103A3}"/>
              </a:ext>
            </a:extLst>
          </p:cNvPr>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a:extLst>
              <a:ext uri="{FF2B5EF4-FFF2-40B4-BE49-F238E27FC236}">
                <a16:creationId xmlns="" xmlns:a16="http://schemas.microsoft.com/office/drawing/2014/main" id="{2EBFC1CA-2F19-3580-EB4B-7ED18CC47A98}"/>
              </a:ext>
            </a:extLst>
          </p:cNvPr>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nchor="t"/>
          <a:lstStyle/>
          <a:p>
            <a:r>
              <a:rPr lang="en-US" dirty="0">
                <a:solidFill>
                  <a:schemeClr val="bg1"/>
                </a:solidFill>
                <a:latin typeface="Times New Roman"/>
                <a:ea typeface="+mn-lt"/>
                <a:cs typeface="Times New Roman"/>
              </a:rPr>
              <a:t>   </a:t>
            </a:r>
            <a:r>
              <a:rPr lang="en-US" sz="1600" dirty="0">
                <a:solidFill>
                  <a:schemeClr val="bg1"/>
                </a:solidFill>
                <a:latin typeface="Times New Roman"/>
                <a:ea typeface="+mn-lt"/>
                <a:cs typeface="Times New Roman"/>
              </a:rPr>
              <a:t>B-16</a:t>
            </a:r>
          </a:p>
        </p:txBody>
      </p:sp>
      <p:sp>
        <p:nvSpPr>
          <p:cNvPr id="10" name="object 9">
            <a:extLst>
              <a:ext uri="{FF2B5EF4-FFF2-40B4-BE49-F238E27FC236}">
                <a16:creationId xmlns="" xmlns:a16="http://schemas.microsoft.com/office/drawing/2014/main" id="{6CD096F8-8F7D-C729-0A6D-A2723A09300F}"/>
              </a:ext>
            </a:extLst>
          </p:cNvPr>
          <p:cNvSpPr txBox="1">
            <a:spLocks noGrp="1"/>
          </p:cNvSpPr>
          <p:nvPr>
            <p:ph type="dt" sz="half" idx="6"/>
          </p:nvPr>
        </p:nvSpPr>
        <p:spPr>
          <a:xfrm>
            <a:off x="1138993" y="6634572"/>
            <a:ext cx="10687875"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r>
              <a:rPr lang="en-IN" cap="small" spc="-95" dirty="0"/>
              <a:t>                      	 </a:t>
            </a:r>
            <a:r>
              <a:rPr lang="en-US" cap="small" spc="-95" dirty="0"/>
              <a:t> Srinivasa Ramanujan Institute of Technology</a:t>
            </a:r>
            <a:endParaRPr cap="small" spc="-95" dirty="0"/>
          </a:p>
        </p:txBody>
      </p:sp>
      <p:sp>
        <p:nvSpPr>
          <p:cNvPr id="22" name="object 5">
            <a:extLst>
              <a:ext uri="{FF2B5EF4-FFF2-40B4-BE49-F238E27FC236}">
                <a16:creationId xmlns="" xmlns:a16="http://schemas.microsoft.com/office/drawing/2014/main" id="{1ACBC29F-027F-DBF0-FA9E-DBE2D48F1DDD}"/>
              </a:ext>
            </a:extLst>
          </p:cNvPr>
          <p:cNvSpPr/>
          <p:nvPr/>
        </p:nvSpPr>
        <p:spPr>
          <a:xfrm>
            <a:off x="-518" y="233144"/>
            <a:ext cx="12172336" cy="977961"/>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sz="2800" dirty="0">
              <a:latin typeface="Times New Roman" panose="02020603050405020304" pitchFamily="18" charset="0"/>
              <a:cs typeface="Times New Roman" panose="02020603050405020304" pitchFamily="18" charset="0"/>
            </a:endParaRPr>
          </a:p>
        </p:txBody>
      </p:sp>
      <p:sp>
        <p:nvSpPr>
          <p:cNvPr id="26" name="object 6">
            <a:extLst>
              <a:ext uri="{FF2B5EF4-FFF2-40B4-BE49-F238E27FC236}">
                <a16:creationId xmlns="" xmlns:a16="http://schemas.microsoft.com/office/drawing/2014/main" id="{5A730D9C-6CC0-0BC4-E2C8-C39AAC4B318E}"/>
              </a:ext>
            </a:extLst>
          </p:cNvPr>
          <p:cNvSpPr txBox="1">
            <a:spLocks noGrp="1"/>
          </p:cNvSpPr>
          <p:nvPr>
            <p:ph type="title"/>
          </p:nvPr>
        </p:nvSpPr>
        <p:spPr>
          <a:xfrm>
            <a:off x="20182" y="331753"/>
            <a:ext cx="4780418" cy="689932"/>
          </a:xfrm>
          <a:prstGeom prst="rect">
            <a:avLst/>
          </a:prstGeom>
        </p:spPr>
        <p:txBody>
          <a:bodyPr vert="horz" wrap="square" lIns="0" tIns="12700" rIns="0" bIns="0" rtlCol="0">
            <a:spAutoFit/>
          </a:bodyPr>
          <a:lstStyle/>
          <a:p>
            <a:pPr marL="12700" algn="ctr">
              <a:lnSpc>
                <a:spcPct val="100000"/>
              </a:lnSpc>
            </a:pPr>
            <a:r>
              <a:rPr lang="en-IN" b="1" spc="-10" dirty="0" err="1"/>
              <a:t>Github</a:t>
            </a:r>
            <a:r>
              <a:rPr lang="en-IN" b="1" spc="-10" dirty="0"/>
              <a:t> Dashboard</a:t>
            </a:r>
            <a:endParaRPr b="1" spc="-10" dirty="0"/>
          </a:p>
        </p:txBody>
      </p:sp>
      <p:sp>
        <p:nvSpPr>
          <p:cNvPr id="28" name="object 2">
            <a:extLst>
              <a:ext uri="{FF2B5EF4-FFF2-40B4-BE49-F238E27FC236}">
                <a16:creationId xmlns="" xmlns:a16="http://schemas.microsoft.com/office/drawing/2014/main" id="{C195DF4B-C3B0-4F7B-DA13-13B4A167AA02}"/>
              </a:ext>
            </a:extLst>
          </p:cNvPr>
          <p:cNvSpPr txBox="1"/>
          <p:nvPr/>
        </p:nvSpPr>
        <p:spPr>
          <a:xfrm>
            <a:off x="3604386" y="-10897"/>
            <a:ext cx="4780417" cy="259045"/>
          </a:xfrm>
          <a:prstGeom prst="rect">
            <a:avLst/>
          </a:prstGeom>
        </p:spPr>
        <p:txBody>
          <a:bodyPr vert="horz" wrap="square" lIns="0" tIns="12700" rIns="0" bIns="0" rtlCol="0" anchor="t">
            <a:spAutoFit/>
          </a:bodyPr>
          <a:lstStyle/>
          <a:p>
            <a:pPr marL="12700" algn="ctr">
              <a:spcBef>
                <a:spcPts val="100"/>
              </a:spcBef>
            </a:pPr>
            <a:r>
              <a:rPr lang="en-US" sz="1600" dirty="0" smtClean="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29" name="object 12">
            <a:extLst>
              <a:ext uri="{FF2B5EF4-FFF2-40B4-BE49-F238E27FC236}">
                <a16:creationId xmlns="" xmlns:a16="http://schemas.microsoft.com/office/drawing/2014/main" id="{09864754-2FF8-4B81-6358-D3AC9D361849}"/>
              </a:ext>
            </a:extLst>
          </p:cNvPr>
          <p:cNvSpPr txBox="1">
            <a:spLocks noGrp="1"/>
          </p:cNvSpPr>
          <p:nvPr>
            <p:ph type="sldNum" sz="quarter" idx="7"/>
          </p:nvPr>
        </p:nvSpPr>
        <p:spPr>
          <a:xfrm>
            <a:off x="11858823" y="6629309"/>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21</a:t>
            </a:fld>
            <a:endParaRPr spc="-25" dirty="0"/>
          </a:p>
        </p:txBody>
      </p:sp>
      <p:pic>
        <p:nvPicPr>
          <p:cNvPr id="4" name="Picture 3"/>
          <p:cNvPicPr>
            <a:picLocks noChangeAspect="1"/>
          </p:cNvPicPr>
          <p:nvPr/>
        </p:nvPicPr>
        <p:blipFill>
          <a:blip r:embed="rId3"/>
          <a:stretch>
            <a:fillRect/>
          </a:stretch>
        </p:blipFill>
        <p:spPr>
          <a:xfrm>
            <a:off x="884364" y="1447800"/>
            <a:ext cx="10402571" cy="4776913"/>
          </a:xfrm>
          <a:prstGeom prst="rect">
            <a:avLst/>
          </a:prstGeom>
        </p:spPr>
      </p:pic>
    </p:spTree>
    <p:extLst>
      <p:ext uri="{BB962C8B-B14F-4D97-AF65-F5344CB8AC3E}">
        <p14:creationId xmlns:p14="http://schemas.microsoft.com/office/powerpoint/2010/main" val="7877837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6754444" y="6624710"/>
            <a:ext cx="4434823"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22</a:t>
            </a:fld>
            <a:endParaRPr spc="-25" dirty="0"/>
          </a:p>
        </p:txBody>
      </p:sp>
      <p:sp>
        <p:nvSpPr>
          <p:cNvPr id="3" name="object 3"/>
          <p:cNvSpPr txBox="1">
            <a:spLocks noGrp="1"/>
          </p:cNvSpPr>
          <p:nvPr>
            <p:ph type="title"/>
          </p:nvPr>
        </p:nvSpPr>
        <p:spPr>
          <a:xfrm>
            <a:off x="2826638" y="235230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8" name="object 9">
            <a:extLst>
              <a:ext uri="{FF2B5EF4-FFF2-40B4-BE49-F238E27FC236}">
                <a16:creationId xmlns="" xmlns:a16="http://schemas.microsoft.com/office/drawing/2014/main" id="{38036199-2B51-9B00-5280-3FB15D955DE6}"/>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5" name="object 2">
            <a:extLst>
              <a:ext uri="{FF2B5EF4-FFF2-40B4-BE49-F238E27FC236}">
                <a16:creationId xmlns="" xmlns:a16="http://schemas.microsoft.com/office/drawing/2014/main" id="{5D94190F-02FA-303B-279B-F732CC88B753}"/>
              </a:ext>
            </a:extLst>
          </p:cNvPr>
          <p:cNvSpPr txBox="1"/>
          <p:nvPr/>
        </p:nvSpPr>
        <p:spPr>
          <a:xfrm>
            <a:off x="3604386" y="-10897"/>
            <a:ext cx="5082413" cy="259045"/>
          </a:xfrm>
          <a:prstGeom prst="rect">
            <a:avLst/>
          </a:prstGeom>
        </p:spPr>
        <p:txBody>
          <a:bodyPr vert="horz" wrap="square" lIns="0" tIns="12700" rIns="0" bIns="0" rtlCol="0" anchor="t">
            <a:spAutoFit/>
          </a:bodyPr>
          <a:lstStyle/>
          <a:p>
            <a:pPr marL="12700" algn="ctr">
              <a:spcBef>
                <a:spcPts val="100"/>
              </a:spcBef>
            </a:pPr>
            <a:r>
              <a:rPr lang="en-US" sz="1600" dirty="0" smtClean="0">
                <a:solidFill>
                  <a:schemeClr val="bg1"/>
                </a:solidFill>
              </a:rPr>
              <a:t>Secure Digital Forensic Evidence Storage System</a:t>
            </a:r>
            <a:endParaRPr lang="en-US" sz="1600" dirty="0">
              <a:solidFill>
                <a:schemeClr val="bg1"/>
              </a:solidFill>
              <a:latin typeface="Times New Roman"/>
              <a:cs typeface="Times New Roman"/>
            </a:endParaRPr>
          </a:p>
        </p:txBody>
      </p:sp>
      <p:sp>
        <p:nvSpPr>
          <p:cNvPr id="9" name="object 8">
            <a:extLst>
              <a:ext uri="{FF2B5EF4-FFF2-40B4-BE49-F238E27FC236}">
                <a16:creationId xmlns="" xmlns:a16="http://schemas.microsoft.com/office/drawing/2014/main" id="{244C6EFB-B7DE-99D3-22A4-6086FD307999}"/>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47577" y="6629311"/>
            <a:ext cx="4434823"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23</a:t>
            </a:fld>
            <a:endParaRPr spc="-25" dirty="0"/>
          </a:p>
        </p:txBody>
      </p:sp>
      <p:sp>
        <p:nvSpPr>
          <p:cNvPr id="3" name="object 3"/>
          <p:cNvSpPr txBox="1">
            <a:spLocks noGrp="1"/>
          </p:cNvSpPr>
          <p:nvPr>
            <p:ph type="title"/>
          </p:nvPr>
        </p:nvSpPr>
        <p:spPr>
          <a:xfrm>
            <a:off x="2826638" y="2249889"/>
            <a:ext cx="6698362" cy="1486946"/>
          </a:xfrm>
          <a:prstGeom prst="rect">
            <a:avLst/>
          </a:prstGeom>
        </p:spPr>
        <p:txBody>
          <a:bodyPr vert="horz" wrap="square" lIns="0" tIns="12700" rIns="0" bIns="0" rtlCol="0">
            <a:spAutoFit/>
          </a:bodyPr>
          <a:lstStyle/>
          <a:p>
            <a:pPr marL="12700" marR="5080" algn="l">
              <a:lnSpc>
                <a:spcPct val="107000"/>
              </a:lnSpc>
              <a:spcBef>
                <a:spcPts val="100"/>
              </a:spcBef>
            </a:pPr>
            <a:r>
              <a:rPr sz="9600" i="1" spc="-10" dirty="0">
                <a:solidFill>
                  <a:srgbClr val="FF6600"/>
                </a:solidFill>
                <a:latin typeface="Times New Roman"/>
                <a:cs typeface="Times New Roman"/>
              </a:rPr>
              <a:t>Thank</a:t>
            </a:r>
            <a:r>
              <a:rPr lang="en-IN" sz="9600" i="1" spc="-10" dirty="0">
                <a:solidFill>
                  <a:srgbClr val="FF6600"/>
                </a:solidFill>
                <a:latin typeface="Times New Roman"/>
                <a:cs typeface="Times New Roman"/>
              </a:rPr>
              <a:t> </a:t>
            </a:r>
            <a:r>
              <a:rPr sz="9600" i="1" spc="-10" dirty="0">
                <a:solidFill>
                  <a:srgbClr val="FF6600"/>
                </a:solidFill>
                <a:latin typeface="Times New Roman"/>
                <a:cs typeface="Times New Roman"/>
              </a:rPr>
              <a:t>You!!!</a:t>
            </a:r>
            <a:endParaRPr sz="9600" dirty="0">
              <a:latin typeface="Times New Roman"/>
              <a:cs typeface="Times New Roman"/>
            </a:endParaRPr>
          </a:p>
        </p:txBody>
      </p:sp>
      <p:sp>
        <p:nvSpPr>
          <p:cNvPr id="8" name="object 9">
            <a:extLst>
              <a:ext uri="{FF2B5EF4-FFF2-40B4-BE49-F238E27FC236}">
                <a16:creationId xmlns="" xmlns:a16="http://schemas.microsoft.com/office/drawing/2014/main" id="{54D73473-8B89-25C7-80BC-FF44172E7C40}"/>
              </a:ext>
            </a:extLst>
          </p:cNvPr>
          <p:cNvSpPr txBox="1">
            <a:spLocks noGrp="1"/>
          </p:cNvSpPr>
          <p:nvPr>
            <p:ph type="dt" sz="half" idx="6"/>
          </p:nvPr>
        </p:nvSpPr>
        <p:spPr>
          <a:xfrm>
            <a:off x="1122363" y="6629400"/>
            <a:ext cx="4962525" cy="231775"/>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25" dirty="0"/>
              <a:t> </a:t>
            </a:r>
            <a:r>
              <a:rPr cap="small" spc="-114" dirty="0"/>
              <a:t>Computer</a:t>
            </a:r>
            <a:r>
              <a:rPr cap="small" spc="50" dirty="0"/>
              <a:t> </a:t>
            </a:r>
            <a:r>
              <a:rPr cap="small" spc="-95" dirty="0"/>
              <a:t>Science</a:t>
            </a:r>
            <a:r>
              <a:rPr cap="small" spc="50" dirty="0"/>
              <a:t> </a:t>
            </a:r>
            <a:r>
              <a:rPr cap="small" spc="-130" dirty="0"/>
              <a:t>and</a:t>
            </a:r>
            <a:r>
              <a:rPr cap="small" spc="45" dirty="0"/>
              <a:t> </a:t>
            </a:r>
            <a:r>
              <a:rPr cap="small" spc="-110" dirty="0"/>
              <a:t>Engineering</a:t>
            </a:r>
            <a:r>
              <a:rPr cap="small" spc="45" dirty="0"/>
              <a:t> </a:t>
            </a:r>
            <a:r>
              <a:rPr cap="small" spc="-70" dirty="0"/>
              <a:t>(</a:t>
            </a:r>
            <a:r>
              <a:rPr lang="en-IN" cap="small" spc="-70" dirty="0" err="1"/>
              <a:t>AI&amp;ml</a:t>
            </a:r>
            <a:r>
              <a:rPr cap="small" spc="-95" dirty="0"/>
              <a:t>)</a:t>
            </a:r>
          </a:p>
        </p:txBody>
      </p:sp>
      <p:sp>
        <p:nvSpPr>
          <p:cNvPr id="9" name="object 8">
            <a:extLst>
              <a:ext uri="{FF2B5EF4-FFF2-40B4-BE49-F238E27FC236}">
                <a16:creationId xmlns="" xmlns:a16="http://schemas.microsoft.com/office/drawing/2014/main" id="{FA43E41F-06F6-DED8-0E94-DA7D49A8DDAE}"/>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nchor="t">
            <a:spAutoFit/>
          </a:bodyPr>
          <a:lstStyle/>
          <a:p>
            <a:pPr marL="12700">
              <a:lnSpc>
                <a:spcPts val="1845"/>
              </a:lnSpc>
            </a:pPr>
            <a:r>
              <a:rPr lang="en-IN" spc="-25" dirty="0"/>
              <a:t>B - 16</a:t>
            </a:r>
            <a:endParaRPr spc="-25" dirty="0"/>
          </a:p>
        </p:txBody>
      </p:sp>
      <p:sp>
        <p:nvSpPr>
          <p:cNvPr id="2" name="TextBox 1">
            <a:extLst>
              <a:ext uri="{FF2B5EF4-FFF2-40B4-BE49-F238E27FC236}">
                <a16:creationId xmlns="" xmlns:a16="http://schemas.microsoft.com/office/drawing/2014/main" id="{14D708BE-FDB5-5582-CE10-A217CBCEBA85}"/>
              </a:ext>
            </a:extLst>
          </p:cNvPr>
          <p:cNvSpPr txBox="1"/>
          <p:nvPr/>
        </p:nvSpPr>
        <p:spPr>
          <a:xfrm>
            <a:off x="3280219" y="-17206"/>
            <a:ext cx="5791200" cy="307777"/>
          </a:xfrm>
          <a:prstGeom prst="rect">
            <a:avLst/>
          </a:prstGeom>
          <a:noFill/>
        </p:spPr>
        <p:txBody>
          <a:bodyPr wrap="square" rtlCol="0">
            <a:spAutoFit/>
          </a:bodyPr>
          <a:lstStyle/>
          <a:p>
            <a:pPr algn="ctr"/>
            <a:r>
              <a:rPr lang="en-US" sz="1400" dirty="0" smtClean="0">
                <a:solidFill>
                  <a:schemeClr val="bg1"/>
                </a:solidFill>
              </a:rPr>
              <a:t>Secure Digital Forensic Evidence Storage System</a:t>
            </a:r>
            <a:endParaRPr lang="en-US" sz="1400" dirty="0">
              <a:solidFill>
                <a:schemeClr val="bg1"/>
              </a:solidFill>
              <a:latin typeface="Times New Roman"/>
              <a:cs typeface="Times New Roman"/>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3916</TotalTime>
  <Words>1882</Words>
  <Application>Microsoft Office PowerPoint</Application>
  <PresentationFormat>Widescreen</PresentationFormat>
  <Paragraphs>260</Paragraphs>
  <Slides>23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Secure Digital Forensic Evidence Storage System</vt:lpstr>
      <vt:lpstr>Contents</vt:lpstr>
      <vt:lpstr>Review Remarks</vt:lpstr>
      <vt:lpstr>Abstract</vt:lpstr>
      <vt:lpstr>Problem Statement</vt:lpstr>
      <vt:lpstr>Objectives</vt:lpstr>
      <vt:lpstr>Literature Survey for Objectives</vt:lpstr>
      <vt:lpstr>Introduction</vt:lpstr>
      <vt:lpstr>Existing System</vt:lpstr>
      <vt:lpstr>Proposed System</vt:lpstr>
      <vt:lpstr>Proposed System</vt:lpstr>
      <vt:lpstr>Planning</vt:lpstr>
      <vt:lpstr>Requirements</vt:lpstr>
      <vt:lpstr>Modules </vt:lpstr>
      <vt:lpstr>System Design </vt:lpstr>
      <vt:lpstr>Data Flow Diagram </vt:lpstr>
      <vt:lpstr>Data Preprocessing Techniques </vt:lpstr>
      <vt:lpstr>Sample Code </vt:lpstr>
      <vt:lpstr>Project Execution </vt:lpstr>
      <vt:lpstr>References</vt:lpstr>
      <vt:lpstr>Github Dashboard</vt:lpstr>
      <vt:lpstr>Any Queries?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Biofloc Aquaculture: ML predictions with IOT Based Monitoring and Alerts</dc:title>
  <dc:creator>Revathi Reddy</dc:creator>
  <cp:lastModifiedBy>USER</cp:lastModifiedBy>
  <cp:revision>800</cp:revision>
  <dcterms:created xsi:type="dcterms:W3CDTF">2025-09-12T04:18:11Z</dcterms:created>
  <dcterms:modified xsi:type="dcterms:W3CDTF">2026-01-31T06:30:47Z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Creator">
    <vt:lpwstr>Google</vt:lpwstr>
  </property>
  <property fmtid="{D5CDD505-2E9C-101B-9397-08002B2CF9AE}" pid="4" name="LastSaved">
    <vt:filetime>2025-09-12T00:00:00Z</vt:filetime>
  </property>
</Properties>
</file>