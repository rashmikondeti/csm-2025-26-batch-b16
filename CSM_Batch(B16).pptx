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6" r:id="rId2"/>
    <p:sldId id="258" r:id="rId3"/>
    <p:sldId id="290" r:id="rId4"/>
    <p:sldId id="266" r:id="rId5"/>
    <p:sldId id="275" r:id="rId6"/>
    <p:sldId id="260" r:id="rId7"/>
    <p:sldId id="274" r:id="rId8"/>
    <p:sldId id="271" r:id="rId9"/>
    <p:sldId id="276" r:id="rId10"/>
    <p:sldId id="283" r:id="rId11"/>
    <p:sldId id="284" r:id="rId12"/>
    <p:sldId id="285" r:id="rId13"/>
    <p:sldId id="277" r:id="rId14"/>
    <p:sldId id="272" r:id="rId15"/>
    <p:sldId id="278" r:id="rId16"/>
    <p:sldId id="279" r:id="rId17"/>
    <p:sldId id="280" r:id="rId18"/>
    <p:sldId id="281" r:id="rId19"/>
    <p:sldId id="282" r:id="rId20"/>
    <p:sldId id="288" r:id="rId21"/>
    <p:sldId id="289" r:id="rId22"/>
    <p:sldId id="286" r:id="rId23"/>
    <p:sldId id="287" r:id="rId24"/>
    <p:sldId id="273" r:id="rId25"/>
    <p:sldId id="264" r:id="rId26"/>
    <p:sldId id="265" r:id="rId2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52" autoAdjust="0"/>
    <p:restoredTop sz="94692"/>
  </p:normalViewPr>
  <p:slideViewPr>
    <p:cSldViewPr>
      <p:cViewPr varScale="1">
        <p:scale>
          <a:sx n="65" d="100"/>
          <a:sy n="65" d="100"/>
        </p:scale>
        <p:origin x="492" y="3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0E791910-4FED-4A69-9027-872062396EBD}" type="datetimeFigureOut">
              <a:rPr lang="en-IN" smtClean="0"/>
              <a:t>08-04-2026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23472F7-00EC-40F3-A111-228D446E4BD5}" type="slidenum">
              <a:rPr lang="en-IN" smtClean="0"/>
              <a:t>‹#›</a:t>
            </a:fld>
            <a:endParaRPr lang="en-IN"/>
          </a:p>
        </p:txBody>
      </p:sp>
    </p:spTree>
    <p:extLst>
      <p:ext uri="{BB962C8B-B14F-4D97-AF65-F5344CB8AC3E}">
        <p14:creationId xmlns:p14="http://schemas.microsoft.com/office/powerpoint/2010/main" val="1855936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t>1</a:t>
            </a:fld>
            <a:endParaRPr lang="en-IN"/>
          </a:p>
        </p:txBody>
      </p:sp>
    </p:spTree>
    <p:extLst>
      <p:ext uri="{BB962C8B-B14F-4D97-AF65-F5344CB8AC3E}">
        <p14:creationId xmlns:p14="http://schemas.microsoft.com/office/powerpoint/2010/main" val="1254589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t>2</a:t>
            </a:fld>
            <a:endParaRPr lang="en-IN"/>
          </a:p>
        </p:txBody>
      </p:sp>
    </p:spTree>
    <p:extLst>
      <p:ext uri="{BB962C8B-B14F-4D97-AF65-F5344CB8AC3E}">
        <p14:creationId xmlns:p14="http://schemas.microsoft.com/office/powerpoint/2010/main" val="18941654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t>3</a:t>
            </a:fld>
            <a:endParaRPr lang="en-IN"/>
          </a:p>
        </p:txBody>
      </p:sp>
    </p:spTree>
    <p:extLst>
      <p:ext uri="{BB962C8B-B14F-4D97-AF65-F5344CB8AC3E}">
        <p14:creationId xmlns:p14="http://schemas.microsoft.com/office/powerpoint/2010/main" val="24303672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t>4</a:t>
            </a:fld>
            <a:endParaRPr lang="en-IN"/>
          </a:p>
        </p:txBody>
      </p:sp>
    </p:spTree>
    <p:extLst>
      <p:ext uri="{BB962C8B-B14F-4D97-AF65-F5344CB8AC3E}">
        <p14:creationId xmlns:p14="http://schemas.microsoft.com/office/powerpoint/2010/main" val="10194074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t>6</a:t>
            </a:fld>
            <a:endParaRPr lang="en-IN"/>
          </a:p>
        </p:txBody>
      </p:sp>
    </p:spTree>
    <p:extLst>
      <p:ext uri="{BB962C8B-B14F-4D97-AF65-F5344CB8AC3E}">
        <p14:creationId xmlns:p14="http://schemas.microsoft.com/office/powerpoint/2010/main" val="22259051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3472F7-00EC-40F3-A111-228D446E4BD5}" type="slidenum">
              <a:rPr lang="en-IN" smtClean="0"/>
              <a:t>7</a:t>
            </a:fld>
            <a:endParaRPr lang="en-IN"/>
          </a:p>
        </p:txBody>
      </p:sp>
    </p:spTree>
    <p:extLst>
      <p:ext uri="{BB962C8B-B14F-4D97-AF65-F5344CB8AC3E}">
        <p14:creationId xmlns:p14="http://schemas.microsoft.com/office/powerpoint/2010/main" val="31668240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CE658CB-2BD4-ABBB-0C76-668CB1B0C6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1812C1C1-AE70-47D0-B851-DD2D01DFF7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6B82695A-45AC-563D-6DB7-5F882887990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0C06056F-D85E-F504-8276-35C213130D34}"/>
              </a:ext>
            </a:extLst>
          </p:cNvPr>
          <p:cNvSpPr>
            <a:spLocks noGrp="1"/>
          </p:cNvSpPr>
          <p:nvPr>
            <p:ph type="sldNum" sz="quarter" idx="5"/>
          </p:nvPr>
        </p:nvSpPr>
        <p:spPr/>
        <p:txBody>
          <a:bodyPr/>
          <a:lstStyle/>
          <a:p>
            <a:fld id="{623472F7-00EC-40F3-A111-228D446E4BD5}" type="slidenum">
              <a:rPr lang="en-IN" smtClean="0"/>
              <a:t>8</a:t>
            </a:fld>
            <a:endParaRPr lang="en-IN"/>
          </a:p>
        </p:txBody>
      </p:sp>
    </p:spTree>
    <p:extLst>
      <p:ext uri="{BB962C8B-B14F-4D97-AF65-F5344CB8AC3E}">
        <p14:creationId xmlns:p14="http://schemas.microsoft.com/office/powerpoint/2010/main" val="26941105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3472F7-00EC-40F3-A111-228D446E4BD5}" type="slidenum">
              <a:rPr lang="en-IN" smtClean="0"/>
              <a:t>13</a:t>
            </a:fld>
            <a:endParaRPr lang="en-IN"/>
          </a:p>
        </p:txBody>
      </p:sp>
    </p:spTree>
    <p:extLst>
      <p:ext uri="{BB962C8B-B14F-4D97-AF65-F5344CB8AC3E}">
        <p14:creationId xmlns:p14="http://schemas.microsoft.com/office/powerpoint/2010/main" val="37235413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AAF4336-D07D-1104-44EA-7EFA117EA2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761336D5-270E-735C-4953-51746F003E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CC01A8A2-254D-52B3-4525-133705AB6CD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7D0FA7DA-1023-ACA4-D414-3ED18FA3E014}"/>
              </a:ext>
            </a:extLst>
          </p:cNvPr>
          <p:cNvSpPr>
            <a:spLocks noGrp="1"/>
          </p:cNvSpPr>
          <p:nvPr>
            <p:ph type="sldNum" sz="quarter" idx="5"/>
          </p:nvPr>
        </p:nvSpPr>
        <p:spPr/>
        <p:txBody>
          <a:bodyPr/>
          <a:lstStyle/>
          <a:p>
            <a:fld id="{623472F7-00EC-40F3-A111-228D446E4BD5}" type="slidenum">
              <a:rPr lang="en-IN" smtClean="0"/>
              <a:t>14</a:t>
            </a:fld>
            <a:endParaRPr lang="en-IN"/>
          </a:p>
        </p:txBody>
      </p:sp>
    </p:spTree>
    <p:extLst>
      <p:ext uri="{BB962C8B-B14F-4D97-AF65-F5344CB8AC3E}">
        <p14:creationId xmlns:p14="http://schemas.microsoft.com/office/powerpoint/2010/main" val="38634435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AAF4336-D07D-1104-44EA-7EFA117EA2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761336D5-270E-735C-4953-51746F003E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CC01A8A2-254D-52B3-4525-133705AB6CD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7D0FA7DA-1023-ACA4-D414-3ED18FA3E014}"/>
              </a:ext>
            </a:extLst>
          </p:cNvPr>
          <p:cNvSpPr>
            <a:spLocks noGrp="1"/>
          </p:cNvSpPr>
          <p:nvPr>
            <p:ph type="sldNum" sz="quarter" idx="5"/>
          </p:nvPr>
        </p:nvSpPr>
        <p:spPr/>
        <p:txBody>
          <a:bodyPr/>
          <a:lstStyle/>
          <a:p>
            <a:fld id="{623472F7-00EC-40F3-A111-228D446E4BD5}" type="slidenum">
              <a:rPr lang="en-IN" smtClean="0"/>
              <a:t>15</a:t>
            </a:fld>
            <a:endParaRPr lang="en-IN"/>
          </a:p>
        </p:txBody>
      </p:sp>
    </p:spTree>
    <p:extLst>
      <p:ext uri="{BB962C8B-B14F-4D97-AF65-F5344CB8AC3E}">
        <p14:creationId xmlns:p14="http://schemas.microsoft.com/office/powerpoint/2010/main" val="38324739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AAF4336-D07D-1104-44EA-7EFA117EA2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761336D5-270E-735C-4953-51746F003E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CC01A8A2-254D-52B3-4525-133705AB6CD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7D0FA7DA-1023-ACA4-D414-3ED18FA3E014}"/>
              </a:ext>
            </a:extLst>
          </p:cNvPr>
          <p:cNvSpPr>
            <a:spLocks noGrp="1"/>
          </p:cNvSpPr>
          <p:nvPr>
            <p:ph type="sldNum" sz="quarter" idx="5"/>
          </p:nvPr>
        </p:nvSpPr>
        <p:spPr/>
        <p:txBody>
          <a:bodyPr/>
          <a:lstStyle/>
          <a:p>
            <a:fld id="{623472F7-00EC-40F3-A111-228D446E4BD5}" type="slidenum">
              <a:rPr lang="en-IN" smtClean="0"/>
              <a:t>16</a:t>
            </a:fld>
            <a:endParaRPr lang="en-IN"/>
          </a:p>
        </p:txBody>
      </p:sp>
    </p:spTree>
    <p:extLst>
      <p:ext uri="{BB962C8B-B14F-4D97-AF65-F5344CB8AC3E}">
        <p14:creationId xmlns:p14="http://schemas.microsoft.com/office/powerpoint/2010/main" val="30858771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AAF4336-D07D-1104-44EA-7EFA117EA2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761336D5-270E-735C-4953-51746F003E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CC01A8A2-254D-52B3-4525-133705AB6CD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7D0FA7DA-1023-ACA4-D414-3ED18FA3E014}"/>
              </a:ext>
            </a:extLst>
          </p:cNvPr>
          <p:cNvSpPr>
            <a:spLocks noGrp="1"/>
          </p:cNvSpPr>
          <p:nvPr>
            <p:ph type="sldNum" sz="quarter" idx="5"/>
          </p:nvPr>
        </p:nvSpPr>
        <p:spPr/>
        <p:txBody>
          <a:bodyPr/>
          <a:lstStyle/>
          <a:p>
            <a:fld id="{623472F7-00EC-40F3-A111-228D446E4BD5}" type="slidenum">
              <a:rPr lang="en-IN" smtClean="0"/>
              <a:t>17</a:t>
            </a:fld>
            <a:endParaRPr lang="en-IN"/>
          </a:p>
        </p:txBody>
      </p:sp>
    </p:spTree>
    <p:extLst>
      <p:ext uri="{BB962C8B-B14F-4D97-AF65-F5344CB8AC3E}">
        <p14:creationId xmlns:p14="http://schemas.microsoft.com/office/powerpoint/2010/main" val="9661606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AAF4336-D07D-1104-44EA-7EFA117EA2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761336D5-270E-735C-4953-51746F003E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CC01A8A2-254D-52B3-4525-133705AB6CD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7D0FA7DA-1023-ACA4-D414-3ED18FA3E014}"/>
              </a:ext>
            </a:extLst>
          </p:cNvPr>
          <p:cNvSpPr>
            <a:spLocks noGrp="1"/>
          </p:cNvSpPr>
          <p:nvPr>
            <p:ph type="sldNum" sz="quarter" idx="5"/>
          </p:nvPr>
        </p:nvSpPr>
        <p:spPr/>
        <p:txBody>
          <a:bodyPr/>
          <a:lstStyle/>
          <a:p>
            <a:fld id="{623472F7-00EC-40F3-A111-228D446E4BD5}" type="slidenum">
              <a:rPr lang="en-IN" smtClean="0"/>
              <a:t>18</a:t>
            </a:fld>
            <a:endParaRPr lang="en-IN"/>
          </a:p>
        </p:txBody>
      </p:sp>
    </p:spTree>
    <p:extLst>
      <p:ext uri="{BB962C8B-B14F-4D97-AF65-F5344CB8AC3E}">
        <p14:creationId xmlns:p14="http://schemas.microsoft.com/office/powerpoint/2010/main" val="8993778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AAF4336-D07D-1104-44EA-7EFA117EA2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761336D5-270E-735C-4953-51746F003E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CC01A8A2-254D-52B3-4525-133705AB6CD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7D0FA7DA-1023-ACA4-D414-3ED18FA3E014}"/>
              </a:ext>
            </a:extLst>
          </p:cNvPr>
          <p:cNvSpPr>
            <a:spLocks noGrp="1"/>
          </p:cNvSpPr>
          <p:nvPr>
            <p:ph type="sldNum" sz="quarter" idx="5"/>
          </p:nvPr>
        </p:nvSpPr>
        <p:spPr/>
        <p:txBody>
          <a:bodyPr/>
          <a:lstStyle/>
          <a:p>
            <a:fld id="{623472F7-00EC-40F3-A111-228D446E4BD5}" type="slidenum">
              <a:rPr lang="en-IN" smtClean="0"/>
              <a:t>19</a:t>
            </a:fld>
            <a:endParaRPr lang="en-IN"/>
          </a:p>
        </p:txBody>
      </p:sp>
    </p:spTree>
    <p:extLst>
      <p:ext uri="{BB962C8B-B14F-4D97-AF65-F5344CB8AC3E}">
        <p14:creationId xmlns:p14="http://schemas.microsoft.com/office/powerpoint/2010/main" val="11056006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AAF4336-D07D-1104-44EA-7EFA117EA2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761336D5-270E-735C-4953-51746F003E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CC01A8A2-254D-52B3-4525-133705AB6CD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7D0FA7DA-1023-ACA4-D414-3ED18FA3E014}"/>
              </a:ext>
            </a:extLst>
          </p:cNvPr>
          <p:cNvSpPr>
            <a:spLocks noGrp="1"/>
          </p:cNvSpPr>
          <p:nvPr>
            <p:ph type="sldNum" sz="quarter" idx="5"/>
          </p:nvPr>
        </p:nvSpPr>
        <p:spPr/>
        <p:txBody>
          <a:bodyPr/>
          <a:lstStyle/>
          <a:p>
            <a:fld id="{623472F7-00EC-40F3-A111-228D446E4BD5}" type="slidenum">
              <a:rPr lang="en-IN" smtClean="0"/>
              <a:t>20</a:t>
            </a:fld>
            <a:endParaRPr lang="en-IN"/>
          </a:p>
        </p:txBody>
      </p:sp>
    </p:spTree>
    <p:extLst>
      <p:ext uri="{BB962C8B-B14F-4D97-AF65-F5344CB8AC3E}">
        <p14:creationId xmlns:p14="http://schemas.microsoft.com/office/powerpoint/2010/main" val="17649408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AAF4336-D07D-1104-44EA-7EFA117EA2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761336D5-270E-735C-4953-51746F003E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CC01A8A2-254D-52B3-4525-133705AB6CD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7D0FA7DA-1023-ACA4-D414-3ED18FA3E014}"/>
              </a:ext>
            </a:extLst>
          </p:cNvPr>
          <p:cNvSpPr>
            <a:spLocks noGrp="1"/>
          </p:cNvSpPr>
          <p:nvPr>
            <p:ph type="sldNum" sz="quarter" idx="5"/>
          </p:nvPr>
        </p:nvSpPr>
        <p:spPr/>
        <p:txBody>
          <a:bodyPr/>
          <a:lstStyle/>
          <a:p>
            <a:fld id="{623472F7-00EC-40F3-A111-228D446E4BD5}" type="slidenum">
              <a:rPr lang="en-IN" smtClean="0"/>
              <a:t>21</a:t>
            </a:fld>
            <a:endParaRPr lang="en-IN"/>
          </a:p>
        </p:txBody>
      </p:sp>
    </p:spTree>
    <p:extLst>
      <p:ext uri="{BB962C8B-B14F-4D97-AF65-F5344CB8AC3E}">
        <p14:creationId xmlns:p14="http://schemas.microsoft.com/office/powerpoint/2010/main" val="32502837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AAF4336-D07D-1104-44EA-7EFA117EA2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761336D5-270E-735C-4953-51746F003E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CC01A8A2-254D-52B3-4525-133705AB6CD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7D0FA7DA-1023-ACA4-D414-3ED18FA3E014}"/>
              </a:ext>
            </a:extLst>
          </p:cNvPr>
          <p:cNvSpPr>
            <a:spLocks noGrp="1"/>
          </p:cNvSpPr>
          <p:nvPr>
            <p:ph type="sldNum" sz="quarter" idx="5"/>
          </p:nvPr>
        </p:nvSpPr>
        <p:spPr/>
        <p:txBody>
          <a:bodyPr/>
          <a:lstStyle/>
          <a:p>
            <a:fld id="{623472F7-00EC-40F3-A111-228D446E4BD5}" type="slidenum">
              <a:rPr lang="en-IN" smtClean="0"/>
              <a:t>22</a:t>
            </a:fld>
            <a:endParaRPr lang="en-IN"/>
          </a:p>
        </p:txBody>
      </p:sp>
    </p:spTree>
    <p:extLst>
      <p:ext uri="{BB962C8B-B14F-4D97-AF65-F5344CB8AC3E}">
        <p14:creationId xmlns:p14="http://schemas.microsoft.com/office/powerpoint/2010/main" val="11384483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AAF4336-D07D-1104-44EA-7EFA117EA2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761336D5-270E-735C-4953-51746F003E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CC01A8A2-254D-52B3-4525-133705AB6CD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7D0FA7DA-1023-ACA4-D414-3ED18FA3E014}"/>
              </a:ext>
            </a:extLst>
          </p:cNvPr>
          <p:cNvSpPr>
            <a:spLocks noGrp="1"/>
          </p:cNvSpPr>
          <p:nvPr>
            <p:ph type="sldNum" sz="quarter" idx="5"/>
          </p:nvPr>
        </p:nvSpPr>
        <p:spPr/>
        <p:txBody>
          <a:bodyPr/>
          <a:lstStyle/>
          <a:p>
            <a:fld id="{623472F7-00EC-40F3-A111-228D446E4BD5}" type="slidenum">
              <a:rPr lang="en-IN" smtClean="0"/>
              <a:t>23</a:t>
            </a:fld>
            <a:endParaRPr lang="en-IN"/>
          </a:p>
        </p:txBody>
      </p:sp>
    </p:spTree>
    <p:extLst>
      <p:ext uri="{BB962C8B-B14F-4D97-AF65-F5344CB8AC3E}">
        <p14:creationId xmlns:p14="http://schemas.microsoft.com/office/powerpoint/2010/main" val="28412398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3695466-6BC2-5D8F-CD03-52596A89E8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EA958373-E867-2212-A654-21300748A0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A29D9D3D-A91C-B18F-75D4-E264DDE929C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E6BAB591-B997-5C32-8C23-C58A8502FE04}"/>
              </a:ext>
            </a:extLst>
          </p:cNvPr>
          <p:cNvSpPr>
            <a:spLocks noGrp="1"/>
          </p:cNvSpPr>
          <p:nvPr>
            <p:ph type="sldNum" sz="quarter" idx="5"/>
          </p:nvPr>
        </p:nvSpPr>
        <p:spPr/>
        <p:txBody>
          <a:bodyPr/>
          <a:lstStyle/>
          <a:p>
            <a:fld id="{623472F7-00EC-40F3-A111-228D446E4BD5}" type="slidenum">
              <a:rPr lang="en-IN" smtClean="0"/>
              <a:t>24</a:t>
            </a:fld>
            <a:endParaRPr lang="en-IN"/>
          </a:p>
        </p:txBody>
      </p:sp>
    </p:spTree>
    <p:extLst>
      <p:ext uri="{BB962C8B-B14F-4D97-AF65-F5344CB8AC3E}">
        <p14:creationId xmlns:p14="http://schemas.microsoft.com/office/powerpoint/2010/main" val="17221485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t>25</a:t>
            </a:fld>
            <a:endParaRPr lang="en-IN"/>
          </a:p>
        </p:txBody>
      </p:sp>
    </p:spTree>
    <p:extLst>
      <p:ext uri="{BB962C8B-B14F-4D97-AF65-F5344CB8AC3E}">
        <p14:creationId xmlns:p14="http://schemas.microsoft.com/office/powerpoint/2010/main" val="824020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6" name="Holder 6"/>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7" name="Holder 7"/>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4" name="Holder 4"/>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5" name="Holder 5"/>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3" name="Holder 3"/>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4" name="Holder 4"/>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77238" y="6642827"/>
            <a:ext cx="5654040" cy="215265"/>
          </a:xfrm>
          <a:custGeom>
            <a:avLst/>
            <a:gdLst/>
            <a:ahLst/>
            <a:cxnLst/>
            <a:rect l="l" t="t" r="r" b="b"/>
            <a:pathLst>
              <a:path w="5654040" h="215265">
                <a:moveTo>
                  <a:pt x="5654038" y="215171"/>
                </a:moveTo>
                <a:lnTo>
                  <a:pt x="0" y="215171"/>
                </a:lnTo>
                <a:lnTo>
                  <a:pt x="0" y="0"/>
                </a:lnTo>
                <a:lnTo>
                  <a:pt x="5654038" y="0"/>
                </a:lnTo>
                <a:lnTo>
                  <a:pt x="5654038" y="215171"/>
                </a:lnTo>
                <a:close/>
              </a:path>
            </a:pathLst>
          </a:custGeom>
          <a:solidFill>
            <a:srgbClr val="002060"/>
          </a:solidFill>
        </p:spPr>
        <p:txBody>
          <a:bodyPr wrap="square" lIns="0" tIns="0" rIns="0" bIns="0" rtlCol="0"/>
          <a:lstStyle/>
          <a:p>
            <a:endParaRPr/>
          </a:p>
        </p:txBody>
      </p:sp>
      <p:sp>
        <p:nvSpPr>
          <p:cNvPr id="17" name="bg object 17"/>
          <p:cNvSpPr/>
          <p:nvPr/>
        </p:nvSpPr>
        <p:spPr>
          <a:xfrm>
            <a:off x="6431277" y="6641865"/>
            <a:ext cx="5323205" cy="216535"/>
          </a:xfrm>
          <a:custGeom>
            <a:avLst/>
            <a:gdLst/>
            <a:ahLst/>
            <a:cxnLst/>
            <a:rect l="l" t="t" r="r" b="b"/>
            <a:pathLst>
              <a:path w="5323205" h="216534">
                <a:moveTo>
                  <a:pt x="5322916" y="216133"/>
                </a:moveTo>
                <a:lnTo>
                  <a:pt x="0" y="216133"/>
                </a:lnTo>
                <a:lnTo>
                  <a:pt x="0" y="0"/>
                </a:lnTo>
                <a:lnTo>
                  <a:pt x="5322916" y="0"/>
                </a:lnTo>
                <a:lnTo>
                  <a:pt x="5322916" y="216133"/>
                </a:lnTo>
                <a:close/>
              </a:path>
            </a:pathLst>
          </a:custGeom>
          <a:solidFill>
            <a:srgbClr val="008080"/>
          </a:solidFill>
        </p:spPr>
        <p:txBody>
          <a:bodyPr wrap="square" lIns="0" tIns="0" rIns="0" bIns="0" rtlCol="0"/>
          <a:lstStyle/>
          <a:p>
            <a:endParaRPr/>
          </a:p>
        </p:txBody>
      </p:sp>
      <p:sp>
        <p:nvSpPr>
          <p:cNvPr id="18" name="bg object 18"/>
          <p:cNvSpPr/>
          <p:nvPr/>
        </p:nvSpPr>
        <p:spPr>
          <a:xfrm>
            <a:off x="11754195" y="6641864"/>
            <a:ext cx="438150" cy="216535"/>
          </a:xfrm>
          <a:custGeom>
            <a:avLst/>
            <a:gdLst/>
            <a:ahLst/>
            <a:cxnLst/>
            <a:rect l="l" t="t" r="r" b="b"/>
            <a:pathLst>
              <a:path w="438150" h="216534">
                <a:moveTo>
                  <a:pt x="437803" y="216132"/>
                </a:moveTo>
                <a:lnTo>
                  <a:pt x="0" y="216132"/>
                </a:lnTo>
                <a:lnTo>
                  <a:pt x="0" y="0"/>
                </a:lnTo>
                <a:lnTo>
                  <a:pt x="437803" y="0"/>
                </a:lnTo>
                <a:lnTo>
                  <a:pt x="437803" y="216132"/>
                </a:lnTo>
                <a:close/>
              </a:path>
            </a:pathLst>
          </a:custGeom>
          <a:solidFill>
            <a:srgbClr val="FFC000"/>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11506200" y="5956065"/>
            <a:ext cx="685799" cy="681643"/>
          </a:xfrm>
          <a:prstGeom prst="rect">
            <a:avLst/>
          </a:prstGeom>
        </p:spPr>
      </p:pic>
      <p:sp>
        <p:nvSpPr>
          <p:cNvPr id="20" name="bg object 20"/>
          <p:cNvSpPr/>
          <p:nvPr/>
        </p:nvSpPr>
        <p:spPr>
          <a:xfrm>
            <a:off x="0" y="6642827"/>
            <a:ext cx="777240" cy="215265"/>
          </a:xfrm>
          <a:custGeom>
            <a:avLst/>
            <a:gdLst/>
            <a:ahLst/>
            <a:cxnLst/>
            <a:rect l="l" t="t" r="r" b="b"/>
            <a:pathLst>
              <a:path w="777240" h="215265">
                <a:moveTo>
                  <a:pt x="777238" y="215171"/>
                </a:moveTo>
                <a:lnTo>
                  <a:pt x="0" y="215171"/>
                </a:lnTo>
                <a:lnTo>
                  <a:pt x="0" y="0"/>
                </a:lnTo>
                <a:lnTo>
                  <a:pt x="777238" y="0"/>
                </a:lnTo>
                <a:lnTo>
                  <a:pt x="777238" y="215171"/>
                </a:lnTo>
                <a:close/>
              </a:path>
            </a:pathLst>
          </a:custGeom>
          <a:solidFill>
            <a:srgbClr val="C55A11"/>
          </a:solidFill>
        </p:spPr>
        <p:txBody>
          <a:bodyPr wrap="square" lIns="0" tIns="0" rIns="0" bIns="0" rtlCol="0"/>
          <a:lstStyle/>
          <a:p>
            <a:endParaRPr/>
          </a:p>
        </p:txBody>
      </p:sp>
      <p:sp>
        <p:nvSpPr>
          <p:cNvPr id="21" name="bg object 21"/>
          <p:cNvSpPr/>
          <p:nvPr/>
        </p:nvSpPr>
        <p:spPr>
          <a:xfrm>
            <a:off x="-1" y="0"/>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a:p>
        </p:txBody>
      </p:sp>
      <p:sp>
        <p:nvSpPr>
          <p:cNvPr id="2" name="Holder 2"/>
          <p:cNvSpPr>
            <a:spLocks noGrp="1"/>
          </p:cNvSpPr>
          <p:nvPr>
            <p:ph type="title"/>
          </p:nvPr>
        </p:nvSpPr>
        <p:spPr>
          <a:xfrm>
            <a:off x="73025" y="-50596"/>
            <a:ext cx="3888104" cy="69596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41783" y="6629792"/>
            <a:ext cx="54483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5" name="Holder 5"/>
          <p:cNvSpPr>
            <a:spLocks noGrp="1"/>
          </p:cNvSpPr>
          <p:nvPr>
            <p:ph type="dt" sz="half" idx="6"/>
          </p:nvPr>
        </p:nvSpPr>
        <p:spPr>
          <a:xfrm>
            <a:off x="1123125" y="6629792"/>
            <a:ext cx="4962525"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6" name="Holder 6"/>
          <p:cNvSpPr>
            <a:spLocks noGrp="1"/>
          </p:cNvSpPr>
          <p:nvPr>
            <p:ph type="sldNum" sz="quarter" idx="7"/>
          </p:nvPr>
        </p:nvSpPr>
        <p:spPr>
          <a:xfrm>
            <a:off x="11858823" y="6629309"/>
            <a:ext cx="228600" cy="250825"/>
          </a:xfrm>
          <a:prstGeom prst="rect">
            <a:avLst/>
          </a:prstGeom>
        </p:spPr>
        <p:txBody>
          <a:bodyPr wrap="square" lIns="0" tIns="0" rIns="0" bIns="0">
            <a:spAutoFit/>
          </a:bodyPr>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internship%20report%20final1.pdf" TargetMode="External"/><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55008" y="6642101"/>
            <a:ext cx="11436992" cy="233679"/>
            <a:chOff x="753123" y="6600682"/>
            <a:chExt cx="11461310" cy="329426"/>
          </a:xfrm>
        </p:grpSpPr>
        <p:sp>
          <p:nvSpPr>
            <p:cNvPr id="3" name="object 3"/>
            <p:cNvSpPr/>
            <p:nvPr/>
          </p:nvSpPr>
          <p:spPr>
            <a:xfrm>
              <a:off x="753123" y="6600690"/>
              <a:ext cx="5887233" cy="325877"/>
            </a:xfrm>
            <a:custGeom>
              <a:avLst/>
              <a:gdLst/>
              <a:ahLst/>
              <a:cxnLst/>
              <a:rect l="l" t="t" r="r" b="b"/>
              <a:pathLst>
                <a:path w="5782309" h="220979">
                  <a:moveTo>
                    <a:pt x="5781821" y="220979"/>
                  </a:moveTo>
                  <a:lnTo>
                    <a:pt x="0" y="220979"/>
                  </a:lnTo>
                  <a:lnTo>
                    <a:pt x="0" y="0"/>
                  </a:lnTo>
                  <a:lnTo>
                    <a:pt x="5781821" y="0"/>
                  </a:lnTo>
                  <a:lnTo>
                    <a:pt x="5781821" y="220979"/>
                  </a:lnTo>
                  <a:close/>
                </a:path>
              </a:pathLst>
            </a:custGeom>
            <a:solidFill>
              <a:srgbClr val="002060"/>
            </a:solidFill>
          </p:spPr>
          <p:txBody>
            <a:bodyPr wrap="square" lIns="0" tIns="0" rIns="0" bIns="0" rtlCol="0" anchor="t"/>
            <a:lstStyle/>
            <a:p>
              <a:r>
                <a:rPr lang="en-US" sz="1600" dirty="0">
                  <a:solidFill>
                    <a:schemeClr val="bg1"/>
                  </a:solidFill>
                  <a:latin typeface="Times New Roman"/>
                  <a:cs typeface="Times New Roman"/>
                </a:rPr>
                <a:t>     </a:t>
              </a:r>
              <a:r>
                <a:rPr lang="en-US" sz="1600" dirty="0" err="1">
                  <a:solidFill>
                    <a:schemeClr val="bg1"/>
                  </a:solidFill>
                  <a:latin typeface="Times New Roman"/>
                  <a:cs typeface="Times New Roman"/>
                </a:rPr>
                <a:t>Dept.of.Computer</a:t>
              </a:r>
              <a:r>
                <a:rPr lang="en-US" sz="1600" dirty="0">
                  <a:solidFill>
                    <a:schemeClr val="bg1"/>
                  </a:solidFill>
                  <a:latin typeface="Times New Roman"/>
                  <a:cs typeface="Times New Roman"/>
                </a:rPr>
                <a:t> science and Engineering(AI&amp;ML)</a:t>
              </a:r>
              <a:endParaRPr lang="en-US" sz="1600" dirty="0">
                <a:solidFill>
                  <a:schemeClr val="bg1"/>
                </a:solidFill>
                <a:latin typeface="Times New Roman"/>
                <a:ea typeface="+mn-lt"/>
                <a:cs typeface="Times New Roman"/>
              </a:endParaRPr>
            </a:p>
          </p:txBody>
        </p:sp>
        <p:sp>
          <p:nvSpPr>
            <p:cNvPr id="4" name="object 4"/>
            <p:cNvSpPr/>
            <p:nvPr/>
          </p:nvSpPr>
          <p:spPr>
            <a:xfrm>
              <a:off x="6640356" y="6600682"/>
              <a:ext cx="4976650" cy="329426"/>
            </a:xfrm>
            <a:custGeom>
              <a:avLst/>
              <a:gdLst/>
              <a:ahLst/>
              <a:cxnLst/>
              <a:rect l="l" t="t" r="r" b="b"/>
              <a:pathLst>
                <a:path w="5195570" h="220979">
                  <a:moveTo>
                    <a:pt x="5195133" y="220979"/>
                  </a:moveTo>
                  <a:lnTo>
                    <a:pt x="0" y="220979"/>
                  </a:lnTo>
                  <a:lnTo>
                    <a:pt x="0" y="0"/>
                  </a:lnTo>
                  <a:lnTo>
                    <a:pt x="5195133" y="0"/>
                  </a:lnTo>
                  <a:lnTo>
                    <a:pt x="5195133" y="220979"/>
                  </a:lnTo>
                  <a:close/>
                </a:path>
              </a:pathLst>
            </a:custGeom>
            <a:solidFill>
              <a:srgbClr val="008080"/>
            </a:solidFill>
          </p:spPr>
          <p:txBody>
            <a:bodyPr wrap="square" lIns="0" tIns="0" rIns="0" bIns="0" rtlCol="0"/>
            <a:lstStyle/>
            <a:p>
              <a:endParaRPr/>
            </a:p>
          </p:txBody>
        </p:sp>
        <p:sp>
          <p:nvSpPr>
            <p:cNvPr id="5" name="object 5"/>
            <p:cNvSpPr/>
            <p:nvPr/>
          </p:nvSpPr>
          <p:spPr>
            <a:xfrm>
              <a:off x="11617006" y="6600683"/>
              <a:ext cx="597427" cy="329425"/>
            </a:xfrm>
            <a:custGeom>
              <a:avLst/>
              <a:gdLst/>
              <a:ahLst/>
              <a:cxnLst/>
              <a:rect l="l" t="t" r="r" b="b"/>
              <a:pathLst>
                <a:path w="438150" h="220979">
                  <a:moveTo>
                    <a:pt x="437803" y="220979"/>
                  </a:moveTo>
                  <a:lnTo>
                    <a:pt x="0" y="220979"/>
                  </a:lnTo>
                  <a:lnTo>
                    <a:pt x="0" y="0"/>
                  </a:lnTo>
                  <a:lnTo>
                    <a:pt x="437803" y="0"/>
                  </a:lnTo>
                  <a:lnTo>
                    <a:pt x="437803" y="220979"/>
                  </a:lnTo>
                  <a:close/>
                </a:path>
              </a:pathLst>
            </a:custGeom>
            <a:solidFill>
              <a:srgbClr val="FFC000"/>
            </a:solidFill>
          </p:spPr>
          <p:txBody>
            <a:bodyPr wrap="square" lIns="0" tIns="0" rIns="0" bIns="0" rtlCol="0"/>
            <a:lstStyle/>
            <a:p>
              <a:endParaRPr dirty="0"/>
            </a:p>
          </p:txBody>
        </p:sp>
      </p:grpSp>
      <p:sp>
        <p:nvSpPr>
          <p:cNvPr id="6" name="object 6"/>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a:p>
        </p:txBody>
      </p:sp>
      <p:sp>
        <p:nvSpPr>
          <p:cNvPr id="7" name="object 7"/>
          <p:cNvSpPr/>
          <p:nvPr/>
        </p:nvSpPr>
        <p:spPr>
          <a:xfrm>
            <a:off x="-1" y="6639597"/>
            <a:ext cx="782336" cy="218404"/>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pPr algn="ctr"/>
            <a:r>
              <a:rPr lang="en-IN" sz="1600" dirty="0">
                <a:solidFill>
                  <a:schemeClr val="bg1"/>
                </a:solidFill>
                <a:latin typeface="Times New Roman"/>
                <a:cs typeface="Times New Roman"/>
              </a:rPr>
              <a:t>B-16</a:t>
            </a:r>
            <a:endParaRPr sz="1600" dirty="0">
              <a:solidFill>
                <a:schemeClr val="bg1"/>
              </a:solidFill>
              <a:latin typeface="Times New Roman" panose="02020603050405020304" pitchFamily="18" charset="0"/>
              <a:cs typeface="Times New Roman" panose="02020603050405020304" pitchFamily="18" charset="0"/>
            </a:endParaRPr>
          </a:p>
        </p:txBody>
      </p:sp>
      <p:sp>
        <p:nvSpPr>
          <p:cNvPr id="8" name="object 8"/>
          <p:cNvSpPr txBox="1"/>
          <p:nvPr/>
        </p:nvSpPr>
        <p:spPr>
          <a:xfrm>
            <a:off x="5773588" y="1683897"/>
            <a:ext cx="2532212" cy="598241"/>
          </a:xfrm>
          <a:prstGeom prst="rect">
            <a:avLst/>
          </a:prstGeom>
        </p:spPr>
        <p:txBody>
          <a:bodyPr vert="horz" wrap="square" lIns="0" tIns="13335" rIns="0" bIns="0" rtlCol="0" anchor="t">
            <a:spAutoFit/>
          </a:bodyPr>
          <a:lstStyle/>
          <a:p>
            <a:pPr algn="ctr">
              <a:lnSpc>
                <a:spcPct val="100000"/>
              </a:lnSpc>
              <a:spcBef>
                <a:spcPts val="105"/>
              </a:spcBef>
            </a:pPr>
            <a:r>
              <a:rPr lang="en-IN" sz="2400" dirty="0" smtClean="0">
                <a:latin typeface="Times New Roman"/>
                <a:cs typeface="Times New Roman"/>
              </a:rPr>
              <a:t>           K</a:t>
            </a:r>
            <a:r>
              <a:rPr lang="en-IN" sz="2400" dirty="0">
                <a:latin typeface="Times New Roman"/>
                <a:cs typeface="Times New Roman"/>
              </a:rPr>
              <a:t>. </a:t>
            </a:r>
            <a:r>
              <a:rPr lang="en-IN" sz="2400" dirty="0" err="1">
                <a:latin typeface="Times New Roman"/>
                <a:cs typeface="Times New Roman"/>
              </a:rPr>
              <a:t>Rashmi</a:t>
            </a:r>
            <a:endParaRPr sz="2400" dirty="0">
              <a:latin typeface="Times New Roman"/>
              <a:cs typeface="Times New Roman"/>
            </a:endParaRPr>
          </a:p>
          <a:p>
            <a:pPr marL="1905" algn="ctr">
              <a:lnSpc>
                <a:spcPct val="100000"/>
              </a:lnSpc>
              <a:spcBef>
                <a:spcPts val="35"/>
              </a:spcBef>
            </a:pPr>
            <a:r>
              <a:rPr lang="en-US" sz="1400" dirty="0" smtClean="0">
                <a:latin typeface="Times New Roman"/>
                <a:cs typeface="Times New Roman"/>
              </a:rPr>
              <a:t>                    </a:t>
            </a:r>
            <a:r>
              <a:rPr sz="1400" dirty="0" smtClean="0">
                <a:latin typeface="Times New Roman"/>
                <a:cs typeface="Times New Roman"/>
              </a:rPr>
              <a:t>Roll </a:t>
            </a:r>
            <a:r>
              <a:rPr sz="1400" dirty="0">
                <a:latin typeface="Times New Roman"/>
                <a:cs typeface="Times New Roman"/>
              </a:rPr>
              <a:t>No. </a:t>
            </a:r>
            <a:r>
              <a:rPr sz="1400" spc="-10" dirty="0">
                <a:latin typeface="Times New Roman"/>
                <a:cs typeface="Times New Roman"/>
              </a:rPr>
              <a:t>2</a:t>
            </a:r>
            <a:r>
              <a:rPr lang="en-IN" sz="1400" spc="-10" dirty="0">
                <a:latin typeface="Times New Roman"/>
                <a:cs typeface="Times New Roman"/>
              </a:rPr>
              <a:t>24G1A3379</a:t>
            </a:r>
            <a:endParaRPr sz="1400" dirty="0">
              <a:latin typeface="Times New Roman"/>
              <a:cs typeface="Times New Roman"/>
            </a:endParaRPr>
          </a:p>
        </p:txBody>
      </p:sp>
      <p:sp>
        <p:nvSpPr>
          <p:cNvPr id="9" name="object 9"/>
          <p:cNvSpPr txBox="1"/>
          <p:nvPr/>
        </p:nvSpPr>
        <p:spPr>
          <a:xfrm>
            <a:off x="4236778" y="2518742"/>
            <a:ext cx="3408512" cy="734175"/>
          </a:xfrm>
          <a:prstGeom prst="rect">
            <a:avLst/>
          </a:prstGeom>
        </p:spPr>
        <p:txBody>
          <a:bodyPr vert="horz" wrap="square" lIns="0" tIns="71755" rIns="0" bIns="0" rtlCol="0" anchor="t">
            <a:spAutoFit/>
          </a:bodyPr>
          <a:lstStyle/>
          <a:p>
            <a:pPr algn="ctr">
              <a:spcBef>
                <a:spcPts val="565"/>
              </a:spcBef>
            </a:pPr>
            <a:r>
              <a:rPr sz="1400" i="1" dirty="0">
                <a:latin typeface="Times New Roman"/>
                <a:cs typeface="Times New Roman"/>
              </a:rPr>
              <a:t>Under</a:t>
            </a:r>
            <a:r>
              <a:rPr sz="1400" i="1" spc="-35" dirty="0">
                <a:latin typeface="Times New Roman"/>
                <a:cs typeface="Times New Roman"/>
              </a:rPr>
              <a:t> </a:t>
            </a:r>
            <a:r>
              <a:rPr sz="1400" i="1" dirty="0">
                <a:latin typeface="Times New Roman"/>
                <a:cs typeface="Times New Roman"/>
              </a:rPr>
              <a:t>the</a:t>
            </a:r>
            <a:r>
              <a:rPr sz="1400" i="1" spc="-35" dirty="0">
                <a:latin typeface="Times New Roman"/>
                <a:cs typeface="Times New Roman"/>
              </a:rPr>
              <a:t> </a:t>
            </a:r>
            <a:r>
              <a:rPr sz="1400" i="1" spc="-10" dirty="0">
                <a:latin typeface="Times New Roman"/>
                <a:cs typeface="Times New Roman"/>
              </a:rPr>
              <a:t>guidance</a:t>
            </a:r>
            <a:r>
              <a:rPr lang="en-IN" sz="1400" i="1" spc="-10" dirty="0">
                <a:latin typeface="Times New Roman"/>
                <a:cs typeface="Times New Roman"/>
              </a:rPr>
              <a:t> of</a:t>
            </a:r>
          </a:p>
          <a:p>
            <a:pPr algn="ctr">
              <a:spcBef>
                <a:spcPts val="565"/>
              </a:spcBef>
            </a:pPr>
            <a:r>
              <a:rPr lang="en-IN" sz="1400" i="1" spc="-35" dirty="0">
                <a:latin typeface="Times New Roman"/>
                <a:cs typeface="Times New Roman"/>
              </a:rPr>
              <a:t> </a:t>
            </a:r>
            <a:r>
              <a:rPr lang="en-IN" sz="3600" baseline="20833" dirty="0" err="1">
                <a:latin typeface="Times New Roman"/>
                <a:cs typeface="Times New Roman"/>
              </a:rPr>
              <a:t>Mr.</a:t>
            </a:r>
            <a:r>
              <a:rPr lang="en-IN" sz="3600" baseline="20833" dirty="0">
                <a:latin typeface="Times New Roman"/>
                <a:cs typeface="Times New Roman"/>
              </a:rPr>
              <a:t> </a:t>
            </a:r>
            <a:r>
              <a:rPr lang="en-IN" sz="3600" baseline="20833" dirty="0" smtClean="0">
                <a:latin typeface="Times New Roman"/>
                <a:cs typeface="Times New Roman"/>
              </a:rPr>
              <a:t>K. </a:t>
            </a:r>
            <a:r>
              <a:rPr lang="en-IN" sz="3600" baseline="20833" dirty="0" err="1" smtClean="0">
                <a:latin typeface="Times New Roman"/>
                <a:cs typeface="Times New Roman"/>
              </a:rPr>
              <a:t>Kondanna</a:t>
            </a:r>
            <a:r>
              <a:rPr lang="en-IN" sz="3600" baseline="20833" dirty="0" smtClean="0">
                <a:latin typeface="Times New Roman"/>
                <a:cs typeface="Times New Roman"/>
              </a:rPr>
              <a:t> </a:t>
            </a:r>
            <a:r>
              <a:rPr lang="en-IN" baseline="20833" dirty="0" err="1" smtClean="0">
                <a:latin typeface="Times New Roman"/>
                <a:cs typeface="Times New Roman"/>
              </a:rPr>
              <a:t>M.Tech</a:t>
            </a:r>
            <a:r>
              <a:rPr lang="en-IN" baseline="20833" dirty="0" smtClean="0">
                <a:latin typeface="Times New Roman"/>
                <a:cs typeface="Times New Roman"/>
              </a:rPr>
              <a:t>.,(Ph.D.)</a:t>
            </a:r>
            <a:endParaRPr lang="en-IN" baseline="20833" dirty="0">
              <a:latin typeface="Times New Roman"/>
              <a:cs typeface="Times New Roman"/>
            </a:endParaRPr>
          </a:p>
        </p:txBody>
      </p:sp>
      <p:sp>
        <p:nvSpPr>
          <p:cNvPr id="11" name="object 11"/>
          <p:cNvSpPr txBox="1"/>
          <p:nvPr/>
        </p:nvSpPr>
        <p:spPr>
          <a:xfrm>
            <a:off x="2389721" y="5151470"/>
            <a:ext cx="7102625" cy="1225977"/>
          </a:xfrm>
          <a:prstGeom prst="rect">
            <a:avLst/>
          </a:prstGeom>
        </p:spPr>
        <p:txBody>
          <a:bodyPr vert="horz" wrap="square" lIns="0" tIns="17780" rIns="0" bIns="0" rtlCol="0">
            <a:spAutoFit/>
          </a:bodyPr>
          <a:lstStyle/>
          <a:p>
            <a:pPr marL="4445" algn="ctr">
              <a:lnSpc>
                <a:spcPts val="1975"/>
              </a:lnSpc>
              <a:spcBef>
                <a:spcPts val="140"/>
              </a:spcBef>
            </a:pPr>
            <a:r>
              <a:rPr sz="1850" dirty="0">
                <a:latin typeface="Times New Roman"/>
                <a:cs typeface="Times New Roman"/>
              </a:rPr>
              <a:t>Department</a:t>
            </a:r>
            <a:r>
              <a:rPr sz="1850" spc="85" dirty="0">
                <a:latin typeface="Times New Roman"/>
                <a:cs typeface="Times New Roman"/>
              </a:rPr>
              <a:t> </a:t>
            </a:r>
            <a:r>
              <a:rPr sz="1850" dirty="0">
                <a:latin typeface="Times New Roman"/>
                <a:cs typeface="Times New Roman"/>
              </a:rPr>
              <a:t>of</a:t>
            </a:r>
            <a:r>
              <a:rPr sz="1850" spc="90" dirty="0">
                <a:latin typeface="Times New Roman"/>
                <a:cs typeface="Times New Roman"/>
              </a:rPr>
              <a:t> </a:t>
            </a:r>
            <a:r>
              <a:rPr sz="1850" dirty="0">
                <a:latin typeface="Times New Roman"/>
                <a:cs typeface="Times New Roman"/>
              </a:rPr>
              <a:t>Computer</a:t>
            </a:r>
            <a:r>
              <a:rPr sz="1850" spc="90" dirty="0">
                <a:latin typeface="Times New Roman"/>
                <a:cs typeface="Times New Roman"/>
              </a:rPr>
              <a:t> </a:t>
            </a:r>
            <a:r>
              <a:rPr sz="1850" dirty="0">
                <a:latin typeface="Times New Roman"/>
                <a:cs typeface="Times New Roman"/>
              </a:rPr>
              <a:t>Science</a:t>
            </a:r>
            <a:r>
              <a:rPr sz="1850" spc="85" dirty="0">
                <a:latin typeface="Times New Roman"/>
                <a:cs typeface="Times New Roman"/>
              </a:rPr>
              <a:t> </a:t>
            </a:r>
            <a:r>
              <a:rPr sz="1850" dirty="0">
                <a:latin typeface="Times New Roman"/>
                <a:cs typeface="Times New Roman"/>
              </a:rPr>
              <a:t>and</a:t>
            </a:r>
            <a:r>
              <a:rPr sz="1850" spc="95" dirty="0">
                <a:latin typeface="Times New Roman"/>
                <a:cs typeface="Times New Roman"/>
              </a:rPr>
              <a:t> </a:t>
            </a:r>
            <a:r>
              <a:rPr sz="1850" dirty="0">
                <a:latin typeface="Times New Roman"/>
                <a:cs typeface="Times New Roman"/>
              </a:rPr>
              <a:t>Engineering</a:t>
            </a:r>
            <a:r>
              <a:rPr sz="1850" spc="90" dirty="0">
                <a:latin typeface="Times New Roman"/>
                <a:cs typeface="Times New Roman"/>
              </a:rPr>
              <a:t> </a:t>
            </a:r>
            <a:r>
              <a:rPr sz="1850" dirty="0">
                <a:latin typeface="Times New Roman"/>
                <a:cs typeface="Times New Roman"/>
              </a:rPr>
              <a:t>(AI</a:t>
            </a:r>
            <a:r>
              <a:rPr sz="1850" spc="90" dirty="0">
                <a:latin typeface="Times New Roman"/>
                <a:cs typeface="Times New Roman"/>
              </a:rPr>
              <a:t> </a:t>
            </a:r>
            <a:r>
              <a:rPr sz="1850" dirty="0">
                <a:latin typeface="Times New Roman"/>
                <a:cs typeface="Times New Roman"/>
              </a:rPr>
              <a:t>&amp;</a:t>
            </a:r>
            <a:r>
              <a:rPr sz="1850" spc="90" dirty="0">
                <a:latin typeface="Times New Roman"/>
                <a:cs typeface="Times New Roman"/>
              </a:rPr>
              <a:t> </a:t>
            </a:r>
            <a:r>
              <a:rPr sz="1850" spc="-25" dirty="0">
                <a:latin typeface="Times New Roman"/>
                <a:cs typeface="Times New Roman"/>
              </a:rPr>
              <a:t>ML)</a:t>
            </a:r>
            <a:endParaRPr sz="1850" dirty="0">
              <a:latin typeface="Times New Roman"/>
              <a:cs typeface="Times New Roman"/>
            </a:endParaRPr>
          </a:p>
          <a:p>
            <a:pPr algn="ctr">
              <a:lnSpc>
                <a:spcPts val="3185"/>
              </a:lnSpc>
            </a:pPr>
            <a:r>
              <a:rPr sz="2900" dirty="0">
                <a:solidFill>
                  <a:srgbClr val="FF0000"/>
                </a:solidFill>
                <a:latin typeface="Times New Roman"/>
                <a:cs typeface="Times New Roman"/>
              </a:rPr>
              <a:t>Srinivasa</a:t>
            </a:r>
            <a:r>
              <a:rPr sz="2900" spc="30" dirty="0">
                <a:solidFill>
                  <a:srgbClr val="FF0000"/>
                </a:solidFill>
                <a:latin typeface="Times New Roman"/>
                <a:cs typeface="Times New Roman"/>
              </a:rPr>
              <a:t> </a:t>
            </a:r>
            <a:r>
              <a:rPr sz="2900" dirty="0">
                <a:solidFill>
                  <a:srgbClr val="FF0000"/>
                </a:solidFill>
                <a:latin typeface="Times New Roman"/>
                <a:cs typeface="Times New Roman"/>
              </a:rPr>
              <a:t>Ramanujan</a:t>
            </a:r>
            <a:r>
              <a:rPr sz="2900" spc="35" dirty="0">
                <a:solidFill>
                  <a:srgbClr val="FF0000"/>
                </a:solidFill>
                <a:latin typeface="Times New Roman"/>
                <a:cs typeface="Times New Roman"/>
              </a:rPr>
              <a:t> </a:t>
            </a:r>
            <a:r>
              <a:rPr sz="2900" dirty="0">
                <a:solidFill>
                  <a:srgbClr val="FF0000"/>
                </a:solidFill>
                <a:latin typeface="Times New Roman"/>
                <a:cs typeface="Times New Roman"/>
              </a:rPr>
              <a:t>Institute</a:t>
            </a:r>
            <a:r>
              <a:rPr sz="2900" spc="30" dirty="0">
                <a:solidFill>
                  <a:srgbClr val="FF0000"/>
                </a:solidFill>
                <a:latin typeface="Times New Roman"/>
                <a:cs typeface="Times New Roman"/>
              </a:rPr>
              <a:t> </a:t>
            </a:r>
            <a:r>
              <a:rPr sz="2900" dirty="0">
                <a:solidFill>
                  <a:srgbClr val="FF0000"/>
                </a:solidFill>
                <a:latin typeface="Times New Roman"/>
                <a:cs typeface="Times New Roman"/>
              </a:rPr>
              <a:t>of</a:t>
            </a:r>
            <a:r>
              <a:rPr sz="2900" spc="35" dirty="0">
                <a:solidFill>
                  <a:srgbClr val="FF0000"/>
                </a:solidFill>
                <a:latin typeface="Times New Roman"/>
                <a:cs typeface="Times New Roman"/>
              </a:rPr>
              <a:t> </a:t>
            </a:r>
            <a:r>
              <a:rPr sz="2900" spc="-10" dirty="0">
                <a:solidFill>
                  <a:srgbClr val="FF0000"/>
                </a:solidFill>
                <a:latin typeface="Times New Roman"/>
                <a:cs typeface="Times New Roman"/>
              </a:rPr>
              <a:t>Technology</a:t>
            </a:r>
            <a:endParaRPr sz="2900" dirty="0">
              <a:latin typeface="Times New Roman"/>
              <a:cs typeface="Times New Roman"/>
            </a:endParaRPr>
          </a:p>
          <a:p>
            <a:pPr marL="6985" algn="ctr">
              <a:lnSpc>
                <a:spcPts val="1070"/>
              </a:lnSpc>
            </a:pPr>
            <a:r>
              <a:rPr sz="950" b="1" spc="-10" dirty="0">
                <a:latin typeface="Times New Roman"/>
                <a:cs typeface="Times New Roman"/>
              </a:rPr>
              <a:t>(Affiliated</a:t>
            </a:r>
            <a:r>
              <a:rPr sz="950" b="1" spc="-25" dirty="0">
                <a:latin typeface="Times New Roman"/>
                <a:cs typeface="Times New Roman"/>
              </a:rPr>
              <a:t> </a:t>
            </a:r>
            <a:r>
              <a:rPr sz="950" b="1" dirty="0">
                <a:latin typeface="Times New Roman"/>
                <a:cs typeface="Times New Roman"/>
              </a:rPr>
              <a:t>to</a:t>
            </a:r>
            <a:r>
              <a:rPr sz="950" b="1" spc="-20" dirty="0">
                <a:latin typeface="Times New Roman"/>
                <a:cs typeface="Times New Roman"/>
              </a:rPr>
              <a:t> </a:t>
            </a:r>
            <a:r>
              <a:rPr sz="950" b="1" dirty="0">
                <a:latin typeface="Times New Roman"/>
                <a:cs typeface="Times New Roman"/>
              </a:rPr>
              <a:t>JNTUA</a:t>
            </a:r>
            <a:r>
              <a:rPr sz="950" b="1" spc="-20" dirty="0">
                <a:latin typeface="Times New Roman"/>
                <a:cs typeface="Times New Roman"/>
              </a:rPr>
              <a:t> </a:t>
            </a:r>
            <a:r>
              <a:rPr sz="950" b="1" dirty="0">
                <a:latin typeface="Times New Roman"/>
                <a:cs typeface="Times New Roman"/>
              </a:rPr>
              <a:t>&amp;</a:t>
            </a:r>
            <a:r>
              <a:rPr sz="950" b="1" spc="-20" dirty="0">
                <a:latin typeface="Times New Roman"/>
                <a:cs typeface="Times New Roman"/>
              </a:rPr>
              <a:t> </a:t>
            </a:r>
            <a:r>
              <a:rPr sz="950" b="1" spc="-10" dirty="0">
                <a:latin typeface="Times New Roman"/>
                <a:cs typeface="Times New Roman"/>
              </a:rPr>
              <a:t>Approved</a:t>
            </a:r>
            <a:r>
              <a:rPr sz="950" b="1" spc="-20" dirty="0">
                <a:latin typeface="Times New Roman"/>
                <a:cs typeface="Times New Roman"/>
              </a:rPr>
              <a:t> </a:t>
            </a:r>
            <a:r>
              <a:rPr sz="950" b="1" dirty="0">
                <a:latin typeface="Times New Roman"/>
                <a:cs typeface="Times New Roman"/>
              </a:rPr>
              <a:t>by</a:t>
            </a:r>
            <a:r>
              <a:rPr sz="950" b="1" spc="-25" dirty="0">
                <a:latin typeface="Times New Roman"/>
                <a:cs typeface="Times New Roman"/>
              </a:rPr>
              <a:t> </a:t>
            </a:r>
            <a:r>
              <a:rPr sz="950" b="1" dirty="0">
                <a:latin typeface="Times New Roman"/>
                <a:cs typeface="Times New Roman"/>
              </a:rPr>
              <a:t>AICTE)</a:t>
            </a:r>
            <a:r>
              <a:rPr sz="950" b="1" spc="-20" dirty="0">
                <a:latin typeface="Times New Roman"/>
                <a:cs typeface="Times New Roman"/>
              </a:rPr>
              <a:t> </a:t>
            </a:r>
            <a:r>
              <a:rPr sz="950" b="1" spc="-10" dirty="0">
                <a:latin typeface="Times New Roman"/>
                <a:cs typeface="Times New Roman"/>
              </a:rPr>
              <a:t>(Accredited</a:t>
            </a:r>
            <a:r>
              <a:rPr sz="950" b="1" spc="-20" dirty="0">
                <a:latin typeface="Times New Roman"/>
                <a:cs typeface="Times New Roman"/>
              </a:rPr>
              <a:t> </a:t>
            </a:r>
            <a:r>
              <a:rPr sz="950" b="1" dirty="0">
                <a:latin typeface="Times New Roman"/>
                <a:cs typeface="Times New Roman"/>
              </a:rPr>
              <a:t>by</a:t>
            </a:r>
            <a:r>
              <a:rPr sz="950" b="1" spc="-20" dirty="0">
                <a:latin typeface="Times New Roman"/>
                <a:cs typeface="Times New Roman"/>
              </a:rPr>
              <a:t> </a:t>
            </a:r>
            <a:r>
              <a:rPr sz="950" b="1" dirty="0">
                <a:latin typeface="Times New Roman"/>
                <a:cs typeface="Times New Roman"/>
              </a:rPr>
              <a:t>NAAC</a:t>
            </a:r>
            <a:r>
              <a:rPr sz="950" b="1" spc="-20" dirty="0">
                <a:latin typeface="Times New Roman"/>
                <a:cs typeface="Times New Roman"/>
              </a:rPr>
              <a:t> </a:t>
            </a:r>
            <a:r>
              <a:rPr sz="950" b="1" dirty="0">
                <a:latin typeface="Times New Roman"/>
                <a:cs typeface="Times New Roman"/>
              </a:rPr>
              <a:t>with</a:t>
            </a:r>
            <a:r>
              <a:rPr sz="950" b="1" spc="-25" dirty="0">
                <a:latin typeface="Times New Roman"/>
                <a:cs typeface="Times New Roman"/>
              </a:rPr>
              <a:t> </a:t>
            </a:r>
            <a:r>
              <a:rPr sz="950" b="1" dirty="0">
                <a:latin typeface="Times New Roman"/>
                <a:cs typeface="Times New Roman"/>
              </a:rPr>
              <a:t>‘A’</a:t>
            </a:r>
            <a:r>
              <a:rPr sz="950" b="1" spc="-20" dirty="0">
                <a:latin typeface="Times New Roman"/>
                <a:cs typeface="Times New Roman"/>
              </a:rPr>
              <a:t> </a:t>
            </a:r>
            <a:r>
              <a:rPr sz="950" b="1" dirty="0">
                <a:latin typeface="Times New Roman"/>
                <a:cs typeface="Times New Roman"/>
              </a:rPr>
              <a:t>Grade</a:t>
            </a:r>
            <a:r>
              <a:rPr sz="950" b="1" spc="-20" dirty="0">
                <a:latin typeface="Times New Roman"/>
                <a:cs typeface="Times New Roman"/>
              </a:rPr>
              <a:t> </a:t>
            </a:r>
            <a:r>
              <a:rPr sz="950" b="1" dirty="0">
                <a:latin typeface="Times New Roman"/>
                <a:cs typeface="Times New Roman"/>
              </a:rPr>
              <a:t>&amp;</a:t>
            </a:r>
            <a:r>
              <a:rPr sz="950" b="1" spc="-20" dirty="0">
                <a:latin typeface="Times New Roman"/>
                <a:cs typeface="Times New Roman"/>
              </a:rPr>
              <a:t> </a:t>
            </a:r>
            <a:r>
              <a:rPr sz="950" b="1" spc="-10" dirty="0">
                <a:latin typeface="Times New Roman"/>
                <a:cs typeface="Times New Roman"/>
              </a:rPr>
              <a:t>Accredited</a:t>
            </a:r>
            <a:r>
              <a:rPr sz="950" b="1" spc="-20" dirty="0">
                <a:latin typeface="Times New Roman"/>
                <a:cs typeface="Times New Roman"/>
              </a:rPr>
              <a:t> </a:t>
            </a:r>
            <a:r>
              <a:rPr sz="950" b="1" dirty="0">
                <a:latin typeface="Times New Roman"/>
                <a:cs typeface="Times New Roman"/>
              </a:rPr>
              <a:t>by</a:t>
            </a:r>
            <a:r>
              <a:rPr sz="950" b="1" spc="-25" dirty="0">
                <a:latin typeface="Times New Roman"/>
                <a:cs typeface="Times New Roman"/>
              </a:rPr>
              <a:t> </a:t>
            </a:r>
            <a:r>
              <a:rPr sz="950" b="1" dirty="0">
                <a:latin typeface="Times New Roman"/>
                <a:cs typeface="Times New Roman"/>
              </a:rPr>
              <a:t>NBA</a:t>
            </a:r>
            <a:r>
              <a:rPr sz="950" b="1" spc="-20" dirty="0">
                <a:latin typeface="Times New Roman"/>
                <a:cs typeface="Times New Roman"/>
              </a:rPr>
              <a:t> </a:t>
            </a:r>
            <a:r>
              <a:rPr sz="950" b="1" dirty="0" smtClean="0">
                <a:latin typeface="Times New Roman"/>
                <a:cs typeface="Times New Roman"/>
              </a:rPr>
              <a:t>(</a:t>
            </a:r>
            <a:r>
              <a:rPr lang="en-US" sz="950" b="1" dirty="0" smtClean="0">
                <a:latin typeface="Times New Roman"/>
                <a:cs typeface="Times New Roman"/>
              </a:rPr>
              <a:t>CIV,</a:t>
            </a:r>
            <a:r>
              <a:rPr sz="950" b="1" dirty="0" smtClean="0">
                <a:latin typeface="Times New Roman"/>
                <a:cs typeface="Times New Roman"/>
              </a:rPr>
              <a:t>EEE,</a:t>
            </a:r>
            <a:r>
              <a:rPr lang="en-US" sz="950" b="1" dirty="0" smtClean="0">
                <a:latin typeface="Times New Roman"/>
                <a:cs typeface="Times New Roman"/>
              </a:rPr>
              <a:t>MEC,</a:t>
            </a:r>
            <a:r>
              <a:rPr sz="950" b="1" spc="-20" dirty="0" smtClean="0">
                <a:latin typeface="Times New Roman"/>
                <a:cs typeface="Times New Roman"/>
              </a:rPr>
              <a:t> </a:t>
            </a:r>
            <a:r>
              <a:rPr sz="950" b="1" dirty="0">
                <a:latin typeface="Times New Roman"/>
                <a:cs typeface="Times New Roman"/>
              </a:rPr>
              <a:t>ECE</a:t>
            </a:r>
            <a:r>
              <a:rPr sz="950" b="1" spc="-20" dirty="0">
                <a:latin typeface="Times New Roman"/>
                <a:cs typeface="Times New Roman"/>
              </a:rPr>
              <a:t> </a:t>
            </a:r>
            <a:r>
              <a:rPr sz="950" b="1" dirty="0">
                <a:latin typeface="Times New Roman"/>
                <a:cs typeface="Times New Roman"/>
              </a:rPr>
              <a:t>&amp;</a:t>
            </a:r>
            <a:r>
              <a:rPr sz="950" b="1" spc="-20" dirty="0">
                <a:latin typeface="Times New Roman"/>
                <a:cs typeface="Times New Roman"/>
              </a:rPr>
              <a:t> CSE)</a:t>
            </a:r>
            <a:endParaRPr sz="950" dirty="0">
              <a:latin typeface="Times New Roman"/>
              <a:cs typeface="Times New Roman"/>
            </a:endParaRPr>
          </a:p>
          <a:p>
            <a:pPr marL="5715" algn="ctr">
              <a:lnSpc>
                <a:spcPts val="1180"/>
              </a:lnSpc>
            </a:pPr>
            <a:r>
              <a:rPr sz="1000" b="1" dirty="0">
                <a:latin typeface="Times New Roman"/>
                <a:cs typeface="Times New Roman"/>
              </a:rPr>
              <a:t>Rotarypuram</a:t>
            </a:r>
            <a:r>
              <a:rPr sz="1000" b="1" spc="95" dirty="0">
                <a:latin typeface="Times New Roman"/>
                <a:cs typeface="Times New Roman"/>
              </a:rPr>
              <a:t> </a:t>
            </a:r>
            <a:r>
              <a:rPr sz="1000" b="1" dirty="0">
                <a:latin typeface="Times New Roman"/>
                <a:cs typeface="Times New Roman"/>
              </a:rPr>
              <a:t>Village,</a:t>
            </a:r>
            <a:r>
              <a:rPr sz="1000" b="1" spc="100" dirty="0">
                <a:latin typeface="Times New Roman"/>
                <a:cs typeface="Times New Roman"/>
              </a:rPr>
              <a:t> </a:t>
            </a:r>
            <a:r>
              <a:rPr sz="1000" b="1" dirty="0">
                <a:latin typeface="Times New Roman"/>
                <a:cs typeface="Times New Roman"/>
              </a:rPr>
              <a:t>B</a:t>
            </a:r>
            <a:r>
              <a:rPr sz="1000" b="1" spc="95" dirty="0">
                <a:latin typeface="Times New Roman"/>
                <a:cs typeface="Times New Roman"/>
              </a:rPr>
              <a:t> </a:t>
            </a:r>
            <a:r>
              <a:rPr sz="1000" b="1" dirty="0">
                <a:latin typeface="Times New Roman"/>
                <a:cs typeface="Times New Roman"/>
              </a:rPr>
              <a:t>K</a:t>
            </a:r>
            <a:r>
              <a:rPr sz="1000" b="1" spc="100" dirty="0">
                <a:latin typeface="Times New Roman"/>
                <a:cs typeface="Times New Roman"/>
              </a:rPr>
              <a:t> </a:t>
            </a:r>
            <a:r>
              <a:rPr sz="1000" b="1" dirty="0">
                <a:latin typeface="Times New Roman"/>
                <a:cs typeface="Times New Roman"/>
              </a:rPr>
              <a:t>Samudram</a:t>
            </a:r>
            <a:r>
              <a:rPr sz="1000" b="1" spc="100" dirty="0">
                <a:latin typeface="Times New Roman"/>
                <a:cs typeface="Times New Roman"/>
              </a:rPr>
              <a:t> </a:t>
            </a:r>
            <a:r>
              <a:rPr sz="1000" b="1" dirty="0">
                <a:latin typeface="Times New Roman"/>
                <a:cs typeface="Times New Roman"/>
              </a:rPr>
              <a:t>Mandal,</a:t>
            </a:r>
            <a:r>
              <a:rPr sz="1000" b="1" spc="95" dirty="0">
                <a:latin typeface="Times New Roman"/>
                <a:cs typeface="Times New Roman"/>
              </a:rPr>
              <a:t> </a:t>
            </a:r>
            <a:r>
              <a:rPr sz="1000" b="1" dirty="0">
                <a:latin typeface="Times New Roman"/>
                <a:cs typeface="Times New Roman"/>
              </a:rPr>
              <a:t>Ananthapuramu</a:t>
            </a:r>
            <a:r>
              <a:rPr sz="1000" b="1" spc="100" dirty="0">
                <a:latin typeface="Times New Roman"/>
                <a:cs typeface="Times New Roman"/>
              </a:rPr>
              <a:t> </a:t>
            </a:r>
            <a:r>
              <a:rPr sz="1000" b="1" dirty="0">
                <a:latin typeface="Times New Roman"/>
                <a:cs typeface="Times New Roman"/>
              </a:rPr>
              <a:t>–</a:t>
            </a:r>
            <a:r>
              <a:rPr sz="1000" b="1" spc="95" dirty="0">
                <a:latin typeface="Times New Roman"/>
                <a:cs typeface="Times New Roman"/>
              </a:rPr>
              <a:t> </a:t>
            </a:r>
            <a:r>
              <a:rPr sz="1000" b="1" spc="-10" dirty="0">
                <a:latin typeface="Times New Roman"/>
                <a:cs typeface="Times New Roman"/>
              </a:rPr>
              <a:t>515701.</a:t>
            </a:r>
            <a:endParaRPr sz="1000" dirty="0">
              <a:latin typeface="Times New Roman"/>
              <a:cs typeface="Times New Roman"/>
            </a:endParaRPr>
          </a:p>
          <a:p>
            <a:pPr marL="5080" algn="ctr">
              <a:lnSpc>
                <a:spcPct val="100000"/>
              </a:lnSpc>
              <a:spcBef>
                <a:spcPts val="630"/>
              </a:spcBef>
            </a:pPr>
            <a:r>
              <a:rPr sz="1100" b="1" dirty="0">
                <a:solidFill>
                  <a:srgbClr val="1E4E78"/>
                </a:solidFill>
                <a:latin typeface="Times New Roman"/>
                <a:cs typeface="Times New Roman"/>
              </a:rPr>
              <a:t>202</a:t>
            </a:r>
            <a:r>
              <a:rPr lang="en-IN" sz="1100" b="1" dirty="0">
                <a:solidFill>
                  <a:srgbClr val="1E4E78"/>
                </a:solidFill>
                <a:latin typeface="Times New Roman"/>
                <a:cs typeface="Times New Roman"/>
              </a:rPr>
              <a:t>5</a:t>
            </a:r>
            <a:r>
              <a:rPr sz="1100" b="1" spc="30" dirty="0">
                <a:solidFill>
                  <a:srgbClr val="1E4E78"/>
                </a:solidFill>
                <a:latin typeface="Times New Roman"/>
                <a:cs typeface="Times New Roman"/>
              </a:rPr>
              <a:t> </a:t>
            </a:r>
            <a:r>
              <a:rPr sz="1100" b="1" dirty="0">
                <a:solidFill>
                  <a:srgbClr val="1E4E78"/>
                </a:solidFill>
                <a:latin typeface="Times New Roman"/>
                <a:cs typeface="Times New Roman"/>
              </a:rPr>
              <a:t>-</a:t>
            </a:r>
            <a:r>
              <a:rPr sz="1100" b="1" spc="30" dirty="0">
                <a:solidFill>
                  <a:srgbClr val="1E4E78"/>
                </a:solidFill>
                <a:latin typeface="Times New Roman"/>
                <a:cs typeface="Times New Roman"/>
              </a:rPr>
              <a:t> </a:t>
            </a:r>
            <a:r>
              <a:rPr sz="1100" b="1" spc="-20" dirty="0">
                <a:solidFill>
                  <a:srgbClr val="1E4E78"/>
                </a:solidFill>
                <a:latin typeface="Times New Roman"/>
                <a:cs typeface="Times New Roman"/>
              </a:rPr>
              <a:t>202</a:t>
            </a:r>
            <a:r>
              <a:rPr lang="en-IN" sz="1100" b="1" spc="-20" dirty="0">
                <a:solidFill>
                  <a:srgbClr val="1E4E78"/>
                </a:solidFill>
                <a:latin typeface="Times New Roman"/>
                <a:cs typeface="Times New Roman"/>
              </a:rPr>
              <a:t>6</a:t>
            </a:r>
            <a:endParaRPr sz="1100" dirty="0">
              <a:latin typeface="Times New Roman"/>
              <a:cs typeface="Times New Roman"/>
            </a:endParaRPr>
          </a:p>
        </p:txBody>
      </p:sp>
      <p:sp>
        <p:nvSpPr>
          <p:cNvPr id="12" name="object 12"/>
          <p:cNvSpPr txBox="1"/>
          <p:nvPr/>
        </p:nvSpPr>
        <p:spPr>
          <a:xfrm>
            <a:off x="3131191" y="1663046"/>
            <a:ext cx="2211174" cy="598241"/>
          </a:xfrm>
          <a:prstGeom prst="rect">
            <a:avLst/>
          </a:prstGeom>
        </p:spPr>
        <p:txBody>
          <a:bodyPr vert="horz" wrap="square" lIns="0" tIns="13335" rIns="0" bIns="0" rtlCol="0" anchor="t">
            <a:spAutoFit/>
          </a:bodyPr>
          <a:lstStyle/>
          <a:p>
            <a:pPr algn="ctr">
              <a:lnSpc>
                <a:spcPct val="100000"/>
              </a:lnSpc>
              <a:spcBef>
                <a:spcPts val="105"/>
              </a:spcBef>
            </a:pPr>
            <a:r>
              <a:rPr lang="en-IN" sz="2400" dirty="0">
                <a:latin typeface="Times New Roman"/>
                <a:cs typeface="Times New Roman"/>
              </a:rPr>
              <a:t>P. Poojitha</a:t>
            </a:r>
            <a:endParaRPr sz="2400" dirty="0">
              <a:latin typeface="Times New Roman"/>
              <a:cs typeface="Times New Roman"/>
            </a:endParaRPr>
          </a:p>
          <a:p>
            <a:pPr marL="1905" algn="ctr">
              <a:lnSpc>
                <a:spcPct val="100000"/>
              </a:lnSpc>
              <a:spcBef>
                <a:spcPts val="35"/>
              </a:spcBef>
            </a:pPr>
            <a:r>
              <a:rPr sz="1400" dirty="0">
                <a:latin typeface="Times New Roman"/>
                <a:cs typeface="Times New Roman"/>
              </a:rPr>
              <a:t>Roll No. </a:t>
            </a:r>
            <a:r>
              <a:rPr sz="1400" spc="-10" dirty="0">
                <a:latin typeface="Times New Roman"/>
                <a:cs typeface="Times New Roman"/>
              </a:rPr>
              <a:t>2</a:t>
            </a:r>
            <a:r>
              <a:rPr lang="en-IN" sz="1400" spc="-10" dirty="0">
                <a:latin typeface="Times New Roman"/>
                <a:cs typeface="Times New Roman"/>
              </a:rPr>
              <a:t>24G1A3371</a:t>
            </a:r>
            <a:endParaRPr sz="1400" dirty="0">
              <a:latin typeface="Times New Roman"/>
              <a:cs typeface="Times New Roman"/>
            </a:endParaRPr>
          </a:p>
        </p:txBody>
      </p:sp>
      <p:sp>
        <p:nvSpPr>
          <p:cNvPr id="13" name="object 13"/>
          <p:cNvSpPr txBox="1"/>
          <p:nvPr/>
        </p:nvSpPr>
        <p:spPr>
          <a:xfrm>
            <a:off x="8686799" y="1665723"/>
            <a:ext cx="2326417" cy="611065"/>
          </a:xfrm>
          <a:prstGeom prst="rect">
            <a:avLst/>
          </a:prstGeom>
        </p:spPr>
        <p:txBody>
          <a:bodyPr vert="horz" wrap="square" lIns="0" tIns="13335" rIns="0" bIns="0" rtlCol="0" anchor="t">
            <a:spAutoFit/>
          </a:bodyPr>
          <a:lstStyle/>
          <a:p>
            <a:pPr algn="ctr">
              <a:spcBef>
                <a:spcPts val="105"/>
              </a:spcBef>
            </a:pPr>
            <a:r>
              <a:rPr lang="en-IN" sz="2400" spc="-30" dirty="0">
                <a:latin typeface="Times New Roman"/>
                <a:cs typeface="Times New Roman"/>
              </a:rPr>
              <a:t> M. </a:t>
            </a:r>
            <a:r>
              <a:rPr lang="en-IN" sz="2400" spc="-30" dirty="0" err="1">
                <a:latin typeface="Times New Roman"/>
                <a:cs typeface="Times New Roman"/>
              </a:rPr>
              <a:t>Saipriya</a:t>
            </a:r>
            <a:endParaRPr lang="en-IN" sz="1100" spc="-10" dirty="0">
              <a:latin typeface="Times New Roman"/>
              <a:cs typeface="Times New Roman"/>
            </a:endParaRPr>
          </a:p>
          <a:p>
            <a:pPr algn="ctr">
              <a:spcBef>
                <a:spcPts val="105"/>
              </a:spcBef>
            </a:pPr>
            <a:r>
              <a:rPr sz="1400" dirty="0">
                <a:latin typeface="Times New Roman"/>
                <a:cs typeface="Times New Roman"/>
              </a:rPr>
              <a:t>Roll No. </a:t>
            </a:r>
            <a:r>
              <a:rPr lang="en-US" sz="1400" spc="-10" dirty="0">
                <a:latin typeface="Times New Roman"/>
                <a:cs typeface="Times New Roman"/>
              </a:rPr>
              <a:t>224G1A3390</a:t>
            </a:r>
            <a:endParaRPr lang="en-IN" sz="1400" spc="-10" dirty="0">
              <a:latin typeface="Times New Roman"/>
              <a:cs typeface="Times New Roman"/>
            </a:endParaRPr>
          </a:p>
        </p:txBody>
      </p:sp>
      <p:sp>
        <p:nvSpPr>
          <p:cNvPr id="14" name="object 14"/>
          <p:cNvSpPr txBox="1"/>
          <p:nvPr/>
        </p:nvSpPr>
        <p:spPr>
          <a:xfrm>
            <a:off x="697859" y="1672134"/>
            <a:ext cx="2345821" cy="598241"/>
          </a:xfrm>
          <a:prstGeom prst="rect">
            <a:avLst/>
          </a:prstGeom>
        </p:spPr>
        <p:txBody>
          <a:bodyPr vert="horz" wrap="square" lIns="0" tIns="13335" rIns="0" bIns="0" rtlCol="0" anchor="t">
            <a:spAutoFit/>
          </a:bodyPr>
          <a:lstStyle/>
          <a:p>
            <a:pPr algn="ctr">
              <a:lnSpc>
                <a:spcPct val="100000"/>
              </a:lnSpc>
              <a:spcBef>
                <a:spcPts val="105"/>
              </a:spcBef>
            </a:pPr>
            <a:r>
              <a:rPr lang="en-IN" sz="2400" spc="-50" dirty="0">
                <a:latin typeface="Times New Roman"/>
                <a:cs typeface="Times New Roman"/>
              </a:rPr>
              <a:t>D. </a:t>
            </a:r>
            <a:r>
              <a:rPr lang="en-IN" sz="2400" spc="-50" dirty="0" err="1">
                <a:latin typeface="Times New Roman"/>
                <a:cs typeface="Times New Roman"/>
              </a:rPr>
              <a:t>Prashanth</a:t>
            </a:r>
            <a:endParaRPr sz="2400" dirty="0">
              <a:latin typeface="Times New Roman"/>
              <a:cs typeface="Times New Roman"/>
            </a:endParaRPr>
          </a:p>
          <a:p>
            <a:pPr marL="1905" algn="ctr">
              <a:lnSpc>
                <a:spcPct val="100000"/>
              </a:lnSpc>
              <a:spcBef>
                <a:spcPts val="35"/>
              </a:spcBef>
            </a:pPr>
            <a:r>
              <a:rPr sz="1400" dirty="0">
                <a:latin typeface="Times New Roman"/>
                <a:cs typeface="Times New Roman"/>
              </a:rPr>
              <a:t>Roll No. </a:t>
            </a:r>
            <a:r>
              <a:rPr sz="1400" spc="-10" dirty="0">
                <a:latin typeface="Times New Roman"/>
                <a:cs typeface="Times New Roman"/>
              </a:rPr>
              <a:t>2</a:t>
            </a:r>
            <a:r>
              <a:rPr lang="en-IN" sz="1400" spc="-10" dirty="0">
                <a:latin typeface="Times New Roman"/>
                <a:cs typeface="Times New Roman"/>
              </a:rPr>
              <a:t>24G1A3374</a:t>
            </a:r>
            <a:endParaRPr sz="1400" dirty="0">
              <a:latin typeface="Times New Roman"/>
              <a:cs typeface="Times New Roman"/>
            </a:endParaRPr>
          </a:p>
        </p:txBody>
      </p:sp>
      <p:grpSp>
        <p:nvGrpSpPr>
          <p:cNvPr id="15" name="object 15"/>
          <p:cNvGrpSpPr/>
          <p:nvPr/>
        </p:nvGrpSpPr>
        <p:grpSpPr>
          <a:xfrm>
            <a:off x="697859" y="340245"/>
            <a:ext cx="10642600" cy="972185"/>
            <a:chOff x="697859" y="297171"/>
            <a:chExt cx="10642600" cy="972185"/>
          </a:xfrm>
        </p:grpSpPr>
        <p:pic>
          <p:nvPicPr>
            <p:cNvPr id="16" name="object 16"/>
            <p:cNvPicPr/>
            <p:nvPr/>
          </p:nvPicPr>
          <p:blipFill>
            <a:blip r:embed="rId3" cstate="print"/>
            <a:stretch>
              <a:fillRect/>
            </a:stretch>
          </p:blipFill>
          <p:spPr>
            <a:xfrm>
              <a:off x="697859" y="297171"/>
              <a:ext cx="10642482" cy="972164"/>
            </a:xfrm>
            <a:prstGeom prst="rect">
              <a:avLst/>
            </a:prstGeom>
          </p:spPr>
        </p:pic>
        <p:sp>
          <p:nvSpPr>
            <p:cNvPr id="17" name="object 17"/>
            <p:cNvSpPr/>
            <p:nvPr/>
          </p:nvSpPr>
          <p:spPr>
            <a:xfrm>
              <a:off x="755008" y="335270"/>
              <a:ext cx="10528300" cy="857885"/>
            </a:xfrm>
            <a:custGeom>
              <a:avLst/>
              <a:gdLst/>
              <a:ahLst/>
              <a:cxnLst/>
              <a:rect l="l" t="t" r="r" b="b"/>
              <a:pathLst>
                <a:path w="10528300" h="857885">
                  <a:moveTo>
                    <a:pt x="10385202" y="857863"/>
                  </a:moveTo>
                  <a:lnTo>
                    <a:pt x="142980" y="857863"/>
                  </a:lnTo>
                  <a:lnTo>
                    <a:pt x="97787" y="850574"/>
                  </a:lnTo>
                  <a:lnTo>
                    <a:pt x="58537" y="830277"/>
                  </a:lnTo>
                  <a:lnTo>
                    <a:pt x="27586" y="799326"/>
                  </a:lnTo>
                  <a:lnTo>
                    <a:pt x="7289" y="760076"/>
                  </a:lnTo>
                  <a:lnTo>
                    <a:pt x="0" y="714883"/>
                  </a:lnTo>
                  <a:lnTo>
                    <a:pt x="0" y="142980"/>
                  </a:lnTo>
                  <a:lnTo>
                    <a:pt x="7289" y="97787"/>
                  </a:lnTo>
                  <a:lnTo>
                    <a:pt x="27586" y="58537"/>
                  </a:lnTo>
                  <a:lnTo>
                    <a:pt x="58537" y="27586"/>
                  </a:lnTo>
                  <a:lnTo>
                    <a:pt x="97787" y="7289"/>
                  </a:lnTo>
                  <a:lnTo>
                    <a:pt x="142980" y="0"/>
                  </a:lnTo>
                  <a:lnTo>
                    <a:pt x="10385202" y="0"/>
                  </a:lnTo>
                  <a:lnTo>
                    <a:pt x="10439918" y="10883"/>
                  </a:lnTo>
                  <a:lnTo>
                    <a:pt x="10486304" y="41877"/>
                  </a:lnTo>
                  <a:lnTo>
                    <a:pt x="10517299" y="88264"/>
                  </a:lnTo>
                  <a:lnTo>
                    <a:pt x="10528183" y="142980"/>
                  </a:lnTo>
                  <a:lnTo>
                    <a:pt x="10528183" y="714883"/>
                  </a:lnTo>
                  <a:lnTo>
                    <a:pt x="10520894" y="760076"/>
                  </a:lnTo>
                  <a:lnTo>
                    <a:pt x="10500596" y="799326"/>
                  </a:lnTo>
                  <a:lnTo>
                    <a:pt x="10469645" y="830277"/>
                  </a:lnTo>
                  <a:lnTo>
                    <a:pt x="10430395" y="850574"/>
                  </a:lnTo>
                  <a:lnTo>
                    <a:pt x="10385202" y="857863"/>
                  </a:lnTo>
                  <a:close/>
                </a:path>
              </a:pathLst>
            </a:custGeom>
            <a:solidFill>
              <a:srgbClr val="FF6600"/>
            </a:solidFill>
          </p:spPr>
          <p:txBody>
            <a:bodyPr wrap="square" lIns="0" tIns="0" rIns="0" bIns="0" rtlCol="0"/>
            <a:lstStyle/>
            <a:p>
              <a:endParaRPr dirty="0"/>
            </a:p>
          </p:txBody>
        </p:sp>
      </p:grpSp>
      <p:sp>
        <p:nvSpPr>
          <p:cNvPr id="18" name="object 18"/>
          <p:cNvSpPr txBox="1">
            <a:spLocks noGrp="1"/>
          </p:cNvSpPr>
          <p:nvPr>
            <p:ph type="title"/>
          </p:nvPr>
        </p:nvSpPr>
        <p:spPr>
          <a:xfrm>
            <a:off x="1291835" y="443510"/>
            <a:ext cx="9525000" cy="751488"/>
          </a:xfrm>
          <a:prstGeom prst="rect">
            <a:avLst/>
          </a:prstGeom>
        </p:spPr>
        <p:txBody>
          <a:bodyPr vert="horz" wrap="square" lIns="0" tIns="12700" rIns="0" bIns="0" rtlCol="0" anchor="t">
            <a:spAutoFit/>
          </a:bodyPr>
          <a:lstStyle/>
          <a:p>
            <a:pPr marL="12700" algn="ctr">
              <a:spcBef>
                <a:spcPts val="100"/>
              </a:spcBef>
            </a:pPr>
            <a:r>
              <a:rPr lang="en-US" sz="2400" dirty="0" smtClean="0"/>
              <a:t>A </a:t>
            </a:r>
            <a:r>
              <a:rPr lang="en-US" sz="2400" dirty="0" err="1" smtClean="0"/>
              <a:t>Blockchain</a:t>
            </a:r>
            <a:r>
              <a:rPr lang="en-US" sz="2400" dirty="0" smtClean="0"/>
              <a:t>-Integrated Hybrid Cryptographic Framework For Secure and Tamper-Resistant Digital Forensic Evidence Storage System</a:t>
            </a:r>
            <a:endParaRPr lang="en-IN" sz="2400" dirty="0"/>
          </a:p>
        </p:txBody>
      </p:sp>
      <p:sp>
        <p:nvSpPr>
          <p:cNvPr id="19" name="object 19"/>
          <p:cNvSpPr txBox="1"/>
          <p:nvPr/>
        </p:nvSpPr>
        <p:spPr>
          <a:xfrm>
            <a:off x="5665003" y="1382506"/>
            <a:ext cx="217170" cy="269240"/>
          </a:xfrm>
          <a:prstGeom prst="rect">
            <a:avLst/>
          </a:prstGeom>
        </p:spPr>
        <p:txBody>
          <a:bodyPr vert="horz" wrap="square" lIns="0" tIns="12700" rIns="0" bIns="0" rtlCol="0">
            <a:spAutoFit/>
          </a:bodyPr>
          <a:lstStyle/>
          <a:p>
            <a:pPr marL="12700">
              <a:lnSpc>
                <a:spcPct val="100000"/>
              </a:lnSpc>
              <a:spcBef>
                <a:spcPts val="100"/>
              </a:spcBef>
            </a:pPr>
            <a:r>
              <a:rPr sz="1600" i="1" spc="-25" dirty="0">
                <a:latin typeface="Times New Roman"/>
                <a:cs typeface="Times New Roman"/>
              </a:rPr>
              <a:t>by</a:t>
            </a:r>
            <a:endParaRPr sz="1600" dirty="0">
              <a:latin typeface="Times New Roman"/>
              <a:cs typeface="Times New Roman"/>
            </a:endParaRPr>
          </a:p>
        </p:txBody>
      </p:sp>
      <p:pic>
        <p:nvPicPr>
          <p:cNvPr id="20" name="object 20"/>
          <p:cNvPicPr/>
          <p:nvPr/>
        </p:nvPicPr>
        <p:blipFill>
          <a:blip r:embed="rId4" cstate="print"/>
          <a:stretch>
            <a:fillRect/>
          </a:stretch>
        </p:blipFill>
        <p:spPr>
          <a:xfrm>
            <a:off x="5052647" y="3370269"/>
            <a:ext cx="1659050" cy="1578160"/>
          </a:xfrm>
          <a:prstGeom prst="rect">
            <a:avLst/>
          </a:prstGeom>
        </p:spPr>
      </p:pic>
      <p:sp>
        <p:nvSpPr>
          <p:cNvPr id="27" name="TextBox 26">
            <a:extLst>
              <a:ext uri="{FF2B5EF4-FFF2-40B4-BE49-F238E27FC236}">
                <a16:creationId xmlns:a16="http://schemas.microsoft.com/office/drawing/2014/main" xmlns="" id="{359CF6B6-5F8C-ABC8-2607-C8A5865035DA}"/>
              </a:ext>
            </a:extLst>
          </p:cNvPr>
          <p:cNvSpPr txBox="1"/>
          <p:nvPr/>
        </p:nvSpPr>
        <p:spPr>
          <a:xfrm>
            <a:off x="6668924" y="6587523"/>
            <a:ext cx="4931113" cy="323165"/>
          </a:xfrm>
          <a:prstGeom prst="rect">
            <a:avLst/>
          </a:prstGeom>
          <a:noFill/>
        </p:spPr>
        <p:txBody>
          <a:bodyPr wrap="square">
            <a:spAutoFit/>
          </a:bodyPr>
          <a:lstStyle/>
          <a:p>
            <a:pPr marL="12700">
              <a:lnSpc>
                <a:spcPts val="1845"/>
              </a:lnSpc>
            </a:pPr>
            <a:r>
              <a:rPr lang="en-US" sz="1600" cap="small" spc="-105" dirty="0">
                <a:solidFill>
                  <a:srgbClr val="FFFFFF"/>
                </a:solidFill>
                <a:latin typeface="Times New Roman"/>
                <a:cs typeface="Times New Roman"/>
              </a:rPr>
              <a:t>    Srinivasa</a:t>
            </a:r>
            <a:r>
              <a:rPr lang="en-US" sz="1600" cap="small" spc="70" dirty="0">
                <a:solidFill>
                  <a:srgbClr val="FFFFFF"/>
                </a:solidFill>
                <a:latin typeface="Times New Roman"/>
                <a:cs typeface="Times New Roman"/>
              </a:rPr>
              <a:t> </a:t>
            </a:r>
            <a:r>
              <a:rPr lang="en-US" sz="1600" cap="small" spc="-120" dirty="0">
                <a:solidFill>
                  <a:srgbClr val="FFFFFF"/>
                </a:solidFill>
                <a:latin typeface="Times New Roman"/>
                <a:cs typeface="Times New Roman"/>
              </a:rPr>
              <a:t>Ramanujan</a:t>
            </a:r>
            <a:r>
              <a:rPr lang="en-US" sz="1600" cap="small" spc="75" dirty="0">
                <a:solidFill>
                  <a:srgbClr val="FFFFFF"/>
                </a:solidFill>
                <a:latin typeface="Times New Roman"/>
                <a:cs typeface="Times New Roman"/>
              </a:rPr>
              <a:t> </a:t>
            </a:r>
            <a:r>
              <a:rPr lang="en-US" sz="1600" cap="small" spc="-110" dirty="0">
                <a:solidFill>
                  <a:srgbClr val="FFFFFF"/>
                </a:solidFill>
                <a:latin typeface="Times New Roman"/>
                <a:cs typeface="Times New Roman"/>
              </a:rPr>
              <a:t>Institute</a:t>
            </a:r>
            <a:r>
              <a:rPr lang="en-US" sz="1600" cap="small" spc="75" dirty="0">
                <a:solidFill>
                  <a:srgbClr val="FFFFFF"/>
                </a:solidFill>
                <a:latin typeface="Times New Roman"/>
                <a:cs typeface="Times New Roman"/>
              </a:rPr>
              <a:t> </a:t>
            </a:r>
            <a:r>
              <a:rPr lang="en-US" sz="1600" cap="small" spc="-100" dirty="0">
                <a:solidFill>
                  <a:srgbClr val="FFFFFF"/>
                </a:solidFill>
                <a:latin typeface="Times New Roman"/>
                <a:cs typeface="Times New Roman"/>
              </a:rPr>
              <a:t>of</a:t>
            </a:r>
            <a:r>
              <a:rPr lang="en-US" sz="1600" cap="small" spc="75" dirty="0">
                <a:solidFill>
                  <a:srgbClr val="FFFFFF"/>
                </a:solidFill>
                <a:latin typeface="Times New Roman"/>
                <a:cs typeface="Times New Roman"/>
              </a:rPr>
              <a:t> </a:t>
            </a:r>
            <a:r>
              <a:rPr lang="en-US" sz="1600" cap="small" spc="-140" dirty="0">
                <a:solidFill>
                  <a:srgbClr val="FFFFFF"/>
                </a:solidFill>
                <a:latin typeface="Times New Roman"/>
                <a:cs typeface="Times New Roman"/>
              </a:rPr>
              <a:t>Technology</a:t>
            </a:r>
            <a:endParaRPr lang="en-US" sz="1600" dirty="0">
              <a:latin typeface="Times New Roman"/>
              <a:cs typeface="Times New Roman"/>
            </a:endParaRPr>
          </a:p>
        </p:txBody>
      </p:sp>
      <p:sp>
        <p:nvSpPr>
          <p:cNvPr id="21" name="object 12">
            <a:extLst>
              <a:ext uri="{FF2B5EF4-FFF2-40B4-BE49-F238E27FC236}">
                <a16:creationId xmlns:a16="http://schemas.microsoft.com/office/drawing/2014/main" xmlns="" id="{15A9E691-713E-A339-E7FB-17342247BA5D}"/>
              </a:ext>
            </a:extLst>
          </p:cNvPr>
          <p:cNvSpPr txBox="1">
            <a:spLocks noGrp="1"/>
          </p:cNvSpPr>
          <p:nvPr>
            <p:ph type="sldNum" sz="quarter" idx="7"/>
          </p:nvPr>
        </p:nvSpPr>
        <p:spPr>
          <a:xfrm>
            <a:off x="11858823" y="6675966"/>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1</a:t>
            </a:fld>
            <a:endParaRPr spc="-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14744" y="293973"/>
            <a:ext cx="3820616"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Abstract</a:t>
            </a:r>
            <a:endParaRPr spc="-10" dirty="0"/>
          </a:p>
        </p:txBody>
      </p:sp>
      <p:sp>
        <p:nvSpPr>
          <p:cNvPr id="9" name="object 9"/>
          <p:cNvSpPr txBox="1">
            <a:spLocks noGrp="1"/>
          </p:cNvSpPr>
          <p:nvPr>
            <p:ph type="dt" sz="half" idx="6"/>
          </p:nvPr>
        </p:nvSpPr>
        <p:spPr>
          <a:xfrm>
            <a:off x="1074848" y="6625241"/>
            <a:ext cx="6306202"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0" name="object 10"/>
          <p:cNvSpPr txBox="1"/>
          <p:nvPr/>
        </p:nvSpPr>
        <p:spPr>
          <a:xfrm>
            <a:off x="6682329" y="6651444"/>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p:nvPr/>
        </p:nvSpPr>
        <p:spPr>
          <a:xfrm>
            <a:off x="11909611" y="6629309"/>
            <a:ext cx="127000" cy="230832"/>
          </a:xfrm>
          <a:prstGeom prst="rect">
            <a:avLst/>
          </a:prstGeom>
        </p:spPr>
        <p:txBody>
          <a:bodyPr vert="horz" wrap="square" lIns="0" tIns="0" rIns="0" bIns="0" rtlCol="0">
            <a:spAutoFit/>
          </a:bodyPr>
          <a:lstStyle/>
          <a:p>
            <a:pPr marL="12700">
              <a:lnSpc>
                <a:spcPts val="1845"/>
              </a:lnSpc>
            </a:pPr>
            <a:r>
              <a:rPr lang="en-IN" sz="1600" b="1" spc="-50" dirty="0">
                <a:solidFill>
                  <a:srgbClr val="002060"/>
                </a:solidFill>
                <a:latin typeface="Times New Roman"/>
                <a:cs typeface="Times New Roman"/>
              </a:rPr>
              <a:t>2</a:t>
            </a:r>
            <a:endParaRPr sz="1600" dirty="0">
              <a:latin typeface="Times New Roman"/>
              <a:cs typeface="Times New Roman"/>
            </a:endParaRPr>
          </a:p>
        </p:txBody>
      </p:sp>
      <p:sp>
        <p:nvSpPr>
          <p:cNvPr id="7" name="object 7"/>
          <p:cNvSpPr txBox="1"/>
          <p:nvPr/>
        </p:nvSpPr>
        <p:spPr>
          <a:xfrm>
            <a:off x="561634" y="1059615"/>
            <a:ext cx="10951748" cy="5565626"/>
          </a:xfrm>
          <a:prstGeom prst="rect">
            <a:avLst/>
          </a:prstGeom>
        </p:spPr>
        <p:txBody>
          <a:bodyPr vert="horz" wrap="square" lIns="0" tIns="12700" rIns="0" bIns="0" rtlCol="0">
            <a:spAutoFit/>
          </a:bodyPr>
          <a:lstStyle/>
          <a:p>
            <a:pPr algn="just">
              <a:lnSpc>
                <a:spcPct val="150000"/>
              </a:lnSpc>
            </a:pPr>
            <a:r>
              <a:rPr lang="en-US" sz="2000" dirty="0" smtClean="0"/>
              <a:t>In the modern digital era, the rapid growth of cyber crimes has increased the importance of securely storing and managing digital forensic evidence. However, traditional systems often fail to provide adequate security, integrity, and access control, making sensitive data vulnerable to tampering and unauthorized access. This project proposes a Digital Forensic Evidence Storage System designed to address these challenges by ensuring secure and reliable handling of digital evidence.</a:t>
            </a:r>
            <a:endParaRPr lang="en-US" sz="2000" dirty="0">
              <a:latin typeface="Times New Roman" panose="02020603050405020304" pitchFamily="18" charset="0"/>
              <a:cs typeface="Times New Roman" panose="02020603050405020304" pitchFamily="18" charset="0"/>
            </a:endParaRPr>
          </a:p>
          <a:p>
            <a:pPr marL="12700" algn="just">
              <a:lnSpc>
                <a:spcPct val="150000"/>
              </a:lnSpc>
              <a:spcBef>
                <a:spcPts val="100"/>
              </a:spcBef>
              <a:tabLst>
                <a:tab pos="421005" algn="l"/>
              </a:tabLst>
            </a:pPr>
            <a:r>
              <a:rPr lang="en-US" sz="2000" dirty="0" smtClean="0"/>
              <a:t>The system implements advanced security mechanisms such as AES-256 encryption for data confidentiality and SHA-256 hashing for integrity verification. It also incorporates Multi-Factor Authentication (MFA), JWT-based authentication, and Role-Based Access Control (RBAC) to ensure secure user access. Additionally, </a:t>
            </a:r>
            <a:r>
              <a:rPr lang="en-US" sz="2000" dirty="0" err="1" smtClean="0"/>
              <a:t>blockchain</a:t>
            </a:r>
            <a:r>
              <a:rPr lang="en-US" sz="2000" dirty="0" smtClean="0"/>
              <a:t> technology is used to maintain a tamper-proof audit trail. Overall, the system provides a robust and efficient solution for secure digital evidence storage and management.</a:t>
            </a:r>
            <a:endParaRPr sz="2000" dirty="0">
              <a:latin typeface="Times New Roman"/>
              <a:cs typeface="Times New Roman"/>
            </a:endParaRPr>
          </a:p>
        </p:txBody>
      </p:sp>
      <p:sp>
        <p:nvSpPr>
          <p:cNvPr id="12" name="object 2">
            <a:extLst>
              <a:ext uri="{FF2B5EF4-FFF2-40B4-BE49-F238E27FC236}">
                <a16:creationId xmlns:a16="http://schemas.microsoft.com/office/drawing/2014/main" xmlns="" id="{FDA4E3D9-FF78-45E3-9BC4-8D72D4A74DD6}"/>
              </a:ext>
            </a:extLst>
          </p:cNvPr>
          <p:cNvSpPr txBox="1"/>
          <p:nvPr/>
        </p:nvSpPr>
        <p:spPr>
          <a:xfrm>
            <a:off x="3604387" y="-10897"/>
            <a:ext cx="4333674" cy="228268"/>
          </a:xfrm>
          <a:prstGeom prst="rect">
            <a:avLst/>
          </a:prstGeom>
        </p:spPr>
        <p:txBody>
          <a:bodyPr vert="horz" wrap="square" lIns="0" tIns="12700" rIns="0" bIns="0" rtlCol="0" anchor="t">
            <a:spAutoFit/>
          </a:bodyPr>
          <a:lstStyle/>
          <a:p>
            <a:pPr marL="12700" algn="ctr">
              <a:spcBef>
                <a:spcPts val="100"/>
              </a:spcBef>
            </a:pPr>
            <a:r>
              <a:rPr lang="en-US" sz="1400" dirty="0">
                <a:solidFill>
                  <a:schemeClr val="bg1"/>
                </a:solidFill>
              </a:rPr>
              <a:t>Secure Digital Forensic Evidence Storage System</a:t>
            </a:r>
            <a:endParaRPr lang="en-IN" sz="1500" b="1" spc="-10" dirty="0">
              <a:solidFill>
                <a:schemeClr val="bg1"/>
              </a:solidFill>
              <a:latin typeface="Times New Roman"/>
              <a:cs typeface="Times New Roman"/>
            </a:endParaRPr>
          </a:p>
        </p:txBody>
      </p:sp>
      <p:sp>
        <p:nvSpPr>
          <p:cNvPr id="16" name="TextBox 15">
            <a:extLst>
              <a:ext uri="{FF2B5EF4-FFF2-40B4-BE49-F238E27FC236}">
                <a16:creationId xmlns:a16="http://schemas.microsoft.com/office/drawing/2014/main" xmlns="" id="{23B7749F-2B78-62D7-ECE8-B0BE94DF57EE}"/>
              </a:ext>
            </a:extLst>
          </p:cNvPr>
          <p:cNvSpPr txBox="1"/>
          <p:nvPr/>
        </p:nvSpPr>
        <p:spPr>
          <a:xfrm>
            <a:off x="104600" y="6581123"/>
            <a:ext cx="914400" cy="338554"/>
          </a:xfrm>
          <a:prstGeom prst="rect">
            <a:avLst/>
          </a:prstGeom>
          <a:noFill/>
        </p:spPr>
        <p:txBody>
          <a:bodyPr wrap="square" rtlCol="0">
            <a:spAutoFit/>
          </a:bodyPr>
          <a:lstStyle/>
          <a:p>
            <a:r>
              <a:rPr lang="en-IN" sz="1600" dirty="0">
                <a:solidFill>
                  <a:schemeClr val="bg1"/>
                </a:solidFill>
                <a:latin typeface="Times New Roman" panose="02020603050405020304" pitchFamily="18" charset="0"/>
                <a:cs typeface="Times New Roman" panose="02020603050405020304" pitchFamily="18" charset="0"/>
              </a:rPr>
              <a:t>B-</a:t>
            </a:r>
            <a:r>
              <a:rPr lang="en-IN" sz="1600" dirty="0">
                <a:solidFill>
                  <a:schemeClr val="bg1"/>
                </a:solidFill>
              </a:rPr>
              <a:t>16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14744" y="293973"/>
            <a:ext cx="3820616" cy="689932"/>
          </a:xfrm>
          <a:prstGeom prst="rect">
            <a:avLst/>
          </a:prstGeom>
        </p:spPr>
        <p:txBody>
          <a:bodyPr vert="horz" wrap="square" lIns="0" tIns="12700" rIns="0" bIns="0" rtlCol="0">
            <a:spAutoFit/>
          </a:bodyPr>
          <a:lstStyle/>
          <a:p>
            <a:pPr marL="12700">
              <a:lnSpc>
                <a:spcPct val="100000"/>
              </a:lnSpc>
              <a:spcBef>
                <a:spcPts val="100"/>
              </a:spcBef>
            </a:pPr>
            <a:r>
              <a:rPr spc="-10" dirty="0"/>
              <a:t>Contents</a:t>
            </a:r>
          </a:p>
        </p:txBody>
      </p:sp>
      <p:sp>
        <p:nvSpPr>
          <p:cNvPr id="9" name="object 9"/>
          <p:cNvSpPr txBox="1">
            <a:spLocks noGrp="1"/>
          </p:cNvSpPr>
          <p:nvPr>
            <p:ph type="dt" sz="half" idx="6"/>
          </p:nvPr>
        </p:nvSpPr>
        <p:spPr>
          <a:xfrm>
            <a:off x="1074848" y="6625241"/>
            <a:ext cx="6306202"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0" name="object 10"/>
          <p:cNvSpPr txBox="1"/>
          <p:nvPr/>
        </p:nvSpPr>
        <p:spPr>
          <a:xfrm>
            <a:off x="6682329" y="6651444"/>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p:nvPr/>
        </p:nvSpPr>
        <p:spPr>
          <a:xfrm>
            <a:off x="11909611" y="6629309"/>
            <a:ext cx="127000" cy="230832"/>
          </a:xfrm>
          <a:prstGeom prst="rect">
            <a:avLst/>
          </a:prstGeom>
        </p:spPr>
        <p:txBody>
          <a:bodyPr vert="horz" wrap="square" lIns="0" tIns="0" rIns="0" bIns="0" rtlCol="0">
            <a:spAutoFit/>
          </a:bodyPr>
          <a:lstStyle/>
          <a:p>
            <a:pPr marL="12700">
              <a:lnSpc>
                <a:spcPts val="1845"/>
              </a:lnSpc>
            </a:pPr>
            <a:r>
              <a:rPr lang="en-IN" sz="1600" b="1" spc="-50" dirty="0">
                <a:solidFill>
                  <a:srgbClr val="002060"/>
                </a:solidFill>
                <a:latin typeface="Times New Roman"/>
                <a:cs typeface="Times New Roman"/>
              </a:rPr>
              <a:t>3</a:t>
            </a:r>
            <a:endParaRPr sz="1600" dirty="0">
              <a:latin typeface="Times New Roman"/>
              <a:cs typeface="Times New Roman"/>
            </a:endParaRPr>
          </a:p>
        </p:txBody>
      </p:sp>
      <p:sp>
        <p:nvSpPr>
          <p:cNvPr id="7" name="object 7"/>
          <p:cNvSpPr txBox="1"/>
          <p:nvPr/>
        </p:nvSpPr>
        <p:spPr>
          <a:xfrm>
            <a:off x="685800" y="1304451"/>
            <a:ext cx="8437148" cy="5534849"/>
          </a:xfrm>
          <a:prstGeom prst="rect">
            <a:avLst/>
          </a:prstGeom>
        </p:spPr>
        <p:txBody>
          <a:bodyPr vert="horz" wrap="square" lIns="0" tIns="12700" rIns="0" bIns="0" rtlCol="0">
            <a:spAutoFit/>
          </a:bodyPr>
          <a:lstStyle/>
          <a:p>
            <a:pPr algn="l"/>
            <a:r>
              <a:rPr lang="en-US" sz="2200" dirty="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Introduction</a:t>
            </a:r>
            <a:r>
              <a:rPr lang="en-US" sz="2200" dirty="0" smtClean="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p>
            <a:pPr algn="l"/>
            <a:r>
              <a:rPr lang="en-US" sz="2200" dirty="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Existing System</a:t>
            </a:r>
            <a:endParaRPr lang="en-US" sz="2200" dirty="0">
              <a:latin typeface="Times New Roman" panose="02020603050405020304" pitchFamily="18" charset="0"/>
              <a:cs typeface="Times New Roman" panose="02020603050405020304" pitchFamily="18" charset="0"/>
            </a:endParaRPr>
          </a:p>
          <a:p>
            <a:pPr algn="l"/>
            <a:r>
              <a:rPr lang="en-US" sz="2200" dirty="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   Literature survey</a:t>
            </a:r>
            <a:endParaRPr lang="en-US" sz="2200" dirty="0">
              <a:latin typeface="Times New Roman" panose="02020603050405020304" pitchFamily="18" charset="0"/>
              <a:cs typeface="Times New Roman" panose="02020603050405020304" pitchFamily="18" charset="0"/>
            </a:endParaRPr>
          </a:p>
          <a:p>
            <a:pPr algn="l"/>
            <a:r>
              <a:rPr lang="en-US" sz="2200" dirty="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Objectives</a:t>
            </a:r>
          </a:p>
          <a:p>
            <a:pPr algn="l"/>
            <a:r>
              <a:rPr lang="en-US" sz="2200" dirty="0" smtClean="0">
                <a:latin typeface="Times New Roman" panose="02020603050405020304" pitchFamily="18" charset="0"/>
                <a:cs typeface="Times New Roman" panose="02020603050405020304" pitchFamily="18" charset="0"/>
              </a:rPr>
              <a:t>•    Proposed System</a:t>
            </a:r>
          </a:p>
          <a:p>
            <a:pPr marL="342900" indent="-342900" algn="l">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Requirements</a:t>
            </a:r>
          </a:p>
          <a:p>
            <a:pPr marL="342900" indent="-342900" algn="l">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System Architecture</a:t>
            </a:r>
          </a:p>
          <a:p>
            <a:pPr marL="342900" indent="-342900" algn="l">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Workflow and Implementation</a:t>
            </a:r>
          </a:p>
          <a:p>
            <a:pPr marL="342900" indent="-342900" algn="l">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Result</a:t>
            </a:r>
          </a:p>
          <a:p>
            <a:pPr marL="342900" indent="-342900" algn="l">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Conclusion</a:t>
            </a:r>
            <a:endParaRPr lang="en-US" sz="2200" dirty="0">
              <a:latin typeface="Times New Roman" panose="02020603050405020304" pitchFamily="18" charset="0"/>
              <a:cs typeface="Times New Roman" panose="02020603050405020304" pitchFamily="18" charset="0"/>
            </a:endParaRPr>
          </a:p>
          <a:p>
            <a:pPr algn="l"/>
            <a:r>
              <a:rPr lang="en-US" sz="2200" dirty="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   References</a:t>
            </a:r>
            <a:endParaRPr lang="en-US" sz="2200" dirty="0">
              <a:latin typeface="Times New Roman" panose="02020603050405020304" pitchFamily="18" charset="0"/>
              <a:cs typeface="Times New Roman" panose="02020603050405020304" pitchFamily="18" charset="0"/>
            </a:endParaRPr>
          </a:p>
          <a:p>
            <a:pPr algn="l"/>
            <a:r>
              <a:rPr lang="en-US" sz="2200" dirty="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Paper Submission Proof</a:t>
            </a:r>
          </a:p>
          <a:p>
            <a:pPr marL="342900" indent="-342900" algn="l">
              <a:buFont typeface="Arial" panose="020B0604020202020204" pitchFamily="34" charset="0"/>
              <a:buChar char="•"/>
            </a:pPr>
            <a:r>
              <a:rPr lang="en-US" sz="2200" dirty="0" err="1" smtClean="0">
                <a:latin typeface="Times New Roman" panose="02020603050405020304" pitchFamily="18" charset="0"/>
                <a:cs typeface="Times New Roman" panose="02020603050405020304" pitchFamily="18" charset="0"/>
              </a:rPr>
              <a:t>Github</a:t>
            </a:r>
            <a:r>
              <a:rPr lang="en-US" sz="2200" dirty="0" smtClean="0">
                <a:latin typeface="Times New Roman" panose="02020603050405020304" pitchFamily="18" charset="0"/>
                <a:cs typeface="Times New Roman" panose="02020603050405020304" pitchFamily="18" charset="0"/>
              </a:rPr>
              <a:t> Link</a:t>
            </a:r>
            <a:endParaRPr lang="en-US" sz="2200" dirty="0">
              <a:latin typeface="Times New Roman" panose="02020603050405020304" pitchFamily="18" charset="0"/>
              <a:cs typeface="Times New Roman" panose="02020603050405020304" pitchFamily="18" charset="0"/>
            </a:endParaRPr>
          </a:p>
          <a:p>
            <a:pPr algn="l"/>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pPr marL="12700">
              <a:lnSpc>
                <a:spcPct val="100000"/>
              </a:lnSpc>
              <a:spcBef>
                <a:spcPts val="100"/>
              </a:spcBef>
              <a:tabLst>
                <a:tab pos="421005" algn="l"/>
              </a:tabLst>
            </a:pPr>
            <a:endParaRPr sz="2800" dirty="0">
              <a:latin typeface="Times New Roman"/>
              <a:cs typeface="Times New Roman"/>
            </a:endParaRPr>
          </a:p>
        </p:txBody>
      </p:sp>
      <p:sp>
        <p:nvSpPr>
          <p:cNvPr id="12" name="object 2">
            <a:extLst>
              <a:ext uri="{FF2B5EF4-FFF2-40B4-BE49-F238E27FC236}">
                <a16:creationId xmlns:a16="http://schemas.microsoft.com/office/drawing/2014/main" xmlns="" id="{FDA4E3D9-FF78-45E3-9BC4-8D72D4A74DD6}"/>
              </a:ext>
            </a:extLst>
          </p:cNvPr>
          <p:cNvSpPr txBox="1"/>
          <p:nvPr/>
        </p:nvSpPr>
        <p:spPr>
          <a:xfrm>
            <a:off x="3604387" y="-10897"/>
            <a:ext cx="4333674" cy="228268"/>
          </a:xfrm>
          <a:prstGeom prst="rect">
            <a:avLst/>
          </a:prstGeom>
        </p:spPr>
        <p:txBody>
          <a:bodyPr vert="horz" wrap="square" lIns="0" tIns="12700" rIns="0" bIns="0" rtlCol="0" anchor="t">
            <a:spAutoFit/>
          </a:bodyPr>
          <a:lstStyle/>
          <a:p>
            <a:pPr marL="12700" algn="ctr">
              <a:spcBef>
                <a:spcPts val="100"/>
              </a:spcBef>
            </a:pPr>
            <a:r>
              <a:rPr lang="en-US" sz="1400" dirty="0">
                <a:solidFill>
                  <a:schemeClr val="bg1"/>
                </a:solidFill>
              </a:rPr>
              <a:t>Secure Digital Forensic Evidence Storage System</a:t>
            </a:r>
            <a:endParaRPr lang="en-IN" sz="1500" b="1" spc="-10" dirty="0">
              <a:solidFill>
                <a:schemeClr val="bg1"/>
              </a:solidFill>
              <a:latin typeface="Times New Roman"/>
              <a:cs typeface="Times New Roman"/>
            </a:endParaRPr>
          </a:p>
        </p:txBody>
      </p:sp>
      <p:sp>
        <p:nvSpPr>
          <p:cNvPr id="16" name="TextBox 15">
            <a:extLst>
              <a:ext uri="{FF2B5EF4-FFF2-40B4-BE49-F238E27FC236}">
                <a16:creationId xmlns:a16="http://schemas.microsoft.com/office/drawing/2014/main" xmlns="" id="{23B7749F-2B78-62D7-ECE8-B0BE94DF57EE}"/>
              </a:ext>
            </a:extLst>
          </p:cNvPr>
          <p:cNvSpPr txBox="1"/>
          <p:nvPr/>
        </p:nvSpPr>
        <p:spPr>
          <a:xfrm>
            <a:off x="104600" y="6581123"/>
            <a:ext cx="914400" cy="338554"/>
          </a:xfrm>
          <a:prstGeom prst="rect">
            <a:avLst/>
          </a:prstGeom>
          <a:noFill/>
        </p:spPr>
        <p:txBody>
          <a:bodyPr wrap="square" rtlCol="0">
            <a:spAutoFit/>
          </a:bodyPr>
          <a:lstStyle/>
          <a:p>
            <a:r>
              <a:rPr lang="en-IN" sz="1600" dirty="0">
                <a:solidFill>
                  <a:schemeClr val="bg1"/>
                </a:solidFill>
                <a:latin typeface="Times New Roman" panose="02020603050405020304" pitchFamily="18" charset="0"/>
                <a:cs typeface="Times New Roman" panose="02020603050405020304" pitchFamily="18" charset="0"/>
              </a:rPr>
              <a:t>B-</a:t>
            </a:r>
            <a:r>
              <a:rPr lang="en-IN" sz="1600" dirty="0">
                <a:solidFill>
                  <a:schemeClr val="bg1"/>
                </a:solidFill>
              </a:rPr>
              <a:t>16</a:t>
            </a:r>
          </a:p>
        </p:txBody>
      </p:sp>
    </p:spTree>
    <p:extLst>
      <p:ext uri="{BB962C8B-B14F-4D97-AF65-F5344CB8AC3E}">
        <p14:creationId xmlns:p14="http://schemas.microsoft.com/office/powerpoint/2010/main" val="474611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3479092-5EBB-86EC-7548-F3C02E76B315}"/>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xmlns="" id="{1A78C14C-8960-8D04-FFA5-0EB952743396}"/>
              </a:ext>
            </a:extLst>
          </p:cNvPr>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dirty="0"/>
          </a:p>
        </p:txBody>
      </p:sp>
      <p:sp>
        <p:nvSpPr>
          <p:cNvPr id="7" name="object 7">
            <a:extLst>
              <a:ext uri="{FF2B5EF4-FFF2-40B4-BE49-F238E27FC236}">
                <a16:creationId xmlns:a16="http://schemas.microsoft.com/office/drawing/2014/main" xmlns="" id="{2DC6B255-0582-E4F3-D45C-244BEC43F754}"/>
              </a:ext>
            </a:extLst>
          </p:cNvPr>
          <p:cNvSpPr/>
          <p:nvPr/>
        </p:nvSpPr>
        <p:spPr>
          <a:xfrm>
            <a:off x="-989" y="6634572"/>
            <a:ext cx="762989" cy="220979"/>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a:t>
            </a:r>
            <a:r>
              <a:rPr lang="en-US" sz="1600" dirty="0">
                <a:solidFill>
                  <a:schemeClr val="bg1"/>
                </a:solidFill>
                <a:latin typeface="Times New Roman"/>
                <a:ea typeface="+mn-lt"/>
                <a:cs typeface="Times New Roman"/>
              </a:rPr>
              <a:t>B-16</a:t>
            </a:r>
          </a:p>
        </p:txBody>
      </p:sp>
      <p:sp>
        <p:nvSpPr>
          <p:cNvPr id="9" name="object 9">
            <a:extLst>
              <a:ext uri="{FF2B5EF4-FFF2-40B4-BE49-F238E27FC236}">
                <a16:creationId xmlns:a16="http://schemas.microsoft.com/office/drawing/2014/main" xmlns="" id="{AE246CF0-101C-DC74-3F0C-37E64E7C29E0}"/>
              </a:ext>
            </a:extLst>
          </p:cNvPr>
          <p:cNvSpPr txBox="1"/>
          <p:nvPr/>
        </p:nvSpPr>
        <p:spPr>
          <a:xfrm>
            <a:off x="380505" y="1120292"/>
            <a:ext cx="12496800" cy="5591274"/>
          </a:xfrm>
          <a:prstGeom prst="rect">
            <a:avLst/>
          </a:prstGeom>
        </p:spPr>
        <p:txBody>
          <a:bodyPr vert="horz" wrap="square" lIns="0" tIns="12700" rIns="0" bIns="0" rtlCol="0" anchor="t">
            <a:spAutoFit/>
          </a:bodyPr>
          <a:lstStyle/>
          <a:p>
            <a:pPr marL="469900" marR="2094230" algn="just">
              <a:lnSpc>
                <a:spcPct val="150000"/>
              </a:lnSpc>
              <a:spcBef>
                <a:spcPts val="100"/>
              </a:spcBef>
            </a:pPr>
            <a:r>
              <a:rPr lang="en-US" sz="2000" dirty="0" smtClean="0">
                <a:latin typeface="Times New Roman" panose="02020603050405020304" pitchFamily="18" charset="0"/>
                <a:cs typeface="Times New Roman" panose="02020603050405020304" pitchFamily="18" charset="0"/>
              </a:rPr>
              <a:t>In today’s digital world, cyber crimes such as hacking, data theft, and fraud are increasing rapidly. In such cases, digital evidence plays a very crucial role in identifying criminals and supporting legal investigations. However, managing and storing this evidence securely is a major challenge.</a:t>
            </a:r>
            <a:endParaRPr lang="en-IN" sz="2000" dirty="0">
              <a:latin typeface="Times New Roman" panose="02020603050405020304" pitchFamily="18" charset="0"/>
              <a:cs typeface="Times New Roman" panose="02020603050405020304" pitchFamily="18" charset="0"/>
            </a:endParaRPr>
          </a:p>
          <a:p>
            <a:pPr marL="469900" marR="2094230" algn="just">
              <a:lnSpc>
                <a:spcPct val="150000"/>
              </a:lnSpc>
              <a:spcBef>
                <a:spcPts val="100"/>
              </a:spcBef>
            </a:pPr>
            <a:r>
              <a:rPr lang="en-US" sz="2000" dirty="0" smtClean="0">
                <a:latin typeface="Times New Roman" panose="02020603050405020304" pitchFamily="18" charset="0"/>
                <a:cs typeface="Times New Roman" panose="02020603050405020304" pitchFamily="18" charset="0"/>
              </a:rPr>
              <a:t>Traditional systems often lack proper security, integrity, and access control, which can lead to data tampering or unauthorized access. This creates serious issues in maintaining the authenticity of evidence in legal proceedings.</a:t>
            </a:r>
            <a:endParaRPr lang="en-IN" sz="2000" dirty="0">
              <a:latin typeface="Times New Roman" panose="02020603050405020304" pitchFamily="18" charset="0"/>
              <a:cs typeface="Times New Roman" panose="02020603050405020304" pitchFamily="18" charset="0"/>
            </a:endParaRPr>
          </a:p>
          <a:p>
            <a:pPr marL="469900" marR="2094230" algn="just">
              <a:lnSpc>
                <a:spcPct val="150000"/>
              </a:lnSpc>
              <a:spcBef>
                <a:spcPts val="100"/>
              </a:spcBef>
            </a:pPr>
            <a:r>
              <a:rPr lang="en-US" sz="2000" dirty="0" smtClean="0">
                <a:latin typeface="Times New Roman" panose="02020603050405020304" pitchFamily="18" charset="0"/>
                <a:cs typeface="Times New Roman" panose="02020603050405020304" pitchFamily="18" charset="0"/>
              </a:rPr>
              <a:t>To overcome these challenges, our project focuses on developing a secure and efficient system for storing digital forensic evidence. The system ensures data confidentiality, integrity, and controlled access using advanced techniques like encryption and multi-factor authentication.</a:t>
            </a:r>
          </a:p>
          <a:p>
            <a:pPr marL="469900" marR="2094230" algn="just">
              <a:lnSpc>
                <a:spcPct val="150000"/>
              </a:lnSpc>
              <a:spcBef>
                <a:spcPts val="100"/>
              </a:spcBef>
            </a:pPr>
            <a:r>
              <a:rPr lang="en-US" sz="2000" b="1" dirty="0" smtClean="0">
                <a:latin typeface="Times New Roman" panose="02020603050405020304" pitchFamily="18" charset="0"/>
                <a:cs typeface="Times New Roman" panose="02020603050405020304" pitchFamily="18" charset="0"/>
              </a:rPr>
              <a:t>Through this project, we aim to provide a trustworthy and tamper-proof solution for digital evidence management.</a:t>
            </a:r>
            <a:endParaRPr lang="en-IN" sz="2000" b="1" dirty="0">
              <a:latin typeface="Times New Roman" panose="02020603050405020304" pitchFamily="18" charset="0"/>
              <a:cs typeface="Times New Roman" panose="02020603050405020304" pitchFamily="18" charset="0"/>
            </a:endParaRPr>
          </a:p>
        </p:txBody>
      </p:sp>
      <p:sp>
        <p:nvSpPr>
          <p:cNvPr id="10" name="object 9">
            <a:extLst>
              <a:ext uri="{FF2B5EF4-FFF2-40B4-BE49-F238E27FC236}">
                <a16:creationId xmlns:a16="http://schemas.microsoft.com/office/drawing/2014/main" xmlns="" id="{00DF8C02-1BC8-D7E1-63DE-7B346AEA96F2}"/>
              </a:ext>
            </a:extLst>
          </p:cNvPr>
          <p:cNvSpPr txBox="1">
            <a:spLocks noGrp="1"/>
          </p:cNvSpPr>
          <p:nvPr>
            <p:ph type="dt" sz="half" idx="6"/>
          </p:nvPr>
        </p:nvSpPr>
        <p:spPr>
          <a:xfrm>
            <a:off x="1123125" y="6629792"/>
            <a:ext cx="10611675" cy="46166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r>
              <a:rPr lang="en-IN" cap="small" spc="-95" dirty="0"/>
              <a:t>                              </a:t>
            </a:r>
            <a:r>
              <a:rPr lang="en-US" sz="1600" cap="small" spc="-105" dirty="0">
                <a:solidFill>
                  <a:srgbClr val="FFFFFF"/>
                </a:solidFill>
                <a:latin typeface="Times New Roman"/>
                <a:cs typeface="Times New Roman"/>
              </a:rPr>
              <a:t>Srinivasa</a:t>
            </a:r>
            <a:r>
              <a:rPr lang="en-US" sz="1600" cap="small" spc="70" dirty="0">
                <a:solidFill>
                  <a:srgbClr val="FFFFFF"/>
                </a:solidFill>
                <a:latin typeface="Times New Roman"/>
                <a:cs typeface="Times New Roman"/>
              </a:rPr>
              <a:t> </a:t>
            </a:r>
            <a:r>
              <a:rPr lang="en-US" sz="1600" cap="small" spc="-120" dirty="0">
                <a:solidFill>
                  <a:srgbClr val="FFFFFF"/>
                </a:solidFill>
                <a:latin typeface="Times New Roman"/>
                <a:cs typeface="Times New Roman"/>
              </a:rPr>
              <a:t>Ramanujan</a:t>
            </a:r>
            <a:r>
              <a:rPr lang="en-US" sz="1600" cap="small" spc="75" dirty="0">
                <a:solidFill>
                  <a:srgbClr val="FFFFFF"/>
                </a:solidFill>
                <a:latin typeface="Times New Roman"/>
                <a:cs typeface="Times New Roman"/>
              </a:rPr>
              <a:t> </a:t>
            </a:r>
            <a:r>
              <a:rPr lang="en-US" sz="1600" cap="small" spc="-110" dirty="0">
                <a:solidFill>
                  <a:srgbClr val="FFFFFF"/>
                </a:solidFill>
                <a:latin typeface="Times New Roman"/>
                <a:cs typeface="Times New Roman"/>
              </a:rPr>
              <a:t>Institute</a:t>
            </a:r>
            <a:r>
              <a:rPr lang="en-US" sz="1600" cap="small" spc="75" dirty="0">
                <a:solidFill>
                  <a:srgbClr val="FFFFFF"/>
                </a:solidFill>
                <a:latin typeface="Times New Roman"/>
                <a:cs typeface="Times New Roman"/>
              </a:rPr>
              <a:t> </a:t>
            </a:r>
            <a:r>
              <a:rPr lang="en-US" sz="1600" cap="small" spc="-100" dirty="0">
                <a:solidFill>
                  <a:srgbClr val="FFFFFF"/>
                </a:solidFill>
                <a:latin typeface="Times New Roman"/>
                <a:cs typeface="Times New Roman"/>
              </a:rPr>
              <a:t>of</a:t>
            </a:r>
            <a:r>
              <a:rPr lang="en-US" sz="1600" cap="small" spc="75" dirty="0">
                <a:solidFill>
                  <a:srgbClr val="FFFFFF"/>
                </a:solidFill>
                <a:latin typeface="Times New Roman"/>
                <a:cs typeface="Times New Roman"/>
              </a:rPr>
              <a:t> </a:t>
            </a:r>
            <a:r>
              <a:rPr lang="en-US" sz="1600" cap="small" spc="-140" dirty="0">
                <a:solidFill>
                  <a:srgbClr val="FFFFFF"/>
                </a:solidFill>
                <a:latin typeface="Times New Roman"/>
                <a:cs typeface="Times New Roman"/>
              </a:rPr>
              <a:t>Technology</a:t>
            </a:r>
            <a:endParaRPr lang="en-US" sz="1600" dirty="0">
              <a:latin typeface="Times New Roman"/>
              <a:cs typeface="Times New Roman"/>
            </a:endParaRPr>
          </a:p>
          <a:p>
            <a:pPr marL="12700">
              <a:lnSpc>
                <a:spcPts val="1845"/>
              </a:lnSpc>
            </a:pPr>
            <a:endParaRPr cap="small" spc="-95" dirty="0"/>
          </a:p>
        </p:txBody>
      </p:sp>
      <p:sp>
        <p:nvSpPr>
          <p:cNvPr id="22" name="object 5">
            <a:extLst>
              <a:ext uri="{FF2B5EF4-FFF2-40B4-BE49-F238E27FC236}">
                <a16:creationId xmlns:a16="http://schemas.microsoft.com/office/drawing/2014/main" xmlns="" id="{10C0CF6D-744C-0894-AE41-DC4D1C13F06F}"/>
              </a:ext>
            </a:extLst>
          </p:cNvPr>
          <p:cNvSpPr/>
          <p:nvPr/>
        </p:nvSpPr>
        <p:spPr>
          <a:xfrm>
            <a:off x="-518" y="233144"/>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6" name="object 6">
            <a:extLst>
              <a:ext uri="{FF2B5EF4-FFF2-40B4-BE49-F238E27FC236}">
                <a16:creationId xmlns:a16="http://schemas.microsoft.com/office/drawing/2014/main" xmlns="" id="{5A396B69-336C-DBD5-633E-8FFBEB87989A}"/>
              </a:ext>
            </a:extLst>
          </p:cNvPr>
          <p:cNvSpPr txBox="1">
            <a:spLocks noGrp="1"/>
          </p:cNvSpPr>
          <p:nvPr>
            <p:ph type="title"/>
          </p:nvPr>
        </p:nvSpPr>
        <p:spPr>
          <a:xfrm>
            <a:off x="0" y="331752"/>
            <a:ext cx="3604387" cy="689932"/>
          </a:xfrm>
          <a:prstGeom prst="rect">
            <a:avLst/>
          </a:prstGeom>
        </p:spPr>
        <p:txBody>
          <a:bodyPr vert="horz" wrap="square" lIns="0" tIns="12700" rIns="0" bIns="0" rtlCol="0">
            <a:spAutoFit/>
          </a:bodyPr>
          <a:lstStyle/>
          <a:p>
            <a:pPr marL="12700" algn="ctr">
              <a:lnSpc>
                <a:spcPct val="100000"/>
              </a:lnSpc>
            </a:pPr>
            <a:r>
              <a:rPr lang="en-IN" b="1" spc="-10" dirty="0" smtClean="0"/>
              <a:t>Introduction</a:t>
            </a:r>
            <a:endParaRPr b="1" spc="-10" dirty="0"/>
          </a:p>
        </p:txBody>
      </p:sp>
      <p:sp>
        <p:nvSpPr>
          <p:cNvPr id="28" name="object 2">
            <a:extLst>
              <a:ext uri="{FF2B5EF4-FFF2-40B4-BE49-F238E27FC236}">
                <a16:creationId xmlns:a16="http://schemas.microsoft.com/office/drawing/2014/main" xmlns="" id="{05F20B3F-B180-8979-5AC1-4F6D81ACE388}"/>
              </a:ext>
            </a:extLst>
          </p:cNvPr>
          <p:cNvSpPr txBox="1"/>
          <p:nvPr/>
        </p:nvSpPr>
        <p:spPr>
          <a:xfrm>
            <a:off x="3604387" y="-10897"/>
            <a:ext cx="4333674" cy="228268"/>
          </a:xfrm>
          <a:prstGeom prst="rect">
            <a:avLst/>
          </a:prstGeom>
        </p:spPr>
        <p:txBody>
          <a:bodyPr vert="horz" wrap="square" lIns="0" tIns="12700" rIns="0" bIns="0" rtlCol="0" anchor="t">
            <a:spAutoFit/>
          </a:bodyPr>
          <a:lstStyle/>
          <a:p>
            <a:pPr marL="12700" algn="ctr">
              <a:spcBef>
                <a:spcPts val="100"/>
              </a:spcBef>
            </a:pPr>
            <a:r>
              <a:rPr lang="en-US" sz="1400" dirty="0">
                <a:solidFill>
                  <a:schemeClr val="bg1"/>
                </a:solidFill>
              </a:rPr>
              <a:t>Secure Digital Forensic Evidence Storage System</a:t>
            </a:r>
            <a:endParaRPr sz="1500" dirty="0">
              <a:solidFill>
                <a:schemeClr val="bg1"/>
              </a:solidFill>
              <a:latin typeface="Times New Roman"/>
              <a:cs typeface="Times New Roman"/>
            </a:endParaRPr>
          </a:p>
        </p:txBody>
      </p:sp>
      <p:sp>
        <p:nvSpPr>
          <p:cNvPr id="29" name="object 12">
            <a:extLst>
              <a:ext uri="{FF2B5EF4-FFF2-40B4-BE49-F238E27FC236}">
                <a16:creationId xmlns:a16="http://schemas.microsoft.com/office/drawing/2014/main" xmlns="" id="{C818B434-3B05-BC15-9E9D-6E172EFF9769}"/>
              </a:ext>
            </a:extLst>
          </p:cNvPr>
          <p:cNvSpPr txBox="1">
            <a:spLocks noGrp="1"/>
          </p:cNvSpPr>
          <p:nvPr>
            <p:ph type="sldNum" sz="quarter" idx="7"/>
          </p:nvPr>
        </p:nvSpPr>
        <p:spPr>
          <a:xfrm>
            <a:off x="11858823" y="6629309"/>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4</a:t>
            </a:fld>
            <a:endParaRPr spc="-25" dirty="0"/>
          </a:p>
        </p:txBody>
      </p:sp>
    </p:spTree>
    <p:extLst>
      <p:ext uri="{BB962C8B-B14F-4D97-AF65-F5344CB8AC3E}">
        <p14:creationId xmlns:p14="http://schemas.microsoft.com/office/powerpoint/2010/main" val="3045865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4771" y="1495797"/>
            <a:ext cx="10515600" cy="3231654"/>
          </a:xfrm>
        </p:spPr>
        <p:txBody>
          <a:bodyPr/>
          <a:lstStyle/>
          <a:p>
            <a:pPr>
              <a:lnSpc>
                <a:spcPct val="150000"/>
              </a:lnSpc>
            </a:pPr>
            <a:r>
              <a:rPr lang="en-US" sz="2000" dirty="0">
                <a:latin typeface="Times New Roman" panose="02020603050405020304" pitchFamily="18" charset="0"/>
                <a:cs typeface="Times New Roman" panose="02020603050405020304" pitchFamily="18" charset="0"/>
              </a:rPr>
              <a:t>In the current scenario, digital forensic evidence is often stored using traditional centralized systems such as local servers or basic cloud storage. These systems mainly rely on password-based authentication and lack advanced security mechanisms.</a:t>
            </a:r>
          </a:p>
          <a:p>
            <a:pPr>
              <a:lnSpc>
                <a:spcPct val="150000"/>
              </a:lnSpc>
            </a:pPr>
            <a:r>
              <a:rPr lang="en-US" sz="2000" dirty="0">
                <a:latin typeface="Times New Roman" panose="02020603050405020304" pitchFamily="18" charset="0"/>
                <a:cs typeface="Times New Roman" panose="02020603050405020304" pitchFamily="18" charset="0"/>
              </a:rPr>
              <a:t>They do not provide strong encryption, proper access control, or effective tracking of user activities. As a result, digital evidence is vulnerable to unauthorized access, data tampering, and potential loss.</a:t>
            </a:r>
          </a:p>
          <a:p>
            <a:pPr>
              <a:lnSpc>
                <a:spcPct val="150000"/>
              </a:lnSpc>
            </a:pPr>
            <a:r>
              <a:rPr lang="en-US" sz="2000" dirty="0">
                <a:latin typeface="Times New Roman" panose="02020603050405020304" pitchFamily="18" charset="0"/>
                <a:cs typeface="Times New Roman" panose="02020603050405020304" pitchFamily="18" charset="0"/>
              </a:rPr>
              <a:t>Additionally, there is no proper audit mechanism to maintain a chain of custody, which reduces the reliability and admissibility of evidence in legal investigations</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4" name="object 5">
            <a:extLst>
              <a:ext uri="{FF2B5EF4-FFF2-40B4-BE49-F238E27FC236}">
                <a16:creationId xmlns:a16="http://schemas.microsoft.com/office/drawing/2014/main" xmlns="" id="{021057BB-8D93-F44B-B9E2-B26E2A078D57}"/>
              </a:ext>
            </a:extLst>
          </p:cNvPr>
          <p:cNvSpPr/>
          <p:nvPr/>
        </p:nvSpPr>
        <p:spPr>
          <a:xfrm>
            <a:off x="9832" y="212288"/>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152400" y="339855"/>
            <a:ext cx="3888104" cy="695960"/>
          </a:xfrm>
        </p:spPr>
        <p:txBody>
          <a:bodyPr/>
          <a:lstStyle/>
          <a:p>
            <a:r>
              <a:rPr lang="en-US" b="1" dirty="0"/>
              <a:t>Existing System</a:t>
            </a:r>
          </a:p>
        </p:txBody>
      </p:sp>
      <p:sp>
        <p:nvSpPr>
          <p:cNvPr id="5" name="Rectangle 4"/>
          <p:cNvSpPr/>
          <p:nvPr/>
        </p:nvSpPr>
        <p:spPr>
          <a:xfrm>
            <a:off x="3331846" y="-93260"/>
            <a:ext cx="5301451" cy="369332"/>
          </a:xfrm>
          <a:prstGeom prst="rect">
            <a:avLst/>
          </a:prstGeom>
        </p:spPr>
        <p:txBody>
          <a:bodyPr wrap="none">
            <a:spAutoFit/>
          </a:bodyPr>
          <a:lstStyle/>
          <a:p>
            <a:pPr marL="12700" algn="ctr">
              <a:spcBef>
                <a:spcPts val="100"/>
              </a:spcBef>
            </a:pPr>
            <a:r>
              <a:rPr lang="en-US" dirty="0">
                <a:solidFill>
                  <a:schemeClr val="bg1"/>
                </a:solidFill>
              </a:rPr>
              <a:t>Secure Digital Forensic Evidence Storage System</a:t>
            </a:r>
            <a:endParaRPr lang="en-US" dirty="0">
              <a:solidFill>
                <a:schemeClr val="bg1"/>
              </a:solidFill>
              <a:latin typeface="Times New Roman"/>
              <a:cs typeface="Times New Roman"/>
            </a:endParaRPr>
          </a:p>
        </p:txBody>
      </p:sp>
      <p:sp>
        <p:nvSpPr>
          <p:cNvPr id="6" name="object 7">
            <a:extLst>
              <a:ext uri="{FF2B5EF4-FFF2-40B4-BE49-F238E27FC236}">
                <a16:creationId xmlns:a16="http://schemas.microsoft.com/office/drawing/2014/main" xmlns="" id="{C42EBEF0-D446-3503-6898-2738D242A7C0}"/>
              </a:ext>
            </a:extLst>
          </p:cNvPr>
          <p:cNvSpPr/>
          <p:nvPr/>
        </p:nvSpPr>
        <p:spPr>
          <a:xfrm>
            <a:off x="0" y="6636385"/>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B-16</a:t>
            </a:r>
          </a:p>
        </p:txBody>
      </p:sp>
      <p:sp>
        <p:nvSpPr>
          <p:cNvPr id="7" name="Rectangle 6"/>
          <p:cNvSpPr/>
          <p:nvPr/>
        </p:nvSpPr>
        <p:spPr>
          <a:xfrm>
            <a:off x="777240" y="6585609"/>
            <a:ext cx="11887200" cy="323165"/>
          </a:xfrm>
          <a:prstGeom prst="rect">
            <a:avLst/>
          </a:prstGeom>
        </p:spPr>
        <p:txBody>
          <a:bodyPr wrap="square">
            <a:spAutoFit/>
          </a:bodyPr>
          <a:lstStyle/>
          <a:p>
            <a:pPr marL="12700">
              <a:lnSpc>
                <a:spcPts val="1845"/>
              </a:lnSpc>
            </a:pPr>
            <a:r>
              <a:rPr lang="en-US" sz="1600" cap="small" spc="-75" dirty="0">
                <a:solidFill>
                  <a:schemeClr val="bg1"/>
                </a:solidFill>
                <a:latin typeface="Times New Roman" panose="02020603050405020304" pitchFamily="18" charset="0"/>
                <a:cs typeface="Times New Roman" panose="02020603050405020304" pitchFamily="18" charset="0"/>
              </a:rPr>
              <a:t>     Dept.</a:t>
            </a:r>
            <a:r>
              <a:rPr lang="en-US" sz="1600" cap="small" spc="-10" dirty="0">
                <a:solidFill>
                  <a:schemeClr val="bg1"/>
                </a:solidFill>
                <a:latin typeface="Times New Roman" panose="02020603050405020304" pitchFamily="18" charset="0"/>
                <a:cs typeface="Times New Roman" panose="02020603050405020304" pitchFamily="18" charset="0"/>
              </a:rPr>
              <a:t> </a:t>
            </a:r>
            <a:r>
              <a:rPr lang="en-US" sz="1600" cap="small" spc="-100" dirty="0">
                <a:solidFill>
                  <a:schemeClr val="bg1"/>
                </a:solidFill>
                <a:latin typeface="Times New Roman" panose="02020603050405020304" pitchFamily="18" charset="0"/>
                <a:cs typeface="Times New Roman" panose="02020603050405020304" pitchFamily="18" charset="0"/>
              </a:rPr>
              <a:t>of</a:t>
            </a:r>
            <a:r>
              <a:rPr lang="en-US" sz="1600" cap="small" spc="25" dirty="0">
                <a:solidFill>
                  <a:schemeClr val="bg1"/>
                </a:solidFill>
                <a:latin typeface="Times New Roman" panose="02020603050405020304" pitchFamily="18" charset="0"/>
                <a:cs typeface="Times New Roman" panose="02020603050405020304" pitchFamily="18" charset="0"/>
              </a:rPr>
              <a:t> </a:t>
            </a:r>
            <a:r>
              <a:rPr lang="en-US" sz="1600" cap="small" spc="-114" dirty="0">
                <a:solidFill>
                  <a:schemeClr val="bg1"/>
                </a:solidFill>
                <a:latin typeface="Times New Roman" panose="02020603050405020304" pitchFamily="18" charset="0"/>
                <a:cs typeface="Times New Roman" panose="02020603050405020304" pitchFamily="18" charset="0"/>
              </a:rPr>
              <a:t>Computer</a:t>
            </a:r>
            <a:r>
              <a:rPr lang="en-US" sz="1600" cap="small" spc="50" dirty="0">
                <a:solidFill>
                  <a:schemeClr val="bg1"/>
                </a:solidFill>
                <a:latin typeface="Times New Roman" panose="02020603050405020304" pitchFamily="18" charset="0"/>
                <a:cs typeface="Times New Roman" panose="02020603050405020304" pitchFamily="18" charset="0"/>
              </a:rPr>
              <a:t> </a:t>
            </a:r>
            <a:r>
              <a:rPr lang="en-US" sz="1600" cap="small" spc="-95" dirty="0">
                <a:solidFill>
                  <a:schemeClr val="bg1"/>
                </a:solidFill>
                <a:latin typeface="Times New Roman" panose="02020603050405020304" pitchFamily="18" charset="0"/>
                <a:cs typeface="Times New Roman" panose="02020603050405020304" pitchFamily="18" charset="0"/>
              </a:rPr>
              <a:t>Science</a:t>
            </a:r>
            <a:r>
              <a:rPr lang="en-US" sz="1600" cap="small" spc="50" dirty="0">
                <a:solidFill>
                  <a:schemeClr val="bg1"/>
                </a:solidFill>
                <a:latin typeface="Times New Roman" panose="02020603050405020304" pitchFamily="18" charset="0"/>
                <a:cs typeface="Times New Roman" panose="02020603050405020304" pitchFamily="18" charset="0"/>
              </a:rPr>
              <a:t> </a:t>
            </a:r>
            <a:r>
              <a:rPr lang="en-US" sz="1600" cap="small" spc="-130" dirty="0">
                <a:solidFill>
                  <a:schemeClr val="bg1"/>
                </a:solidFill>
                <a:latin typeface="Times New Roman" panose="02020603050405020304" pitchFamily="18" charset="0"/>
                <a:cs typeface="Times New Roman" panose="02020603050405020304" pitchFamily="18" charset="0"/>
              </a:rPr>
              <a:t>and</a:t>
            </a:r>
            <a:r>
              <a:rPr lang="en-US" sz="1600" cap="small" spc="45" dirty="0">
                <a:solidFill>
                  <a:schemeClr val="bg1"/>
                </a:solidFill>
                <a:latin typeface="Times New Roman" panose="02020603050405020304" pitchFamily="18" charset="0"/>
                <a:cs typeface="Times New Roman" panose="02020603050405020304" pitchFamily="18" charset="0"/>
              </a:rPr>
              <a:t> </a:t>
            </a:r>
            <a:r>
              <a:rPr lang="en-US" sz="1600" cap="small" spc="-110" dirty="0">
                <a:solidFill>
                  <a:schemeClr val="bg1"/>
                </a:solidFill>
                <a:latin typeface="Times New Roman" panose="02020603050405020304" pitchFamily="18" charset="0"/>
                <a:cs typeface="Times New Roman" panose="02020603050405020304" pitchFamily="18" charset="0"/>
              </a:rPr>
              <a:t>Engineering</a:t>
            </a:r>
            <a:r>
              <a:rPr lang="en-US" sz="1600" cap="small" spc="45" dirty="0">
                <a:solidFill>
                  <a:schemeClr val="bg1"/>
                </a:solidFill>
                <a:latin typeface="Times New Roman" panose="02020603050405020304" pitchFamily="18" charset="0"/>
                <a:cs typeface="Times New Roman" panose="02020603050405020304" pitchFamily="18" charset="0"/>
              </a:rPr>
              <a:t> </a:t>
            </a:r>
            <a:r>
              <a:rPr lang="en-US" sz="1600" cap="small" spc="-70" dirty="0">
                <a:solidFill>
                  <a:schemeClr val="bg1"/>
                </a:solidFill>
                <a:latin typeface="Times New Roman" panose="02020603050405020304" pitchFamily="18" charset="0"/>
                <a:cs typeface="Times New Roman" panose="02020603050405020304" pitchFamily="18" charset="0"/>
              </a:rPr>
              <a:t>(</a:t>
            </a:r>
            <a:r>
              <a:rPr lang="en-US" sz="1600" cap="small" spc="-70" dirty="0" err="1">
                <a:solidFill>
                  <a:schemeClr val="bg1"/>
                </a:solidFill>
                <a:latin typeface="Times New Roman" panose="02020603050405020304" pitchFamily="18" charset="0"/>
                <a:cs typeface="Times New Roman" panose="02020603050405020304" pitchFamily="18" charset="0"/>
              </a:rPr>
              <a:t>AI&amp;ml</a:t>
            </a:r>
            <a:r>
              <a:rPr lang="en-US" sz="1600" cap="small" spc="-95" dirty="0">
                <a:solidFill>
                  <a:schemeClr val="bg1"/>
                </a:solidFill>
                <a:latin typeface="Times New Roman" panose="02020603050405020304" pitchFamily="18" charset="0"/>
                <a:cs typeface="Times New Roman" panose="02020603050405020304" pitchFamily="18" charset="0"/>
              </a:rPr>
              <a:t>)                                            </a:t>
            </a:r>
            <a:r>
              <a:rPr lang="en-US" sz="1600" cap="small" spc="-95" dirty="0" err="1">
                <a:solidFill>
                  <a:schemeClr val="bg1"/>
                </a:solidFill>
                <a:latin typeface="Times New Roman" panose="02020603050405020304" pitchFamily="18" charset="0"/>
                <a:cs typeface="Times New Roman" panose="02020603050405020304" pitchFamily="18" charset="0"/>
              </a:rPr>
              <a:t>Srinivasa</a:t>
            </a:r>
            <a:r>
              <a:rPr lang="en-US" sz="1600" cap="small" spc="-95" dirty="0">
                <a:solidFill>
                  <a:schemeClr val="bg1"/>
                </a:solidFill>
                <a:latin typeface="Times New Roman" panose="02020603050405020304" pitchFamily="18" charset="0"/>
                <a:cs typeface="Times New Roman" panose="02020603050405020304" pitchFamily="18" charset="0"/>
              </a:rPr>
              <a:t> </a:t>
            </a:r>
            <a:r>
              <a:rPr lang="en-US" sz="1600" cap="small" spc="-95" dirty="0" err="1">
                <a:solidFill>
                  <a:schemeClr val="bg1"/>
                </a:solidFill>
                <a:latin typeface="Times New Roman" panose="02020603050405020304" pitchFamily="18" charset="0"/>
                <a:cs typeface="Times New Roman" panose="02020603050405020304" pitchFamily="18" charset="0"/>
              </a:rPr>
              <a:t>Ramanujan</a:t>
            </a:r>
            <a:r>
              <a:rPr lang="en-US" sz="1600" cap="small" spc="-95" dirty="0">
                <a:solidFill>
                  <a:schemeClr val="bg1"/>
                </a:solidFill>
                <a:latin typeface="Times New Roman" panose="02020603050405020304" pitchFamily="18" charset="0"/>
                <a:cs typeface="Times New Roman" panose="02020603050405020304" pitchFamily="18" charset="0"/>
              </a:rPr>
              <a:t> Institute of Technology                    </a:t>
            </a:r>
            <a:r>
              <a:rPr lang="en-US" sz="1600" b="1" cap="small" spc="-95" dirty="0">
                <a:solidFill>
                  <a:schemeClr val="tx1"/>
                </a:solidFill>
                <a:latin typeface="Times New Roman" panose="02020603050405020304" pitchFamily="18" charset="0"/>
                <a:cs typeface="Times New Roman" panose="02020603050405020304" pitchFamily="18" charset="0"/>
              </a:rPr>
              <a:t>5</a:t>
            </a:r>
            <a:endParaRPr lang="en-US" sz="1600" b="1" cap="small" spc="-95"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6814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1783" y="216248"/>
            <a:ext cx="8468817" cy="689932"/>
          </a:xfrm>
          <a:prstGeom prst="rect">
            <a:avLst/>
          </a:prstGeom>
        </p:spPr>
        <p:txBody>
          <a:bodyPr vert="horz" wrap="square" lIns="0" tIns="12700" rIns="0" bIns="0" rtlCol="0">
            <a:spAutoFit/>
          </a:bodyPr>
          <a:lstStyle/>
          <a:p>
            <a:pPr marL="12700">
              <a:lnSpc>
                <a:spcPct val="100000"/>
              </a:lnSpc>
              <a:spcBef>
                <a:spcPts val="100"/>
              </a:spcBef>
            </a:pPr>
            <a:r>
              <a:rPr dirty="0"/>
              <a:t>Literature</a:t>
            </a:r>
            <a:r>
              <a:rPr spc="-50" dirty="0"/>
              <a:t> </a:t>
            </a:r>
            <a:r>
              <a:rPr spc="-10" dirty="0"/>
              <a:t>Survey</a:t>
            </a:r>
            <a:r>
              <a:rPr lang="en-US" spc="-10" dirty="0"/>
              <a:t> </a:t>
            </a:r>
            <a:r>
              <a:rPr lang="en-US" spc="-10" dirty="0" smtClean="0"/>
              <a:t>for Objectives</a:t>
            </a:r>
            <a:endParaRPr spc="-10" dirty="0"/>
          </a:p>
        </p:txBody>
      </p:sp>
      <p:sp>
        <p:nvSpPr>
          <p:cNvPr id="8" name="object 8"/>
          <p:cNvSpPr txBox="1">
            <a:spLocks noGrp="1"/>
          </p:cNvSpPr>
          <p:nvPr>
            <p:ph type="ftr" sz="quarter" idx="5"/>
          </p:nvPr>
        </p:nvSpPr>
        <p:spPr>
          <a:xfrm>
            <a:off x="104577" y="6640376"/>
            <a:ext cx="582036" cy="230832"/>
          </a:xfrm>
          <a:prstGeom prst="rect">
            <a:avLst/>
          </a:prstGeom>
        </p:spPr>
        <p:txBody>
          <a:bodyPr vert="horz" wrap="square" lIns="0" tIns="0" rIns="0" bIns="0" rtlCol="0" anchor="t">
            <a:spAutoFit/>
          </a:bodyPr>
          <a:lstStyle/>
          <a:p>
            <a:pPr marL="12700">
              <a:lnSpc>
                <a:spcPts val="1845"/>
              </a:lnSpc>
            </a:pPr>
            <a:r>
              <a:rPr lang="en-IN" spc="-25" dirty="0"/>
              <a:t>B -16</a:t>
            </a:r>
            <a:endParaRPr spc="-25" dirty="0"/>
          </a:p>
        </p:txBody>
      </p:sp>
      <p:sp>
        <p:nvSpPr>
          <p:cNvPr id="9" name="object 9"/>
          <p:cNvSpPr txBox="1">
            <a:spLocks noGrp="1"/>
          </p:cNvSpPr>
          <p:nvPr>
            <p:ph type="dt" sz="half" idx="6"/>
          </p:nvPr>
        </p:nvSpPr>
        <p:spPr>
          <a:xfrm>
            <a:off x="1123125" y="6629792"/>
            <a:ext cx="4962525" cy="461665"/>
          </a:xfrm>
          <a:prstGeom prst="rect">
            <a:avLst/>
          </a:prstGeom>
        </p:spPr>
        <p:txBody>
          <a:bodyPr vert="horz" wrap="square" lIns="0" tIns="0" rIns="0" bIns="0" rtlCol="0">
            <a:spAutoFit/>
          </a:bodyPr>
          <a:lstStyle/>
          <a:p>
            <a:pPr marL="12700">
              <a:lnSpc>
                <a:spcPts val="1845"/>
              </a:lnSpc>
            </a:pPr>
            <a:r>
              <a:rPr lang="en-US" cap="small" spc="-75" dirty="0"/>
              <a:t>Dept.</a:t>
            </a:r>
            <a:r>
              <a:rPr lang="en-US" cap="small" spc="-10" dirty="0"/>
              <a:t> </a:t>
            </a:r>
            <a:r>
              <a:rPr lang="en-US" cap="small" spc="-100" dirty="0"/>
              <a:t>of</a:t>
            </a:r>
            <a:r>
              <a:rPr lang="en-US" cap="small" spc="25" dirty="0"/>
              <a:t> </a:t>
            </a:r>
            <a:r>
              <a:rPr lang="en-US" cap="small" spc="-114" dirty="0"/>
              <a:t>Computer</a:t>
            </a:r>
            <a:r>
              <a:rPr lang="en-US" cap="small" spc="50" dirty="0"/>
              <a:t> </a:t>
            </a:r>
            <a:r>
              <a:rPr lang="en-US" cap="small" spc="-95" dirty="0"/>
              <a:t>Science</a:t>
            </a:r>
            <a:r>
              <a:rPr lang="en-US" cap="small" spc="50" dirty="0"/>
              <a:t> </a:t>
            </a:r>
            <a:r>
              <a:rPr lang="en-US" cap="small" spc="-130" dirty="0"/>
              <a:t>and</a:t>
            </a:r>
            <a:r>
              <a:rPr lang="en-US" cap="small" spc="45" dirty="0"/>
              <a:t> </a:t>
            </a:r>
            <a:r>
              <a:rPr lang="en-US" cap="small" spc="-110" dirty="0"/>
              <a:t>Engineering</a:t>
            </a:r>
            <a:r>
              <a:rPr lang="en-US" cap="small" spc="45" dirty="0"/>
              <a:t> </a:t>
            </a:r>
            <a:r>
              <a:rPr lang="en-US" cap="small" spc="-70" dirty="0"/>
              <a:t>(</a:t>
            </a:r>
            <a:r>
              <a:rPr lang="en-US" cap="small" spc="-70" dirty="0" err="1"/>
              <a:t>AI&amp;ml</a:t>
            </a:r>
            <a:r>
              <a:rPr lang="en-US" cap="small" spc="-95" dirty="0"/>
              <a:t>)</a:t>
            </a:r>
          </a:p>
          <a:p>
            <a:pPr marL="12700">
              <a:lnSpc>
                <a:spcPts val="1845"/>
              </a:lnSpc>
            </a:pPr>
            <a:endParaRPr cap="small" spc="-95" dirty="0"/>
          </a:p>
        </p:txBody>
      </p:sp>
      <p:sp>
        <p:nvSpPr>
          <p:cNvPr id="10" name="object 10"/>
          <p:cNvSpPr txBox="1"/>
          <p:nvPr/>
        </p:nvSpPr>
        <p:spPr>
          <a:xfrm>
            <a:off x="6749909" y="6640376"/>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6</a:t>
            </a:fld>
            <a:endParaRPr spc="-25" dirty="0"/>
          </a:p>
        </p:txBody>
      </p:sp>
      <p:graphicFrame>
        <p:nvGraphicFramePr>
          <p:cNvPr id="7" name="object 7"/>
          <p:cNvGraphicFramePr>
            <a:graphicFrameLocks noGrp="1"/>
          </p:cNvGraphicFramePr>
          <p:nvPr>
            <p:extLst>
              <p:ext uri="{D42A27DB-BD31-4B8C-83A1-F6EECF244321}">
                <p14:modId xmlns:p14="http://schemas.microsoft.com/office/powerpoint/2010/main" val="3637319960"/>
              </p:ext>
            </p:extLst>
          </p:nvPr>
        </p:nvGraphicFramePr>
        <p:xfrm>
          <a:off x="141783" y="1022958"/>
          <a:ext cx="11212015" cy="3864621"/>
        </p:xfrm>
        <a:graphic>
          <a:graphicData uri="http://schemas.openxmlformats.org/drawingml/2006/table">
            <a:tbl>
              <a:tblPr firstRow="1" bandRow="1">
                <a:tableStyleId>{5C22544A-7EE6-4342-B048-85BDC9FD1C3A}</a:tableStyleId>
              </a:tblPr>
              <a:tblGrid>
                <a:gridCol w="28481">
                  <a:extLst>
                    <a:ext uri="{9D8B030D-6E8A-4147-A177-3AD203B41FA5}">
                      <a16:colId xmlns:a16="http://schemas.microsoft.com/office/drawing/2014/main" xmlns="" val="20000"/>
                    </a:ext>
                  </a:extLst>
                </a:gridCol>
                <a:gridCol w="2075001">
                  <a:extLst>
                    <a:ext uri="{9D8B030D-6E8A-4147-A177-3AD203B41FA5}">
                      <a16:colId xmlns:a16="http://schemas.microsoft.com/office/drawing/2014/main" xmlns="" val="20001"/>
                    </a:ext>
                  </a:extLst>
                </a:gridCol>
                <a:gridCol w="1522006">
                  <a:extLst>
                    <a:ext uri="{9D8B030D-6E8A-4147-A177-3AD203B41FA5}">
                      <a16:colId xmlns:a16="http://schemas.microsoft.com/office/drawing/2014/main" xmlns="" val="20002"/>
                    </a:ext>
                  </a:extLst>
                </a:gridCol>
                <a:gridCol w="1527714">
                  <a:extLst>
                    <a:ext uri="{9D8B030D-6E8A-4147-A177-3AD203B41FA5}">
                      <a16:colId xmlns:a16="http://schemas.microsoft.com/office/drawing/2014/main" xmlns="" val="20003"/>
                    </a:ext>
                  </a:extLst>
                </a:gridCol>
                <a:gridCol w="1907762">
                  <a:extLst>
                    <a:ext uri="{9D8B030D-6E8A-4147-A177-3AD203B41FA5}">
                      <a16:colId xmlns:a16="http://schemas.microsoft.com/office/drawing/2014/main" xmlns="" val="20004"/>
                    </a:ext>
                  </a:extLst>
                </a:gridCol>
                <a:gridCol w="2203259">
                  <a:extLst>
                    <a:ext uri="{9D8B030D-6E8A-4147-A177-3AD203B41FA5}">
                      <a16:colId xmlns:a16="http://schemas.microsoft.com/office/drawing/2014/main" xmlns="" val="20005"/>
                    </a:ext>
                  </a:extLst>
                </a:gridCol>
                <a:gridCol w="1947792">
                  <a:extLst>
                    <a:ext uri="{9D8B030D-6E8A-4147-A177-3AD203B41FA5}">
                      <a16:colId xmlns:a16="http://schemas.microsoft.com/office/drawing/2014/main" xmlns="" val="20006"/>
                    </a:ext>
                  </a:extLst>
                </a:gridCol>
              </a:tblGrid>
              <a:tr h="689426">
                <a:tc>
                  <a:txBody>
                    <a:bodyPr/>
                    <a:lstStyle/>
                    <a:p>
                      <a:pPr marL="85725">
                        <a:lnSpc>
                          <a:spcPct val="100000"/>
                        </a:lnSpc>
                        <a:spcBef>
                          <a:spcPts val="225"/>
                        </a:spcBef>
                      </a:pPr>
                      <a:r>
                        <a:rPr sz="1800" b="1" spc="-25" dirty="0">
                          <a:solidFill>
                            <a:srgbClr val="FFFFFF"/>
                          </a:solidFill>
                        </a:rPr>
                        <a:t>No</a:t>
                      </a:r>
                      <a:endParaRPr sz="1800" dirty="0">
                        <a:latin typeface="Calibri"/>
                        <a:cs typeface="Calibri"/>
                      </a:endParaRPr>
                    </a:p>
                  </a:txBody>
                  <a:tcPr marL="0" marR="0" marT="28575" marB="0"/>
                </a:tc>
                <a:tc>
                  <a:txBody>
                    <a:bodyPr/>
                    <a:lstStyle/>
                    <a:p>
                      <a:pPr marL="85725">
                        <a:lnSpc>
                          <a:spcPct val="100000"/>
                        </a:lnSpc>
                        <a:spcBef>
                          <a:spcPts val="225"/>
                        </a:spcBef>
                      </a:pPr>
                      <a:r>
                        <a:rPr sz="1800" b="1" spc="-10" dirty="0">
                          <a:solidFill>
                            <a:srgbClr val="FFFFFF"/>
                          </a:solidFill>
                        </a:rPr>
                        <a:t>Title</a:t>
                      </a:r>
                      <a:endParaRPr sz="1800" dirty="0">
                        <a:latin typeface="Calibri"/>
                        <a:cs typeface="Calibri"/>
                      </a:endParaRPr>
                    </a:p>
                  </a:txBody>
                  <a:tcPr marL="0" marR="0" marT="28575" marB="0"/>
                </a:tc>
                <a:tc>
                  <a:txBody>
                    <a:bodyPr/>
                    <a:lstStyle/>
                    <a:p>
                      <a:pPr marL="85725">
                        <a:lnSpc>
                          <a:spcPct val="100000"/>
                        </a:lnSpc>
                        <a:spcBef>
                          <a:spcPts val="225"/>
                        </a:spcBef>
                      </a:pPr>
                      <a:r>
                        <a:rPr sz="1800" b="1" spc="-10" dirty="0">
                          <a:solidFill>
                            <a:srgbClr val="FFFFFF"/>
                          </a:solidFill>
                        </a:rPr>
                        <a:t>Author</a:t>
                      </a:r>
                      <a:endParaRPr sz="1800" dirty="0">
                        <a:latin typeface="Calibri"/>
                        <a:cs typeface="Calibri"/>
                      </a:endParaRPr>
                    </a:p>
                  </a:txBody>
                  <a:tcPr marL="0" marR="0" marT="28575" marB="0"/>
                </a:tc>
                <a:tc>
                  <a:txBody>
                    <a:bodyPr/>
                    <a:lstStyle/>
                    <a:p>
                      <a:pPr marL="85725" marR="137160">
                        <a:lnSpc>
                          <a:spcPct val="100000"/>
                        </a:lnSpc>
                        <a:spcBef>
                          <a:spcPts val="225"/>
                        </a:spcBef>
                      </a:pPr>
                      <a:r>
                        <a:rPr sz="1800" b="1" dirty="0">
                          <a:solidFill>
                            <a:srgbClr val="FFFFFF"/>
                          </a:solidFill>
                        </a:rPr>
                        <a:t>Journal</a:t>
                      </a:r>
                      <a:r>
                        <a:rPr sz="1800" b="1" spc="-35" dirty="0">
                          <a:solidFill>
                            <a:srgbClr val="FFFFFF"/>
                          </a:solidFill>
                        </a:rPr>
                        <a:t> </a:t>
                      </a:r>
                      <a:r>
                        <a:rPr sz="1800" b="1" spc="-20" dirty="0">
                          <a:solidFill>
                            <a:srgbClr val="FFFFFF"/>
                          </a:solidFill>
                        </a:rPr>
                        <a:t>Name </a:t>
                      </a:r>
                      <a:r>
                        <a:rPr sz="1800" b="1" dirty="0">
                          <a:solidFill>
                            <a:srgbClr val="FFFFFF"/>
                          </a:solidFill>
                        </a:rPr>
                        <a:t>&amp;</a:t>
                      </a:r>
                      <a:r>
                        <a:rPr sz="1800" b="1" spc="-5" dirty="0">
                          <a:solidFill>
                            <a:srgbClr val="FFFFFF"/>
                          </a:solidFill>
                        </a:rPr>
                        <a:t> </a:t>
                      </a:r>
                      <a:r>
                        <a:rPr sz="1800" b="1" spc="-20" dirty="0">
                          <a:solidFill>
                            <a:srgbClr val="FFFFFF"/>
                          </a:solidFill>
                        </a:rPr>
                        <a:t>Year</a:t>
                      </a:r>
                      <a:endParaRPr sz="1800">
                        <a:latin typeface="Calibri"/>
                        <a:cs typeface="Calibri"/>
                      </a:endParaRPr>
                    </a:p>
                  </a:txBody>
                  <a:tcPr marL="0" marR="0" marT="28575" marB="0"/>
                </a:tc>
                <a:tc>
                  <a:txBody>
                    <a:bodyPr/>
                    <a:lstStyle/>
                    <a:p>
                      <a:pPr marL="85090" marR="521334">
                        <a:lnSpc>
                          <a:spcPct val="100000"/>
                        </a:lnSpc>
                        <a:spcBef>
                          <a:spcPts val="225"/>
                        </a:spcBef>
                      </a:pPr>
                      <a:r>
                        <a:rPr sz="1800" b="1" spc="-10" dirty="0">
                          <a:solidFill>
                            <a:srgbClr val="FFFFFF"/>
                          </a:solidFill>
                        </a:rPr>
                        <a:t>Methodology Adapted</a:t>
                      </a:r>
                      <a:endParaRPr sz="1800">
                        <a:latin typeface="Calibri"/>
                        <a:cs typeface="Calibri"/>
                      </a:endParaRPr>
                    </a:p>
                  </a:txBody>
                  <a:tcPr marL="0" marR="0" marT="28575" marB="0"/>
                </a:tc>
                <a:tc>
                  <a:txBody>
                    <a:bodyPr/>
                    <a:lstStyle/>
                    <a:p>
                      <a:pPr marL="85725">
                        <a:lnSpc>
                          <a:spcPct val="100000"/>
                        </a:lnSpc>
                        <a:spcBef>
                          <a:spcPts val="225"/>
                        </a:spcBef>
                      </a:pPr>
                      <a:r>
                        <a:rPr sz="1800" b="1" dirty="0">
                          <a:solidFill>
                            <a:srgbClr val="FFFFFF"/>
                          </a:solidFill>
                        </a:rPr>
                        <a:t>Key</a:t>
                      </a:r>
                      <a:r>
                        <a:rPr sz="1800" b="1" spc="-25" dirty="0">
                          <a:solidFill>
                            <a:srgbClr val="FFFFFF"/>
                          </a:solidFill>
                        </a:rPr>
                        <a:t> </a:t>
                      </a:r>
                      <a:r>
                        <a:rPr sz="1800" b="1" spc="-10" dirty="0">
                          <a:solidFill>
                            <a:srgbClr val="FFFFFF"/>
                          </a:solidFill>
                        </a:rPr>
                        <a:t>Findings</a:t>
                      </a:r>
                      <a:endParaRPr sz="1800">
                        <a:latin typeface="Calibri"/>
                        <a:cs typeface="Calibri"/>
                      </a:endParaRPr>
                    </a:p>
                  </a:txBody>
                  <a:tcPr marL="0" marR="0" marT="28575" marB="0"/>
                </a:tc>
                <a:tc>
                  <a:txBody>
                    <a:bodyPr/>
                    <a:lstStyle/>
                    <a:p>
                      <a:pPr marL="85725">
                        <a:lnSpc>
                          <a:spcPct val="100000"/>
                        </a:lnSpc>
                        <a:spcBef>
                          <a:spcPts val="225"/>
                        </a:spcBef>
                      </a:pPr>
                      <a:r>
                        <a:rPr sz="1800" b="1" spc="-20" dirty="0">
                          <a:solidFill>
                            <a:srgbClr val="FFFFFF"/>
                          </a:solidFill>
                        </a:rPr>
                        <a:t>Gaps</a:t>
                      </a:r>
                      <a:endParaRPr sz="1800">
                        <a:latin typeface="Calibri"/>
                        <a:cs typeface="Calibri"/>
                      </a:endParaRPr>
                    </a:p>
                  </a:txBody>
                  <a:tcPr marL="0" marR="0" marT="28575" marB="0"/>
                </a:tc>
                <a:extLst>
                  <a:ext uri="{0D108BD9-81ED-4DB2-BD59-A6C34878D82A}">
                    <a16:rowId xmlns:a16="http://schemas.microsoft.com/office/drawing/2014/main" xmlns="" val="10000"/>
                  </a:ext>
                </a:extLst>
              </a:tr>
              <a:tr h="1593491">
                <a:tc>
                  <a:txBody>
                    <a:bodyPr/>
                    <a:lstStyle/>
                    <a:p>
                      <a:pPr marL="85725">
                        <a:lnSpc>
                          <a:spcPct val="100000"/>
                        </a:lnSpc>
                        <a:spcBef>
                          <a:spcPts val="225"/>
                        </a:spcBef>
                      </a:pPr>
                      <a:r>
                        <a:rPr sz="1800" spc="-25" dirty="0"/>
                        <a:t>1.</a:t>
                      </a:r>
                      <a:endParaRPr sz="1800">
                        <a:latin typeface="Calibri"/>
                        <a:cs typeface="Calibri"/>
                      </a:endParaRPr>
                    </a:p>
                  </a:txBody>
                  <a:tcPr marL="0" marR="0" marT="28575" marB="0"/>
                </a:tc>
                <a:tc>
                  <a:txBody>
                    <a:bodyPr/>
                    <a:lstStyle/>
                    <a:p>
                      <a:pPr marL="85725" marR="172720" lvl="0">
                        <a:lnSpc>
                          <a:spcPct val="100000"/>
                        </a:lnSpc>
                        <a:spcBef>
                          <a:spcPts val="225"/>
                        </a:spcBef>
                        <a:buNone/>
                      </a:pPr>
                      <a:r>
                        <a:rPr lang="en-US" sz="1400" dirty="0"/>
                        <a:t>Improving Digital Forensic Security: A Secure Storage Model with Authentication and Optimal Key Generation based Encryption</a:t>
                      </a:r>
                      <a:endParaRPr lang="en-US" sz="1400" dirty="0">
                        <a:latin typeface="Times New Roman"/>
                      </a:endParaRPr>
                    </a:p>
                  </a:txBody>
                  <a:tcPr marL="0" marR="0" marT="28575" marB="0"/>
                </a:tc>
                <a:tc>
                  <a:txBody>
                    <a:bodyPr/>
                    <a:lstStyle/>
                    <a:p>
                      <a:pPr marL="85725" marR="504825" lvl="0">
                        <a:lnSpc>
                          <a:spcPct val="100000"/>
                        </a:lnSpc>
                        <a:spcBef>
                          <a:spcPts val="225"/>
                        </a:spcBef>
                        <a:buNone/>
                      </a:pPr>
                      <a:r>
                        <a:rPr lang="en-US" sz="1400" dirty="0"/>
                        <a:t>Abdullah </a:t>
                      </a:r>
                      <a:r>
                        <a:rPr lang="en-US" sz="1400" dirty="0" err="1"/>
                        <a:t>Mujawib</a:t>
                      </a:r>
                      <a:r>
                        <a:rPr lang="en-US" sz="1400" dirty="0"/>
                        <a:t> </a:t>
                      </a:r>
                      <a:r>
                        <a:rPr lang="en-US" sz="1400" dirty="0" err="1"/>
                        <a:t>Alashjaee</a:t>
                      </a:r>
                      <a:r>
                        <a:rPr lang="en-US" sz="1400" dirty="0"/>
                        <a:t>, </a:t>
                      </a:r>
                      <a:r>
                        <a:rPr lang="en-US" sz="1400" dirty="0" err="1"/>
                        <a:t>Fahad</a:t>
                      </a:r>
                      <a:r>
                        <a:rPr lang="en-US" sz="1400" dirty="0"/>
                        <a:t> </a:t>
                      </a:r>
                      <a:r>
                        <a:rPr lang="en-US" sz="1400" dirty="0" err="1"/>
                        <a:t>Alqahtani</a:t>
                      </a:r>
                      <a:endParaRPr sz="1400" dirty="0">
                        <a:latin typeface="Times New Roman"/>
                        <a:cs typeface="Calibri"/>
                      </a:endParaRPr>
                    </a:p>
                  </a:txBody>
                  <a:tcPr marL="0" marR="0" marT="28575" marB="0"/>
                </a:tc>
                <a:tc>
                  <a:txBody>
                    <a:bodyPr/>
                    <a:lstStyle/>
                    <a:p>
                      <a:pPr marL="85725" marR="103505" lvl="0">
                        <a:lnSpc>
                          <a:spcPct val="100000"/>
                        </a:lnSpc>
                        <a:spcBef>
                          <a:spcPts val="225"/>
                        </a:spcBef>
                        <a:buNone/>
                      </a:pPr>
                      <a:r>
                        <a:rPr lang="en-US" sz="1400" spc="-10" dirty="0"/>
                        <a:t>IEEE Access, 2024</a:t>
                      </a:r>
                      <a:endParaRPr sz="1400" spc="-10" dirty="0">
                        <a:latin typeface="Times New Roman" panose="02020603050405020304" pitchFamily="18" charset="0"/>
                        <a:cs typeface="Times New Roman" panose="02020603050405020304" pitchFamily="18" charset="0"/>
                      </a:endParaRPr>
                    </a:p>
                  </a:txBody>
                  <a:tcPr marL="0" marR="0" marT="28575" marB="0"/>
                </a:tc>
                <a:tc>
                  <a:txBody>
                    <a:bodyPr/>
                    <a:lstStyle/>
                    <a:p>
                      <a:pPr marL="85090" marR="462915">
                        <a:lnSpc>
                          <a:spcPct val="100000"/>
                        </a:lnSpc>
                        <a:spcBef>
                          <a:spcPts val="225"/>
                        </a:spcBef>
                      </a:pPr>
                      <a:r>
                        <a:rPr lang="en-US" sz="1400" dirty="0" err="1"/>
                        <a:t>Blockchain</a:t>
                      </a:r>
                      <a:r>
                        <a:rPr lang="en-US" sz="1400" dirty="0"/>
                        <a:t>-based decentralized storage, SBVM authentication, EEO-based key generation, Multi-Key </a:t>
                      </a:r>
                      <a:r>
                        <a:rPr lang="en-US" sz="1400" dirty="0" err="1"/>
                        <a:t>Homomorphic</a:t>
                      </a:r>
                      <a:r>
                        <a:rPr lang="en-US" sz="1400" dirty="0"/>
                        <a:t> Encryption</a:t>
                      </a:r>
                      <a:endParaRPr sz="1400" dirty="0">
                        <a:latin typeface="Times New Roman"/>
                        <a:cs typeface="Calibri"/>
                      </a:endParaRPr>
                    </a:p>
                  </a:txBody>
                  <a:tcPr marL="0" marR="0" marT="28575" marB="0"/>
                </a:tc>
                <a:tc>
                  <a:txBody>
                    <a:bodyPr/>
                    <a:lstStyle/>
                    <a:p>
                      <a:pPr marL="85725" marR="192405">
                        <a:lnSpc>
                          <a:spcPct val="100000"/>
                        </a:lnSpc>
                        <a:spcBef>
                          <a:spcPts val="225"/>
                        </a:spcBef>
                      </a:pPr>
                      <a:r>
                        <a:rPr lang="en-US" sz="1400" b="0" u="none" strike="noStrike" spc="-10" noProof="0" dirty="0"/>
                        <a:t>Improved security, authentication, and integrity of forensic data in cloud environments</a:t>
                      </a:r>
                      <a:endParaRPr sz="1400" b="0" i="0" u="none" strike="noStrike" spc="-10" noProof="0" dirty="0">
                        <a:latin typeface="Times New Roman"/>
                      </a:endParaRPr>
                    </a:p>
                  </a:txBody>
                  <a:tcPr marL="0" marR="0" marT="28575" marB="0"/>
                </a:tc>
                <a:tc>
                  <a:txBody>
                    <a:bodyPr/>
                    <a:lstStyle/>
                    <a:p>
                      <a:pPr marL="85725" marR="348615" lvl="0" algn="l">
                        <a:lnSpc>
                          <a:spcPct val="100000"/>
                        </a:lnSpc>
                        <a:spcBef>
                          <a:spcPts val="225"/>
                        </a:spcBef>
                        <a:buNone/>
                      </a:pPr>
                      <a:r>
                        <a:rPr lang="en-US" sz="1400" dirty="0"/>
                        <a:t>High computational overhead, complex encryption, lacks lightweight and practical implementation</a:t>
                      </a:r>
                      <a:endParaRPr sz="1400" dirty="0">
                        <a:latin typeface="Times New Roman" panose="02020603050405020304" pitchFamily="18" charset="0"/>
                        <a:cs typeface="Times New Roman" panose="02020603050405020304" pitchFamily="18" charset="0"/>
                      </a:endParaRPr>
                    </a:p>
                  </a:txBody>
                  <a:tcPr marL="0" marR="0" marT="28575" marB="0"/>
                </a:tc>
                <a:extLst>
                  <a:ext uri="{0D108BD9-81ED-4DB2-BD59-A6C34878D82A}">
                    <a16:rowId xmlns:a16="http://schemas.microsoft.com/office/drawing/2014/main" xmlns="" val="10001"/>
                  </a:ext>
                </a:extLst>
              </a:tr>
              <a:tr h="1439740">
                <a:tc>
                  <a:txBody>
                    <a:bodyPr/>
                    <a:lstStyle/>
                    <a:p>
                      <a:pPr marL="85725">
                        <a:lnSpc>
                          <a:spcPct val="100000"/>
                        </a:lnSpc>
                        <a:spcBef>
                          <a:spcPts val="225"/>
                        </a:spcBef>
                      </a:pPr>
                      <a:r>
                        <a:rPr sz="1800" spc="-50" dirty="0"/>
                        <a:t>2</a:t>
                      </a:r>
                      <a:endParaRPr sz="1800">
                        <a:latin typeface="Calibri"/>
                        <a:cs typeface="Calibri"/>
                      </a:endParaRPr>
                    </a:p>
                  </a:txBody>
                  <a:tcPr marL="0" marR="0" marT="28575" marB="0"/>
                </a:tc>
                <a:tc>
                  <a:txBody>
                    <a:bodyPr/>
                    <a:lstStyle/>
                    <a:p>
                      <a:pPr lvl="0">
                        <a:lnSpc>
                          <a:spcPct val="100000"/>
                        </a:lnSpc>
                        <a:buNone/>
                      </a:pPr>
                      <a:r>
                        <a:rPr lang="en-US" sz="1400" dirty="0"/>
                        <a:t>A Novel </a:t>
                      </a:r>
                      <a:r>
                        <a:rPr lang="en-US" sz="1400" dirty="0" err="1"/>
                        <a:t>Blockchain</a:t>
                      </a:r>
                      <a:r>
                        <a:rPr lang="en-US" sz="1400" dirty="0"/>
                        <a:t> Framework for Digital Forensics in Cloud Environment</a:t>
                      </a:r>
                      <a:endParaRPr lang="en-US" sz="1400" dirty="0">
                        <a:latin typeface="Times New Roman"/>
                      </a:endParaRPr>
                    </a:p>
                  </a:txBody>
                  <a:tcPr marL="0" marR="0" marT="0" marB="0"/>
                </a:tc>
                <a:tc>
                  <a:txBody>
                    <a:bodyPr/>
                    <a:lstStyle/>
                    <a:p>
                      <a:pPr lvl="0">
                        <a:lnSpc>
                          <a:spcPct val="100000"/>
                        </a:lnSpc>
                        <a:buNone/>
                      </a:pPr>
                      <a:r>
                        <a:rPr lang="fi-FI" sz="1400" dirty="0"/>
                        <a:t>Apirajitha &amp; Devi</a:t>
                      </a:r>
                      <a:endParaRPr sz="1400" dirty="0">
                        <a:latin typeface="Times New Roman"/>
                      </a:endParaRPr>
                    </a:p>
                  </a:txBody>
                  <a:tcPr marL="0" marR="0" marT="0" marB="0"/>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400" dirty="0"/>
                        <a:t>Wireless Personal Communications, 2023</a:t>
                      </a:r>
                      <a:endParaRPr sz="1400" dirty="0">
                        <a:latin typeface="Times New Roman"/>
                      </a:endParaRPr>
                    </a:p>
                  </a:txBody>
                  <a:tcPr marL="0" marR="0" marT="0" marB="0"/>
                </a:tc>
                <a:tc>
                  <a:txBody>
                    <a:bodyPr/>
                    <a:lstStyle/>
                    <a:p>
                      <a:pPr lvl="0">
                        <a:lnSpc>
                          <a:spcPct val="100000"/>
                        </a:lnSpc>
                        <a:buNone/>
                      </a:pPr>
                      <a:r>
                        <a:rPr lang="en-US" sz="1400" dirty="0" err="1"/>
                        <a:t>Blockchain</a:t>
                      </a:r>
                      <a:r>
                        <a:rPr lang="en-US" sz="1400" dirty="0"/>
                        <a:t> with optimization algorithms for forensic data protection</a:t>
                      </a:r>
                      <a:endParaRPr sz="1400" dirty="0">
                        <a:latin typeface="Times New Roman"/>
                      </a:endParaRPr>
                    </a:p>
                  </a:txBody>
                  <a:tcPr marL="0" marR="0" marT="0" marB="0"/>
                </a:tc>
                <a:tc>
                  <a:txBody>
                    <a:bodyPr/>
                    <a:lstStyle/>
                    <a:p>
                      <a:pPr lvl="0">
                        <a:lnSpc>
                          <a:spcPct val="100000"/>
                        </a:lnSpc>
                        <a:buNone/>
                      </a:pPr>
                      <a:r>
                        <a:rPr lang="en-IN" sz="1400" dirty="0"/>
                        <a:t> </a:t>
                      </a:r>
                      <a:r>
                        <a:rPr lang="en-US" sz="1400" dirty="0"/>
                        <a:t>Improved evidence traceability and integrity</a:t>
                      </a:r>
                      <a:endParaRPr sz="1400" dirty="0">
                        <a:latin typeface="Times New Roman"/>
                      </a:endParaRPr>
                    </a:p>
                  </a:txBody>
                  <a:tcPr marL="0" marR="0" marT="0" marB="0"/>
                </a:tc>
                <a:tc>
                  <a:txBody>
                    <a:bodyPr/>
                    <a:lstStyle/>
                    <a:p>
                      <a:pPr lvl="0">
                        <a:lnSpc>
                          <a:spcPct val="100000"/>
                        </a:lnSpc>
                        <a:buNone/>
                      </a:pPr>
                      <a:r>
                        <a:rPr lang="en-US" sz="1400" b="0" u="none" strike="noStrike" noProof="0" dirty="0"/>
                        <a:t> Lacks efficient authentication and access control mechanisms</a:t>
                      </a:r>
                      <a:endParaRPr sz="1400" dirty="0">
                        <a:latin typeface="Times New Roman"/>
                      </a:endParaRPr>
                    </a:p>
                  </a:txBody>
                  <a:tcPr marL="0" marR="0" marT="0" marB="0"/>
                </a:tc>
                <a:extLst>
                  <a:ext uri="{0D108BD9-81ED-4DB2-BD59-A6C34878D82A}">
                    <a16:rowId xmlns:a16="http://schemas.microsoft.com/office/drawing/2014/main" xmlns="" val="10002"/>
                  </a:ext>
                </a:extLst>
              </a:tr>
            </a:tbl>
          </a:graphicData>
        </a:graphic>
      </p:graphicFrame>
      <p:sp>
        <p:nvSpPr>
          <p:cNvPr id="12" name="object 2">
            <a:extLst>
              <a:ext uri="{FF2B5EF4-FFF2-40B4-BE49-F238E27FC236}">
                <a16:creationId xmlns:a16="http://schemas.microsoft.com/office/drawing/2014/main" xmlns="" id="{645C9295-2517-9D36-F2D9-E747C2A3E8EA}"/>
              </a:ext>
            </a:extLst>
          </p:cNvPr>
          <p:cNvSpPr txBox="1"/>
          <p:nvPr/>
        </p:nvSpPr>
        <p:spPr>
          <a:xfrm>
            <a:off x="3337685" y="0"/>
            <a:ext cx="5006213" cy="228268"/>
          </a:xfrm>
          <a:prstGeom prst="rect">
            <a:avLst/>
          </a:prstGeom>
        </p:spPr>
        <p:txBody>
          <a:bodyPr vert="horz" wrap="square" lIns="0" tIns="12700" rIns="0" bIns="0" rtlCol="0" anchor="t">
            <a:spAutoFit/>
          </a:bodyPr>
          <a:lstStyle/>
          <a:p>
            <a:pPr marL="12700" algn="ctr">
              <a:spcBef>
                <a:spcPts val="100"/>
              </a:spcBef>
            </a:pPr>
            <a:r>
              <a:rPr lang="en-US" sz="1400" dirty="0">
                <a:solidFill>
                  <a:schemeClr val="bg1"/>
                </a:solidFill>
              </a:rPr>
              <a:t>Secure Digital Forensic Evidence Storage System</a:t>
            </a:r>
            <a:r>
              <a:rPr lang="en-US" sz="1400" dirty="0">
                <a:solidFill>
                  <a:schemeClr val="bg1"/>
                </a:solidFill>
                <a:latin typeface="Times New Roman"/>
                <a:cs typeface="Times New Roman"/>
              </a:rPr>
              <a:t>.</a:t>
            </a:r>
            <a:endParaRPr sz="1400" dirty="0">
              <a:solidFill>
                <a:schemeClr val="bg1"/>
              </a:solidFill>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483382"/>
            <a:ext cx="11201400" cy="4616648"/>
          </a:xfrm>
        </p:spPr>
        <p:txBody>
          <a:bodyPr/>
          <a:lstStyle/>
          <a:p>
            <a:pPr marL="342900" indent="-34290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To design a highly secure system</a:t>
            </a:r>
            <a:r>
              <a:rPr lang="en-US" sz="2000" dirty="0">
                <a:latin typeface="Times New Roman" panose="02020603050405020304" pitchFamily="18" charset="0"/>
                <a:cs typeface="Times New Roman" panose="02020603050405020304" pitchFamily="18" charset="0"/>
              </a:rPr>
              <a:t> for storing digital forensic evidence using advanced encryption techniques like AES-256 and ECC</a:t>
            </a:r>
            <a:r>
              <a:rPr lang="en-US" sz="2000" dirty="0" smtClean="0">
                <a:latin typeface="Times New Roman" panose="02020603050405020304" pitchFamily="18" charset="0"/>
                <a:cs typeface="Times New Roman" panose="02020603050405020304" pitchFamily="18" charset="0"/>
              </a:rPr>
              <a:t>.</a:t>
            </a:r>
          </a:p>
          <a:p>
            <a:pPr marL="342900" indent="-34290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To ensure data integrity and prevent tampering</a:t>
            </a:r>
            <a:r>
              <a:rPr lang="en-US" sz="2000" dirty="0">
                <a:latin typeface="Times New Roman" panose="02020603050405020304" pitchFamily="18" charset="0"/>
                <a:cs typeface="Times New Roman" panose="02020603050405020304" pitchFamily="18" charset="0"/>
              </a:rPr>
              <a:t> by implementing SHA-256 hashing and </a:t>
            </a:r>
            <a:r>
              <a:rPr lang="en-US" sz="2000" dirty="0" err="1">
                <a:latin typeface="Times New Roman" panose="02020603050405020304" pitchFamily="18" charset="0"/>
                <a:cs typeface="Times New Roman" panose="02020603050405020304" pitchFamily="18" charset="0"/>
              </a:rPr>
              <a:t>blockchain</a:t>
            </a:r>
            <a:r>
              <a:rPr lang="en-US" sz="2000" dirty="0">
                <a:latin typeface="Times New Roman" panose="02020603050405020304" pitchFamily="18" charset="0"/>
                <a:cs typeface="Times New Roman" panose="02020603050405020304" pitchFamily="18" charset="0"/>
              </a:rPr>
              <a:t>-based audit logging</a:t>
            </a:r>
            <a:r>
              <a:rPr lang="en-US" sz="2000" dirty="0" smtClean="0">
                <a:latin typeface="Times New Roman" panose="02020603050405020304" pitchFamily="18" charset="0"/>
                <a:cs typeface="Times New Roman" panose="02020603050405020304" pitchFamily="18" charset="0"/>
              </a:rPr>
              <a:t>.</a:t>
            </a:r>
          </a:p>
          <a:p>
            <a:pPr marL="342900" indent="-34290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To provide strong authentication and access control</a:t>
            </a:r>
            <a:r>
              <a:rPr lang="en-US" sz="2000" dirty="0">
                <a:latin typeface="Times New Roman" panose="02020603050405020304" pitchFamily="18" charset="0"/>
                <a:cs typeface="Times New Roman" panose="02020603050405020304" pitchFamily="18" charset="0"/>
              </a:rPr>
              <a:t> using Multi-Factor Authentication (MFA), JWT tokens, and Role-Based Access Control (RBAC</a:t>
            </a:r>
            <a:r>
              <a:rPr lang="en-US" sz="2000" dirty="0" smtClean="0">
                <a:latin typeface="Times New Roman" panose="02020603050405020304" pitchFamily="18" charset="0"/>
                <a:cs typeface="Times New Roman" panose="02020603050405020304" pitchFamily="18" charset="0"/>
              </a:rPr>
              <a:t>).</a:t>
            </a:r>
          </a:p>
          <a:p>
            <a:pPr marL="342900" indent="-34290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To enable secure and controlled access to evidence</a:t>
            </a:r>
            <a:r>
              <a:rPr lang="en-US" sz="2000" dirty="0">
                <a:latin typeface="Times New Roman" panose="02020603050405020304" pitchFamily="18" charset="0"/>
                <a:cs typeface="Times New Roman" panose="02020603050405020304" pitchFamily="18" charset="0"/>
              </a:rPr>
              <a:t> through a one-time decryption key mechanism with admin approval</a:t>
            </a:r>
            <a:r>
              <a:rPr lang="en-US" sz="2000" dirty="0" smtClean="0">
                <a:latin typeface="Times New Roman" panose="02020603050405020304" pitchFamily="18" charset="0"/>
                <a:cs typeface="Times New Roman" panose="02020603050405020304" pitchFamily="18" charset="0"/>
              </a:rPr>
              <a:t>.</a:t>
            </a:r>
          </a:p>
          <a:p>
            <a:pPr marL="342900" indent="-34290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To improve overall system security and performance</a:t>
            </a:r>
            <a:r>
              <a:rPr lang="en-US" sz="2000" dirty="0">
                <a:latin typeface="Times New Roman" panose="02020603050405020304" pitchFamily="18" charset="0"/>
                <a:cs typeface="Times New Roman" panose="02020603050405020304" pitchFamily="18" charset="0"/>
              </a:rPr>
              <a:t> using techniques like file fragmentation and Genetic Algorithm-based optimization.</a:t>
            </a:r>
            <a:endParaRPr lang="en-IN" sz="2000" dirty="0">
              <a:latin typeface="Times New Roman" panose="02020603050405020304" pitchFamily="18" charset="0"/>
              <a:cs typeface="Times New Roman" panose="02020603050405020304" pitchFamily="18" charset="0"/>
            </a:endParaRPr>
          </a:p>
        </p:txBody>
      </p:sp>
      <p:sp>
        <p:nvSpPr>
          <p:cNvPr id="4" name="object 5">
            <a:extLst>
              <a:ext uri="{FF2B5EF4-FFF2-40B4-BE49-F238E27FC236}">
                <a16:creationId xmlns:a16="http://schemas.microsoft.com/office/drawing/2014/main" xmlns="" id="{021057BB-8D93-F44B-B9E2-B26E2A078D57}"/>
              </a:ext>
            </a:extLst>
          </p:cNvPr>
          <p:cNvSpPr/>
          <p:nvPr/>
        </p:nvSpPr>
        <p:spPr>
          <a:xfrm>
            <a:off x="19455" y="212288"/>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152400" y="400814"/>
            <a:ext cx="5257800" cy="677108"/>
          </a:xfrm>
        </p:spPr>
        <p:txBody>
          <a:bodyPr/>
          <a:lstStyle/>
          <a:p>
            <a:r>
              <a:rPr lang="en-US" b="1" dirty="0"/>
              <a:t>Objectives</a:t>
            </a:r>
          </a:p>
        </p:txBody>
      </p:sp>
      <p:sp>
        <p:nvSpPr>
          <p:cNvPr id="5" name="Rectangle 4"/>
          <p:cNvSpPr/>
          <p:nvPr/>
        </p:nvSpPr>
        <p:spPr>
          <a:xfrm>
            <a:off x="3255646" y="-80845"/>
            <a:ext cx="5301451" cy="369332"/>
          </a:xfrm>
          <a:prstGeom prst="rect">
            <a:avLst/>
          </a:prstGeom>
        </p:spPr>
        <p:txBody>
          <a:bodyPr wrap="none">
            <a:spAutoFit/>
          </a:bodyPr>
          <a:lstStyle/>
          <a:p>
            <a:pPr marL="12700" algn="ctr">
              <a:spcBef>
                <a:spcPts val="100"/>
              </a:spcBef>
            </a:pPr>
            <a:r>
              <a:rPr lang="en-US" dirty="0">
                <a:solidFill>
                  <a:schemeClr val="bg1"/>
                </a:solidFill>
              </a:rPr>
              <a:t>Secure Digital Forensic Evidence Storage System</a:t>
            </a:r>
            <a:endParaRPr lang="en-US" dirty="0">
              <a:solidFill>
                <a:schemeClr val="bg1"/>
              </a:solidFill>
              <a:latin typeface="Times New Roman"/>
              <a:cs typeface="Times New Roman"/>
            </a:endParaRPr>
          </a:p>
        </p:txBody>
      </p:sp>
      <p:sp>
        <p:nvSpPr>
          <p:cNvPr id="6" name="Rectangle 5"/>
          <p:cNvSpPr/>
          <p:nvPr/>
        </p:nvSpPr>
        <p:spPr>
          <a:xfrm>
            <a:off x="685800" y="6553200"/>
            <a:ext cx="11963400" cy="369332"/>
          </a:xfrm>
          <a:prstGeom prst="rect">
            <a:avLst/>
          </a:prstGeom>
        </p:spPr>
        <p:txBody>
          <a:bodyPr wrap="square">
            <a:spAutoFit/>
          </a:bodyPr>
          <a:lstStyle/>
          <a:p>
            <a:r>
              <a:rPr lang="en-US" cap="small" spc="-75" dirty="0"/>
              <a:t> </a:t>
            </a:r>
            <a:r>
              <a:rPr lang="en-US" sz="1600" cap="small" spc="-75" dirty="0">
                <a:solidFill>
                  <a:schemeClr val="bg1"/>
                </a:solidFill>
                <a:latin typeface="Times New Roman" panose="02020603050405020304" pitchFamily="18" charset="0"/>
                <a:cs typeface="Times New Roman" panose="02020603050405020304" pitchFamily="18" charset="0"/>
              </a:rPr>
              <a:t>Dept.</a:t>
            </a:r>
            <a:r>
              <a:rPr lang="en-US" sz="1600" cap="small" spc="-10" dirty="0">
                <a:solidFill>
                  <a:schemeClr val="bg1"/>
                </a:solidFill>
                <a:latin typeface="Times New Roman" panose="02020603050405020304" pitchFamily="18" charset="0"/>
                <a:cs typeface="Times New Roman" panose="02020603050405020304" pitchFamily="18" charset="0"/>
              </a:rPr>
              <a:t> </a:t>
            </a:r>
            <a:r>
              <a:rPr lang="en-US" sz="1600" cap="small" spc="-100" dirty="0">
                <a:solidFill>
                  <a:schemeClr val="bg1"/>
                </a:solidFill>
                <a:latin typeface="Times New Roman" panose="02020603050405020304" pitchFamily="18" charset="0"/>
                <a:cs typeface="Times New Roman" panose="02020603050405020304" pitchFamily="18" charset="0"/>
              </a:rPr>
              <a:t>of</a:t>
            </a:r>
            <a:r>
              <a:rPr lang="en-US" sz="1600" cap="small" spc="25" dirty="0">
                <a:solidFill>
                  <a:schemeClr val="bg1"/>
                </a:solidFill>
                <a:latin typeface="Times New Roman" panose="02020603050405020304" pitchFamily="18" charset="0"/>
                <a:cs typeface="Times New Roman" panose="02020603050405020304" pitchFamily="18" charset="0"/>
              </a:rPr>
              <a:t> </a:t>
            </a:r>
            <a:r>
              <a:rPr lang="en-US" sz="1600" cap="small" spc="-114" dirty="0">
                <a:solidFill>
                  <a:schemeClr val="bg1"/>
                </a:solidFill>
                <a:latin typeface="Times New Roman" panose="02020603050405020304" pitchFamily="18" charset="0"/>
                <a:cs typeface="Times New Roman" panose="02020603050405020304" pitchFamily="18" charset="0"/>
              </a:rPr>
              <a:t>Computer</a:t>
            </a:r>
            <a:r>
              <a:rPr lang="en-US" sz="1600" cap="small" spc="50" dirty="0">
                <a:solidFill>
                  <a:schemeClr val="bg1"/>
                </a:solidFill>
                <a:latin typeface="Times New Roman" panose="02020603050405020304" pitchFamily="18" charset="0"/>
                <a:cs typeface="Times New Roman" panose="02020603050405020304" pitchFamily="18" charset="0"/>
              </a:rPr>
              <a:t> </a:t>
            </a:r>
            <a:r>
              <a:rPr lang="en-US" sz="1600" cap="small" spc="-95" dirty="0">
                <a:solidFill>
                  <a:schemeClr val="bg1"/>
                </a:solidFill>
                <a:latin typeface="Times New Roman" panose="02020603050405020304" pitchFamily="18" charset="0"/>
                <a:cs typeface="Times New Roman" panose="02020603050405020304" pitchFamily="18" charset="0"/>
              </a:rPr>
              <a:t>Science</a:t>
            </a:r>
            <a:r>
              <a:rPr lang="en-US" sz="1600" cap="small" spc="50" dirty="0">
                <a:solidFill>
                  <a:schemeClr val="bg1"/>
                </a:solidFill>
                <a:latin typeface="Times New Roman" panose="02020603050405020304" pitchFamily="18" charset="0"/>
                <a:cs typeface="Times New Roman" panose="02020603050405020304" pitchFamily="18" charset="0"/>
              </a:rPr>
              <a:t> </a:t>
            </a:r>
            <a:r>
              <a:rPr lang="en-US" sz="1600" cap="small" spc="-130" dirty="0">
                <a:solidFill>
                  <a:schemeClr val="bg1"/>
                </a:solidFill>
                <a:latin typeface="Times New Roman" panose="02020603050405020304" pitchFamily="18" charset="0"/>
                <a:cs typeface="Times New Roman" panose="02020603050405020304" pitchFamily="18" charset="0"/>
              </a:rPr>
              <a:t>and</a:t>
            </a:r>
            <a:r>
              <a:rPr lang="en-US" sz="1600" cap="small" spc="45" dirty="0">
                <a:solidFill>
                  <a:schemeClr val="bg1"/>
                </a:solidFill>
                <a:latin typeface="Times New Roman" panose="02020603050405020304" pitchFamily="18" charset="0"/>
                <a:cs typeface="Times New Roman" panose="02020603050405020304" pitchFamily="18" charset="0"/>
              </a:rPr>
              <a:t> </a:t>
            </a:r>
            <a:r>
              <a:rPr lang="en-US" sz="1600" cap="small" spc="-110" dirty="0">
                <a:solidFill>
                  <a:schemeClr val="bg1"/>
                </a:solidFill>
                <a:latin typeface="Times New Roman" panose="02020603050405020304" pitchFamily="18" charset="0"/>
                <a:cs typeface="Times New Roman" panose="02020603050405020304" pitchFamily="18" charset="0"/>
              </a:rPr>
              <a:t>Engineering</a:t>
            </a:r>
            <a:r>
              <a:rPr lang="en-US" sz="1600" cap="small" spc="45" dirty="0">
                <a:solidFill>
                  <a:schemeClr val="bg1"/>
                </a:solidFill>
                <a:latin typeface="Times New Roman" panose="02020603050405020304" pitchFamily="18" charset="0"/>
                <a:cs typeface="Times New Roman" panose="02020603050405020304" pitchFamily="18" charset="0"/>
              </a:rPr>
              <a:t> </a:t>
            </a:r>
            <a:r>
              <a:rPr lang="en-US" sz="1600" cap="small" spc="-70" dirty="0">
                <a:solidFill>
                  <a:schemeClr val="bg1"/>
                </a:solidFill>
                <a:latin typeface="Times New Roman" panose="02020603050405020304" pitchFamily="18" charset="0"/>
                <a:cs typeface="Times New Roman" panose="02020603050405020304" pitchFamily="18" charset="0"/>
              </a:rPr>
              <a:t>(</a:t>
            </a:r>
            <a:r>
              <a:rPr lang="en-US" sz="1600" cap="small" spc="-70" dirty="0" err="1">
                <a:solidFill>
                  <a:schemeClr val="bg1"/>
                </a:solidFill>
                <a:latin typeface="Times New Roman" panose="02020603050405020304" pitchFamily="18" charset="0"/>
                <a:cs typeface="Times New Roman" panose="02020603050405020304" pitchFamily="18" charset="0"/>
              </a:rPr>
              <a:t>AI&amp;ml</a:t>
            </a:r>
            <a:r>
              <a:rPr lang="en-US" sz="1600" cap="small" spc="-95" dirty="0">
                <a:solidFill>
                  <a:schemeClr val="bg1"/>
                </a:solidFill>
                <a:latin typeface="Times New Roman" panose="02020603050405020304" pitchFamily="18" charset="0"/>
                <a:cs typeface="Times New Roman" panose="02020603050405020304" pitchFamily="18" charset="0"/>
              </a:rPr>
              <a:t>)                                        </a:t>
            </a:r>
            <a:r>
              <a:rPr lang="en-US" sz="1600" cap="small" spc="-95" dirty="0" err="1">
                <a:solidFill>
                  <a:schemeClr val="bg1"/>
                </a:solidFill>
                <a:latin typeface="Times New Roman" panose="02020603050405020304" pitchFamily="18" charset="0"/>
                <a:cs typeface="Times New Roman" panose="02020603050405020304" pitchFamily="18" charset="0"/>
              </a:rPr>
              <a:t>Srinivasa</a:t>
            </a:r>
            <a:r>
              <a:rPr lang="en-US" sz="1600" cap="small" spc="-95" dirty="0">
                <a:solidFill>
                  <a:schemeClr val="bg1"/>
                </a:solidFill>
                <a:latin typeface="Times New Roman" panose="02020603050405020304" pitchFamily="18" charset="0"/>
                <a:cs typeface="Times New Roman" panose="02020603050405020304" pitchFamily="18" charset="0"/>
              </a:rPr>
              <a:t> </a:t>
            </a:r>
            <a:r>
              <a:rPr lang="en-US" sz="1600" cap="small" spc="-95" dirty="0" err="1">
                <a:solidFill>
                  <a:schemeClr val="bg1"/>
                </a:solidFill>
                <a:latin typeface="Times New Roman" panose="02020603050405020304" pitchFamily="18" charset="0"/>
                <a:cs typeface="Times New Roman" panose="02020603050405020304" pitchFamily="18" charset="0"/>
              </a:rPr>
              <a:t>Ramanujan</a:t>
            </a:r>
            <a:r>
              <a:rPr lang="en-US" sz="1600" cap="small" spc="-95" dirty="0">
                <a:solidFill>
                  <a:schemeClr val="bg1"/>
                </a:solidFill>
                <a:latin typeface="Times New Roman" panose="02020603050405020304" pitchFamily="18" charset="0"/>
                <a:cs typeface="Times New Roman" panose="02020603050405020304" pitchFamily="18" charset="0"/>
              </a:rPr>
              <a:t> Institute of Technology                              </a:t>
            </a:r>
            <a:r>
              <a:rPr lang="en-US" sz="1600" b="1" cap="small" spc="-95" dirty="0">
                <a:solidFill>
                  <a:schemeClr val="tx1"/>
                </a:solidFill>
                <a:latin typeface="Times New Roman" panose="02020603050405020304" pitchFamily="18" charset="0"/>
                <a:cs typeface="Times New Roman" panose="02020603050405020304" pitchFamily="18" charset="0"/>
              </a:rPr>
              <a:t>7</a:t>
            </a:r>
            <a:r>
              <a:rPr lang="en-US" sz="1600" b="1" cap="small" spc="-95" dirty="0" smtClean="0">
                <a:solidFill>
                  <a:schemeClr val="tx1"/>
                </a:solidFill>
                <a:latin typeface="Times New Roman" panose="02020603050405020304" pitchFamily="18" charset="0"/>
                <a:cs typeface="Times New Roman" panose="02020603050405020304" pitchFamily="18" charset="0"/>
              </a:rPr>
              <a:t>  </a:t>
            </a:r>
            <a:r>
              <a:rPr lang="en-US" sz="1600" cap="small" spc="-95" dirty="0" smtClean="0">
                <a:solidFill>
                  <a:schemeClr val="bg1"/>
                </a:solidFill>
                <a:latin typeface="Times New Roman" panose="02020603050405020304" pitchFamily="18" charset="0"/>
                <a:cs typeface="Times New Roman" panose="02020603050405020304" pitchFamily="18" charset="0"/>
              </a:rPr>
              <a:t>             </a:t>
            </a: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7" name="object 7">
            <a:extLst>
              <a:ext uri="{FF2B5EF4-FFF2-40B4-BE49-F238E27FC236}">
                <a16:creationId xmlns:a16="http://schemas.microsoft.com/office/drawing/2014/main" xmlns="" id="{C42EBEF0-D446-3503-6898-2738D242A7C0}"/>
              </a:ext>
            </a:extLst>
          </p:cNvPr>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B-16</a:t>
            </a:r>
          </a:p>
        </p:txBody>
      </p:sp>
    </p:spTree>
    <p:extLst>
      <p:ext uri="{BB962C8B-B14F-4D97-AF65-F5344CB8AC3E}">
        <p14:creationId xmlns:p14="http://schemas.microsoft.com/office/powerpoint/2010/main" val="1746179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1A66828-A339-AA64-5D50-6C5B5F278A91}"/>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xmlns="" id="{F604F1D4-AF1C-BEF1-3D11-95D52A753DD2}"/>
              </a:ext>
            </a:extLst>
          </p:cNvPr>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dirty="0"/>
          </a:p>
        </p:txBody>
      </p:sp>
      <p:sp>
        <p:nvSpPr>
          <p:cNvPr id="7" name="object 7">
            <a:extLst>
              <a:ext uri="{FF2B5EF4-FFF2-40B4-BE49-F238E27FC236}">
                <a16:creationId xmlns:a16="http://schemas.microsoft.com/office/drawing/2014/main" xmlns="" id="{EA8FBB2A-94DD-8C04-7DE6-469F07640FB7}"/>
              </a:ext>
            </a:extLst>
          </p:cNvPr>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sz="1600" dirty="0">
                <a:solidFill>
                  <a:schemeClr val="bg1"/>
                </a:solidFill>
                <a:latin typeface="Times New Roman"/>
                <a:ea typeface="+mn-lt"/>
                <a:cs typeface="Times New Roman"/>
              </a:rPr>
              <a:t>  B-16</a:t>
            </a:r>
          </a:p>
        </p:txBody>
      </p:sp>
      <p:sp>
        <p:nvSpPr>
          <p:cNvPr id="9" name="object 9">
            <a:extLst>
              <a:ext uri="{FF2B5EF4-FFF2-40B4-BE49-F238E27FC236}">
                <a16:creationId xmlns:a16="http://schemas.microsoft.com/office/drawing/2014/main" xmlns="" id="{50839E0F-372E-263B-86FD-DB74B34137E4}"/>
              </a:ext>
            </a:extLst>
          </p:cNvPr>
          <p:cNvSpPr txBox="1"/>
          <p:nvPr/>
        </p:nvSpPr>
        <p:spPr>
          <a:xfrm>
            <a:off x="609600" y="1147887"/>
            <a:ext cx="10553701" cy="5552802"/>
          </a:xfrm>
          <a:prstGeom prst="rect">
            <a:avLst/>
          </a:prstGeom>
        </p:spPr>
        <p:txBody>
          <a:bodyPr vert="horz" wrap="square" lIns="0" tIns="12700" rIns="0" bIns="0" rtlCol="0" anchor="t">
            <a:spAutoFit/>
          </a:bodyPr>
          <a:lstStyle/>
          <a:p>
            <a:pPr>
              <a:lnSpc>
                <a:spcPct val="150000"/>
              </a:lnSpc>
            </a:pPr>
            <a:r>
              <a:rPr lang="en-US" sz="2000" b="1" dirty="0" smtClean="0">
                <a:latin typeface="Times New Roman" panose="02020603050405020304" pitchFamily="18" charset="0"/>
                <a:cs typeface="Times New Roman" panose="02020603050405020304" pitchFamily="18" charset="0"/>
              </a:rPr>
              <a:t>Multi-layer secure system for storing digital forensic evidence</a:t>
            </a:r>
            <a:r>
              <a:rPr lang="en-US" sz="2000" dirty="0" smtClean="0">
                <a:latin typeface="Times New Roman" panose="02020603050405020304" pitchFamily="18" charset="0"/>
                <a:cs typeface="Times New Roman" panose="02020603050405020304" pitchFamily="18" charset="0"/>
              </a:rPr>
              <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 The system uses multiple security layers to ensure that evidence is protected at every stage from           storage to access.</a:t>
            </a:r>
          </a:p>
          <a:p>
            <a:pPr>
              <a:lnSpc>
                <a:spcPct val="150000"/>
              </a:lnSpc>
            </a:pPr>
            <a:r>
              <a:rPr lang="en-US" sz="2000" b="1" dirty="0" smtClean="0">
                <a:latin typeface="Times New Roman" panose="02020603050405020304" pitchFamily="18" charset="0"/>
                <a:cs typeface="Times New Roman" panose="02020603050405020304" pitchFamily="18" charset="0"/>
              </a:rPr>
              <a:t>Multi-Factor Authentication (MFA) and JWT-based authentication</a:t>
            </a:r>
            <a:r>
              <a:rPr lang="en-US" sz="2000" dirty="0" smtClean="0">
                <a:latin typeface="Times New Roman" panose="02020603050405020304" pitchFamily="18" charset="0"/>
                <a:cs typeface="Times New Roman" panose="02020603050405020304" pitchFamily="18" charset="0"/>
              </a:rPr>
              <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 Users must verify their identity using both password and OTP, and secure JWT tokens are used for safe session management.</a:t>
            </a:r>
          </a:p>
          <a:p>
            <a:pPr>
              <a:lnSpc>
                <a:spcPct val="150000"/>
              </a:lnSpc>
            </a:pPr>
            <a:r>
              <a:rPr lang="en-US" sz="2000" b="1" dirty="0" smtClean="0">
                <a:latin typeface="Times New Roman" panose="02020603050405020304" pitchFamily="18" charset="0"/>
                <a:cs typeface="Times New Roman" panose="02020603050405020304" pitchFamily="18" charset="0"/>
              </a:rPr>
              <a:t>Role-Based Access Control (RBAC)</a:t>
            </a:r>
            <a:r>
              <a:rPr lang="en-US" sz="2000" dirty="0" smtClean="0">
                <a:latin typeface="Times New Roman" panose="02020603050405020304" pitchFamily="18" charset="0"/>
                <a:cs typeface="Times New Roman" panose="02020603050405020304" pitchFamily="18" charset="0"/>
              </a:rPr>
              <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 Access to data is restricted based on user roles like Admin, Investigator, or Analyst to prevent unauthorized usage.</a:t>
            </a:r>
          </a:p>
          <a:p>
            <a:pPr>
              <a:lnSpc>
                <a:spcPct val="150000"/>
              </a:lnSpc>
            </a:pPr>
            <a:r>
              <a:rPr lang="en-US" sz="2000" b="1" dirty="0" smtClean="0">
                <a:latin typeface="Times New Roman" panose="02020603050405020304" pitchFamily="18" charset="0"/>
                <a:cs typeface="Times New Roman" panose="02020603050405020304" pitchFamily="18" charset="0"/>
              </a:rPr>
              <a:t>AES-256 encryption for securing uploaded files</a:t>
            </a:r>
            <a:r>
              <a:rPr lang="en-US" sz="2000" dirty="0" smtClean="0">
                <a:latin typeface="Times New Roman" panose="02020603050405020304" pitchFamily="18" charset="0"/>
                <a:cs typeface="Times New Roman" panose="02020603050405020304" pitchFamily="18" charset="0"/>
              </a:rPr>
              <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 All files are encrypted using a strong encryption algorithm to ensure confidentiality of sensitive data. </a:t>
            </a:r>
            <a:endParaRPr lang="en-US" sz="2000" dirty="0">
              <a:latin typeface="Times New Roman" panose="02020603050405020304" pitchFamily="18" charset="0"/>
              <a:cs typeface="Times New Roman" panose="02020603050405020304" pitchFamily="18" charset="0"/>
            </a:endParaRPr>
          </a:p>
        </p:txBody>
      </p:sp>
      <p:sp>
        <p:nvSpPr>
          <p:cNvPr id="10" name="object 9">
            <a:extLst>
              <a:ext uri="{FF2B5EF4-FFF2-40B4-BE49-F238E27FC236}">
                <a16:creationId xmlns:a16="http://schemas.microsoft.com/office/drawing/2014/main" xmlns="" id="{D1977AE6-95C9-1128-E2F4-41C85FF29E21}"/>
              </a:ext>
            </a:extLst>
          </p:cNvPr>
          <p:cNvSpPr txBox="1">
            <a:spLocks noGrp="1"/>
          </p:cNvSpPr>
          <p:nvPr>
            <p:ph type="dt" sz="half" idx="6"/>
          </p:nvPr>
        </p:nvSpPr>
        <p:spPr>
          <a:xfrm>
            <a:off x="1175812" y="6629309"/>
            <a:ext cx="1068787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r>
              <a:rPr lang="en-US" cap="small" spc="-95" dirty="0"/>
              <a:t>                      	  Srinivasa Ramanujan Institute of Technology</a:t>
            </a:r>
            <a:endParaRPr cap="small" spc="-95" dirty="0"/>
          </a:p>
        </p:txBody>
      </p:sp>
      <p:sp>
        <p:nvSpPr>
          <p:cNvPr id="22" name="object 5">
            <a:extLst>
              <a:ext uri="{FF2B5EF4-FFF2-40B4-BE49-F238E27FC236}">
                <a16:creationId xmlns:a16="http://schemas.microsoft.com/office/drawing/2014/main" xmlns="" id="{30513A1C-239C-B928-A044-F829A49F0D17}"/>
              </a:ext>
            </a:extLst>
          </p:cNvPr>
          <p:cNvSpPr/>
          <p:nvPr/>
        </p:nvSpPr>
        <p:spPr>
          <a:xfrm>
            <a:off x="-518" y="233144"/>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6" name="object 6">
            <a:extLst>
              <a:ext uri="{FF2B5EF4-FFF2-40B4-BE49-F238E27FC236}">
                <a16:creationId xmlns:a16="http://schemas.microsoft.com/office/drawing/2014/main" xmlns="" id="{775D5862-A5AD-3A3F-AFD6-4C5BE588AEC1}"/>
              </a:ext>
            </a:extLst>
          </p:cNvPr>
          <p:cNvSpPr txBox="1">
            <a:spLocks noGrp="1"/>
          </p:cNvSpPr>
          <p:nvPr>
            <p:ph type="title"/>
          </p:nvPr>
        </p:nvSpPr>
        <p:spPr>
          <a:xfrm>
            <a:off x="20182" y="331753"/>
            <a:ext cx="4170818" cy="689932"/>
          </a:xfrm>
          <a:prstGeom prst="rect">
            <a:avLst/>
          </a:prstGeom>
        </p:spPr>
        <p:txBody>
          <a:bodyPr vert="horz" wrap="square" lIns="0" tIns="12700" rIns="0" bIns="0" rtlCol="0">
            <a:spAutoFit/>
          </a:bodyPr>
          <a:lstStyle/>
          <a:p>
            <a:pPr marL="12700" algn="ctr">
              <a:lnSpc>
                <a:spcPct val="100000"/>
              </a:lnSpc>
            </a:pPr>
            <a:r>
              <a:rPr lang="en-IN" b="1" spc="-10" dirty="0"/>
              <a:t>Proposed System</a:t>
            </a:r>
            <a:endParaRPr b="1" spc="-10" dirty="0"/>
          </a:p>
        </p:txBody>
      </p:sp>
      <p:sp>
        <p:nvSpPr>
          <p:cNvPr id="28" name="object 2">
            <a:extLst>
              <a:ext uri="{FF2B5EF4-FFF2-40B4-BE49-F238E27FC236}">
                <a16:creationId xmlns:a16="http://schemas.microsoft.com/office/drawing/2014/main" xmlns="" id="{D2A3787C-07C2-74BD-C3C4-E5E17AEEFDE6}"/>
              </a:ext>
            </a:extLst>
          </p:cNvPr>
          <p:cNvSpPr txBox="1"/>
          <p:nvPr/>
        </p:nvSpPr>
        <p:spPr>
          <a:xfrm>
            <a:off x="3604387" y="-10897"/>
            <a:ext cx="4333674" cy="228268"/>
          </a:xfrm>
          <a:prstGeom prst="rect">
            <a:avLst/>
          </a:prstGeom>
        </p:spPr>
        <p:txBody>
          <a:bodyPr vert="horz" wrap="square" lIns="0" tIns="12700" rIns="0" bIns="0" rtlCol="0" anchor="t">
            <a:spAutoFit/>
          </a:bodyPr>
          <a:lstStyle/>
          <a:p>
            <a:pPr marL="12700" algn="ctr">
              <a:spcBef>
                <a:spcPts val="100"/>
              </a:spcBef>
            </a:pPr>
            <a:r>
              <a:rPr lang="en-US" sz="1400" dirty="0">
                <a:solidFill>
                  <a:schemeClr val="bg1"/>
                </a:solidFill>
              </a:rPr>
              <a:t>Secure Digital Forensic Evidence Storage System</a:t>
            </a:r>
            <a:endParaRPr sz="1500" dirty="0">
              <a:solidFill>
                <a:schemeClr val="bg1"/>
              </a:solidFill>
              <a:latin typeface="Times New Roman"/>
              <a:cs typeface="Times New Roman"/>
            </a:endParaRPr>
          </a:p>
        </p:txBody>
      </p:sp>
      <p:sp>
        <p:nvSpPr>
          <p:cNvPr id="29" name="object 12">
            <a:extLst>
              <a:ext uri="{FF2B5EF4-FFF2-40B4-BE49-F238E27FC236}">
                <a16:creationId xmlns:a16="http://schemas.microsoft.com/office/drawing/2014/main" xmlns="" id="{127EC2EF-88B0-B702-9676-CA235700A147}"/>
              </a:ext>
            </a:extLst>
          </p:cNvPr>
          <p:cNvSpPr txBox="1">
            <a:spLocks noGrp="1"/>
          </p:cNvSpPr>
          <p:nvPr>
            <p:ph type="sldNum" sz="quarter" idx="7"/>
          </p:nvPr>
        </p:nvSpPr>
        <p:spPr>
          <a:xfrm>
            <a:off x="11858823" y="6629309"/>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8</a:t>
            </a:fld>
            <a:endParaRPr spc="-25" dirty="0"/>
          </a:p>
        </p:txBody>
      </p:sp>
    </p:spTree>
    <p:extLst>
      <p:ext uri="{BB962C8B-B14F-4D97-AF65-F5344CB8AC3E}">
        <p14:creationId xmlns:p14="http://schemas.microsoft.com/office/powerpoint/2010/main" val="694877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471697"/>
            <a:ext cx="9977285" cy="3637984"/>
          </a:xfrm>
        </p:spPr>
        <p:txBody>
          <a:bodyPr/>
          <a:lstStyle/>
          <a:p>
            <a:pPr>
              <a:lnSpc>
                <a:spcPct val="150000"/>
              </a:lnSpc>
            </a:pPr>
            <a:r>
              <a:rPr lang="en-US" sz="2000" b="1" dirty="0">
                <a:latin typeface="Times New Roman" panose="02020603050405020304" pitchFamily="18" charset="0"/>
                <a:cs typeface="Times New Roman" panose="02020603050405020304" pitchFamily="18" charset="0"/>
              </a:rPr>
              <a:t>Elliptic Curve Cryptography (ECC) for key protection</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Encryption keys are further secured using ECC, making it difficult for attackers to access them</a:t>
            </a:r>
            <a:r>
              <a:rPr lang="en-US" sz="2000" dirty="0" smtClean="0">
                <a:latin typeface="Times New Roman" panose="02020603050405020304" pitchFamily="18" charset="0"/>
                <a:cs typeface="Times New Roman" panose="02020603050405020304" pitchFamily="18" charset="0"/>
              </a:rPr>
              <a:t>.</a:t>
            </a:r>
          </a:p>
          <a:p>
            <a:pPr>
              <a:lnSpc>
                <a:spcPct val="150000"/>
              </a:lnSpc>
            </a:pPr>
            <a:r>
              <a:rPr lang="en-US" sz="2000" b="1" dirty="0">
                <a:latin typeface="Times New Roman" panose="02020603050405020304" pitchFamily="18" charset="0"/>
                <a:cs typeface="Times New Roman" panose="02020603050405020304" pitchFamily="18" charset="0"/>
              </a:rPr>
              <a:t>SHA-256 hashing for data integrity</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 unique hash value is generated for each file to detect any tampering or modification</a:t>
            </a:r>
            <a:r>
              <a:rPr lang="en-US" sz="2000" dirty="0" smtClean="0">
                <a:latin typeface="Times New Roman" panose="02020603050405020304" pitchFamily="18" charset="0"/>
                <a:cs typeface="Times New Roman" panose="02020603050405020304" pitchFamily="18" charset="0"/>
              </a:rPr>
              <a:t>.</a:t>
            </a:r>
          </a:p>
          <a:p>
            <a:pPr>
              <a:lnSpc>
                <a:spcPct val="150000"/>
              </a:lnSpc>
            </a:pPr>
            <a:r>
              <a:rPr lang="en-US" sz="2000" b="1" dirty="0" err="1">
                <a:latin typeface="Times New Roman" panose="02020603050405020304" pitchFamily="18" charset="0"/>
                <a:cs typeface="Times New Roman" panose="02020603050405020304" pitchFamily="18" charset="0"/>
              </a:rPr>
              <a:t>Blockchain</a:t>
            </a:r>
            <a:r>
              <a:rPr lang="en-US" sz="2000" b="1" dirty="0">
                <a:latin typeface="Times New Roman" panose="02020603050405020304" pitchFamily="18" charset="0"/>
                <a:cs typeface="Times New Roman" panose="02020603050405020304" pitchFamily="18" charset="0"/>
              </a:rPr>
              <a:t>-based audit ledger</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All system activities are recorded in a tamper-proof ledger to maintain a secure chain of custody</a:t>
            </a:r>
            <a:r>
              <a:rPr lang="en-US" sz="2000" dirty="0" smtClean="0">
                <a:latin typeface="Times New Roman" panose="02020603050405020304" pitchFamily="18" charset="0"/>
                <a:cs typeface="Times New Roman" panose="02020603050405020304" pitchFamily="18" charset="0"/>
              </a:rPr>
              <a:t>.</a:t>
            </a:r>
          </a:p>
          <a:p>
            <a:pPr>
              <a:lnSpc>
                <a:spcPct val="150000"/>
              </a:lnSpc>
            </a:pPr>
            <a:r>
              <a:rPr lang="en-US" sz="2000" b="1" dirty="0">
                <a:latin typeface="Times New Roman" panose="02020603050405020304" pitchFamily="18" charset="0"/>
                <a:cs typeface="Times New Roman" panose="02020603050405020304" pitchFamily="18" charset="0"/>
              </a:rPr>
              <a:t>One-time decryption key mechanism</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Users receive a secure one-time key for accessing files, ensuring controlled and limited access.</a:t>
            </a:r>
            <a:endParaRPr lang="en-US" sz="2000" dirty="0">
              <a:latin typeface="Times New Roman" panose="02020603050405020304" pitchFamily="18" charset="0"/>
              <a:cs typeface="Times New Roman" panose="02020603050405020304" pitchFamily="18" charset="0"/>
            </a:endParaRPr>
          </a:p>
        </p:txBody>
      </p:sp>
      <p:sp>
        <p:nvSpPr>
          <p:cNvPr id="4" name="object 5">
            <a:extLst>
              <a:ext uri="{FF2B5EF4-FFF2-40B4-BE49-F238E27FC236}">
                <a16:creationId xmlns:a16="http://schemas.microsoft.com/office/drawing/2014/main" xmlns="" id="{021057BB-8D93-F44B-B9E2-B26E2A078D57}"/>
              </a:ext>
            </a:extLst>
          </p:cNvPr>
          <p:cNvSpPr/>
          <p:nvPr/>
        </p:nvSpPr>
        <p:spPr>
          <a:xfrm>
            <a:off x="9832" y="212288"/>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152400" y="326885"/>
            <a:ext cx="4419600" cy="1354217"/>
          </a:xfrm>
        </p:spPr>
        <p:txBody>
          <a:bodyPr/>
          <a:lstStyle/>
          <a:p>
            <a:r>
              <a:rPr lang="en-US" b="1" dirty="0"/>
              <a:t>Proposed System</a:t>
            </a:r>
          </a:p>
        </p:txBody>
      </p:sp>
      <p:sp>
        <p:nvSpPr>
          <p:cNvPr id="5" name="Rectangle 4"/>
          <p:cNvSpPr/>
          <p:nvPr/>
        </p:nvSpPr>
        <p:spPr>
          <a:xfrm>
            <a:off x="4015943" y="-69160"/>
            <a:ext cx="4160113" cy="307777"/>
          </a:xfrm>
          <a:prstGeom prst="rect">
            <a:avLst/>
          </a:prstGeom>
        </p:spPr>
        <p:txBody>
          <a:bodyPr wrap="none">
            <a:spAutoFit/>
          </a:bodyPr>
          <a:lstStyle/>
          <a:p>
            <a:pPr marL="12700" algn="ctr">
              <a:spcBef>
                <a:spcPts val="100"/>
              </a:spcBef>
            </a:pPr>
            <a:r>
              <a:rPr lang="en-US" sz="1400" dirty="0">
                <a:solidFill>
                  <a:schemeClr val="bg1"/>
                </a:solidFill>
              </a:rPr>
              <a:t>Secure Digital Forensic Evidence Storage System</a:t>
            </a:r>
            <a:endParaRPr lang="en-US" sz="1400" dirty="0">
              <a:solidFill>
                <a:schemeClr val="bg1"/>
              </a:solidFill>
              <a:latin typeface="Times New Roman"/>
              <a:cs typeface="Times New Roman"/>
            </a:endParaRPr>
          </a:p>
        </p:txBody>
      </p:sp>
      <p:sp>
        <p:nvSpPr>
          <p:cNvPr id="6" name="object 7">
            <a:extLst>
              <a:ext uri="{FF2B5EF4-FFF2-40B4-BE49-F238E27FC236}">
                <a16:creationId xmlns:a16="http://schemas.microsoft.com/office/drawing/2014/main" xmlns="" id="{C42EBEF0-D446-3503-6898-2738D242A7C0}"/>
              </a:ext>
            </a:extLst>
          </p:cNvPr>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B-16</a:t>
            </a:r>
          </a:p>
        </p:txBody>
      </p:sp>
      <p:sp>
        <p:nvSpPr>
          <p:cNvPr id="7" name="Rectangle 6"/>
          <p:cNvSpPr/>
          <p:nvPr/>
        </p:nvSpPr>
        <p:spPr>
          <a:xfrm>
            <a:off x="777240" y="6583796"/>
            <a:ext cx="12115800" cy="323165"/>
          </a:xfrm>
          <a:prstGeom prst="rect">
            <a:avLst/>
          </a:prstGeom>
        </p:spPr>
        <p:txBody>
          <a:bodyPr wrap="square">
            <a:spAutoFit/>
          </a:bodyPr>
          <a:lstStyle/>
          <a:p>
            <a:pPr marL="12700">
              <a:lnSpc>
                <a:spcPts val="1845"/>
              </a:lnSpc>
            </a:pPr>
            <a:r>
              <a:rPr lang="en-US" sz="1600" cap="small" spc="-75" dirty="0">
                <a:solidFill>
                  <a:schemeClr val="bg1"/>
                </a:solidFill>
                <a:latin typeface="Times New Roman" panose="02020603050405020304" pitchFamily="18" charset="0"/>
                <a:cs typeface="Times New Roman" panose="02020603050405020304" pitchFamily="18" charset="0"/>
              </a:rPr>
              <a:t>   Dept.</a:t>
            </a:r>
            <a:r>
              <a:rPr lang="en-US" sz="1600" cap="small" spc="-10" dirty="0">
                <a:solidFill>
                  <a:schemeClr val="bg1"/>
                </a:solidFill>
                <a:latin typeface="Times New Roman" panose="02020603050405020304" pitchFamily="18" charset="0"/>
                <a:cs typeface="Times New Roman" panose="02020603050405020304" pitchFamily="18" charset="0"/>
              </a:rPr>
              <a:t> </a:t>
            </a:r>
            <a:r>
              <a:rPr lang="en-US" sz="1600" cap="small" spc="-100" dirty="0">
                <a:solidFill>
                  <a:schemeClr val="bg1"/>
                </a:solidFill>
                <a:latin typeface="Times New Roman" panose="02020603050405020304" pitchFamily="18" charset="0"/>
                <a:cs typeface="Times New Roman" panose="02020603050405020304" pitchFamily="18" charset="0"/>
              </a:rPr>
              <a:t>of</a:t>
            </a:r>
            <a:r>
              <a:rPr lang="en-US" sz="1600" cap="small" spc="25" dirty="0">
                <a:solidFill>
                  <a:schemeClr val="bg1"/>
                </a:solidFill>
                <a:latin typeface="Times New Roman" panose="02020603050405020304" pitchFamily="18" charset="0"/>
                <a:cs typeface="Times New Roman" panose="02020603050405020304" pitchFamily="18" charset="0"/>
              </a:rPr>
              <a:t> </a:t>
            </a:r>
            <a:r>
              <a:rPr lang="en-US" sz="1600" cap="small" spc="-114" dirty="0">
                <a:solidFill>
                  <a:schemeClr val="bg1"/>
                </a:solidFill>
                <a:latin typeface="Times New Roman" panose="02020603050405020304" pitchFamily="18" charset="0"/>
                <a:cs typeface="Times New Roman" panose="02020603050405020304" pitchFamily="18" charset="0"/>
              </a:rPr>
              <a:t>Computer</a:t>
            </a:r>
            <a:r>
              <a:rPr lang="en-US" sz="1600" cap="small" spc="50" dirty="0">
                <a:solidFill>
                  <a:schemeClr val="bg1"/>
                </a:solidFill>
                <a:latin typeface="Times New Roman" panose="02020603050405020304" pitchFamily="18" charset="0"/>
                <a:cs typeface="Times New Roman" panose="02020603050405020304" pitchFamily="18" charset="0"/>
              </a:rPr>
              <a:t> </a:t>
            </a:r>
            <a:r>
              <a:rPr lang="en-US" sz="1600" cap="small" spc="-95" dirty="0">
                <a:solidFill>
                  <a:schemeClr val="bg1"/>
                </a:solidFill>
                <a:latin typeface="Times New Roman" panose="02020603050405020304" pitchFamily="18" charset="0"/>
                <a:cs typeface="Times New Roman" panose="02020603050405020304" pitchFamily="18" charset="0"/>
              </a:rPr>
              <a:t>Science</a:t>
            </a:r>
            <a:r>
              <a:rPr lang="en-US" sz="1600" cap="small" spc="50" dirty="0">
                <a:solidFill>
                  <a:schemeClr val="bg1"/>
                </a:solidFill>
                <a:latin typeface="Times New Roman" panose="02020603050405020304" pitchFamily="18" charset="0"/>
                <a:cs typeface="Times New Roman" panose="02020603050405020304" pitchFamily="18" charset="0"/>
              </a:rPr>
              <a:t> </a:t>
            </a:r>
            <a:r>
              <a:rPr lang="en-US" sz="1600" cap="small" spc="-130" dirty="0">
                <a:solidFill>
                  <a:schemeClr val="bg1"/>
                </a:solidFill>
                <a:latin typeface="Times New Roman" panose="02020603050405020304" pitchFamily="18" charset="0"/>
                <a:cs typeface="Times New Roman" panose="02020603050405020304" pitchFamily="18" charset="0"/>
              </a:rPr>
              <a:t>and</a:t>
            </a:r>
            <a:r>
              <a:rPr lang="en-US" sz="1600" cap="small" spc="45" dirty="0">
                <a:solidFill>
                  <a:schemeClr val="bg1"/>
                </a:solidFill>
                <a:latin typeface="Times New Roman" panose="02020603050405020304" pitchFamily="18" charset="0"/>
                <a:cs typeface="Times New Roman" panose="02020603050405020304" pitchFamily="18" charset="0"/>
              </a:rPr>
              <a:t> </a:t>
            </a:r>
            <a:r>
              <a:rPr lang="en-US" sz="1600" cap="small" spc="-110" dirty="0">
                <a:solidFill>
                  <a:schemeClr val="bg1"/>
                </a:solidFill>
                <a:latin typeface="Times New Roman" panose="02020603050405020304" pitchFamily="18" charset="0"/>
                <a:cs typeface="Times New Roman" panose="02020603050405020304" pitchFamily="18" charset="0"/>
              </a:rPr>
              <a:t>Engineering</a:t>
            </a:r>
            <a:r>
              <a:rPr lang="en-US" sz="1600" cap="small" spc="45" dirty="0">
                <a:solidFill>
                  <a:schemeClr val="bg1"/>
                </a:solidFill>
                <a:latin typeface="Times New Roman" panose="02020603050405020304" pitchFamily="18" charset="0"/>
                <a:cs typeface="Times New Roman" panose="02020603050405020304" pitchFamily="18" charset="0"/>
              </a:rPr>
              <a:t> </a:t>
            </a:r>
            <a:r>
              <a:rPr lang="en-US" sz="1600" cap="small" spc="-70" dirty="0">
                <a:solidFill>
                  <a:schemeClr val="bg1"/>
                </a:solidFill>
                <a:latin typeface="Times New Roman" panose="02020603050405020304" pitchFamily="18" charset="0"/>
                <a:cs typeface="Times New Roman" panose="02020603050405020304" pitchFamily="18" charset="0"/>
              </a:rPr>
              <a:t>(</a:t>
            </a:r>
            <a:r>
              <a:rPr lang="en-US" sz="1600" cap="small" spc="-70" dirty="0" err="1">
                <a:solidFill>
                  <a:schemeClr val="bg1"/>
                </a:solidFill>
                <a:latin typeface="Times New Roman" panose="02020603050405020304" pitchFamily="18" charset="0"/>
                <a:cs typeface="Times New Roman" panose="02020603050405020304" pitchFamily="18" charset="0"/>
              </a:rPr>
              <a:t>AI&amp;ml</a:t>
            </a:r>
            <a:r>
              <a:rPr lang="en-US" sz="1600" cap="small" spc="-95" dirty="0">
                <a:solidFill>
                  <a:schemeClr val="bg1"/>
                </a:solidFill>
                <a:latin typeface="Times New Roman" panose="02020603050405020304" pitchFamily="18" charset="0"/>
                <a:cs typeface="Times New Roman" panose="02020603050405020304" pitchFamily="18" charset="0"/>
              </a:rPr>
              <a:t>)                                              </a:t>
            </a:r>
            <a:r>
              <a:rPr lang="en-US" sz="1600" cap="small" spc="-95" dirty="0" err="1">
                <a:solidFill>
                  <a:schemeClr val="bg1"/>
                </a:solidFill>
                <a:latin typeface="Times New Roman" panose="02020603050405020304" pitchFamily="18" charset="0"/>
                <a:cs typeface="Times New Roman" panose="02020603050405020304" pitchFamily="18" charset="0"/>
              </a:rPr>
              <a:t>Srinivasa</a:t>
            </a:r>
            <a:r>
              <a:rPr lang="en-US" sz="1600" cap="small" spc="-95" dirty="0">
                <a:solidFill>
                  <a:schemeClr val="bg1"/>
                </a:solidFill>
                <a:latin typeface="Times New Roman" panose="02020603050405020304" pitchFamily="18" charset="0"/>
                <a:cs typeface="Times New Roman" panose="02020603050405020304" pitchFamily="18" charset="0"/>
              </a:rPr>
              <a:t> </a:t>
            </a:r>
            <a:r>
              <a:rPr lang="en-US" sz="1600" cap="small" spc="-95" dirty="0" err="1">
                <a:solidFill>
                  <a:schemeClr val="bg1"/>
                </a:solidFill>
                <a:latin typeface="Times New Roman" panose="02020603050405020304" pitchFamily="18" charset="0"/>
                <a:cs typeface="Times New Roman" panose="02020603050405020304" pitchFamily="18" charset="0"/>
              </a:rPr>
              <a:t>Ramanujan</a:t>
            </a:r>
            <a:r>
              <a:rPr lang="en-US" sz="1600" cap="small" spc="-95" dirty="0">
                <a:solidFill>
                  <a:schemeClr val="bg1"/>
                </a:solidFill>
                <a:latin typeface="Times New Roman" panose="02020603050405020304" pitchFamily="18" charset="0"/>
                <a:cs typeface="Times New Roman" panose="02020603050405020304" pitchFamily="18" charset="0"/>
              </a:rPr>
              <a:t> Institute of Technology                    </a:t>
            </a:r>
            <a:r>
              <a:rPr lang="en-US" sz="1600" b="1" cap="small" spc="-95" dirty="0">
                <a:solidFill>
                  <a:schemeClr val="tx1"/>
                </a:solidFill>
                <a:latin typeface="Times New Roman" panose="02020603050405020304" pitchFamily="18" charset="0"/>
                <a:cs typeface="Times New Roman" panose="02020603050405020304" pitchFamily="18" charset="0"/>
              </a:rPr>
              <a:t>9   </a:t>
            </a:r>
            <a:r>
              <a:rPr lang="en-US" sz="1600" cap="small" spc="-95" dirty="0">
                <a:solidFill>
                  <a:schemeClr val="bg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502859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85800" y="1471697"/>
            <a:ext cx="9977285" cy="4616648"/>
          </a:xfrm>
        </p:spPr>
        <p:txBody>
          <a:bodyPr/>
          <a:lstStyle/>
          <a:p>
            <a:pPr algn="just">
              <a:lnSpc>
                <a:spcPct val="150000"/>
              </a:lnSpc>
            </a:pPr>
            <a:r>
              <a:rPr lang="en-US" sz="2000" b="1" dirty="0" smtClean="0"/>
              <a:t>1 . Functional </a:t>
            </a:r>
            <a:r>
              <a:rPr lang="en-US" sz="2000" b="1" dirty="0"/>
              <a:t>Requirements</a:t>
            </a:r>
          </a:p>
          <a:p>
            <a:pPr algn="just">
              <a:lnSpc>
                <a:spcPct val="150000"/>
              </a:lnSpc>
            </a:pPr>
            <a:r>
              <a:rPr lang="en-US" sz="2000" dirty="0"/>
              <a:t>User Registration with Email Verification </a:t>
            </a:r>
          </a:p>
          <a:p>
            <a:pPr algn="just">
              <a:lnSpc>
                <a:spcPct val="150000"/>
              </a:lnSpc>
            </a:pPr>
            <a:r>
              <a:rPr lang="en-US" sz="2000" dirty="0"/>
              <a:t>Multi-Factor Authentication (MFA) Setup using QR Code </a:t>
            </a:r>
          </a:p>
          <a:p>
            <a:pPr algn="just">
              <a:lnSpc>
                <a:spcPct val="150000"/>
              </a:lnSpc>
            </a:pPr>
            <a:r>
              <a:rPr lang="en-US" sz="2000" dirty="0"/>
              <a:t>Secure Login using Password and OTP </a:t>
            </a:r>
          </a:p>
          <a:p>
            <a:pPr algn="just">
              <a:lnSpc>
                <a:spcPct val="150000"/>
              </a:lnSpc>
            </a:pPr>
            <a:r>
              <a:rPr lang="en-US" sz="2000" dirty="0"/>
              <a:t>Admin Approval for User Access </a:t>
            </a:r>
          </a:p>
          <a:p>
            <a:pPr algn="just">
              <a:lnSpc>
                <a:spcPct val="150000"/>
              </a:lnSpc>
            </a:pPr>
            <a:r>
              <a:rPr lang="en-US" sz="2000" dirty="0"/>
              <a:t>Role-Based Access Control (RBAC) </a:t>
            </a:r>
          </a:p>
          <a:p>
            <a:pPr algn="just">
              <a:lnSpc>
                <a:spcPct val="150000"/>
              </a:lnSpc>
            </a:pPr>
            <a:r>
              <a:rPr lang="en-US" sz="2000" dirty="0"/>
              <a:t>Secure File Upload and AES-256 Encryption </a:t>
            </a:r>
          </a:p>
          <a:p>
            <a:pPr algn="just">
              <a:lnSpc>
                <a:spcPct val="150000"/>
              </a:lnSpc>
            </a:pPr>
            <a:r>
              <a:rPr lang="en-US" sz="2000" dirty="0"/>
              <a:t>Document Access Request and Admin Approval </a:t>
            </a:r>
          </a:p>
          <a:p>
            <a:pPr algn="just">
              <a:lnSpc>
                <a:spcPct val="150000"/>
              </a:lnSpc>
            </a:pPr>
            <a:r>
              <a:rPr lang="en-US" sz="2000" dirty="0"/>
              <a:t>One-Time Decryption Key and Secure File Download</a:t>
            </a:r>
          </a:p>
          <a:p>
            <a:pPr>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4" name="object 5">
            <a:extLst>
              <a:ext uri="{FF2B5EF4-FFF2-40B4-BE49-F238E27FC236}">
                <a16:creationId xmlns:a16="http://schemas.microsoft.com/office/drawing/2014/main" xmlns="" id="{021057BB-8D93-F44B-B9E2-B26E2A078D57}"/>
              </a:ext>
            </a:extLst>
          </p:cNvPr>
          <p:cNvSpPr/>
          <p:nvPr/>
        </p:nvSpPr>
        <p:spPr>
          <a:xfrm>
            <a:off x="9832" y="212288"/>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152400" y="326885"/>
            <a:ext cx="4419600" cy="677108"/>
          </a:xfrm>
        </p:spPr>
        <p:txBody>
          <a:bodyPr/>
          <a:lstStyle/>
          <a:p>
            <a:r>
              <a:rPr lang="en-US" b="1" dirty="0" smtClean="0"/>
              <a:t>Requirements</a:t>
            </a:r>
            <a:endParaRPr lang="en-US" b="1" dirty="0"/>
          </a:p>
        </p:txBody>
      </p:sp>
      <p:sp>
        <p:nvSpPr>
          <p:cNvPr id="5" name="Rectangle 4"/>
          <p:cNvSpPr/>
          <p:nvPr/>
        </p:nvSpPr>
        <p:spPr>
          <a:xfrm>
            <a:off x="4015943" y="-69160"/>
            <a:ext cx="4160113" cy="307777"/>
          </a:xfrm>
          <a:prstGeom prst="rect">
            <a:avLst/>
          </a:prstGeom>
        </p:spPr>
        <p:txBody>
          <a:bodyPr wrap="none">
            <a:spAutoFit/>
          </a:bodyPr>
          <a:lstStyle/>
          <a:p>
            <a:pPr marL="12700" algn="ctr">
              <a:spcBef>
                <a:spcPts val="100"/>
              </a:spcBef>
            </a:pPr>
            <a:r>
              <a:rPr lang="en-US" sz="1400" dirty="0">
                <a:solidFill>
                  <a:schemeClr val="bg1"/>
                </a:solidFill>
              </a:rPr>
              <a:t>Secure Digital Forensic Evidence Storage System</a:t>
            </a:r>
            <a:endParaRPr lang="en-US" sz="1400" dirty="0">
              <a:solidFill>
                <a:schemeClr val="bg1"/>
              </a:solidFill>
              <a:latin typeface="Times New Roman"/>
              <a:cs typeface="Times New Roman"/>
            </a:endParaRPr>
          </a:p>
        </p:txBody>
      </p:sp>
      <p:sp>
        <p:nvSpPr>
          <p:cNvPr id="6" name="object 7">
            <a:extLst>
              <a:ext uri="{FF2B5EF4-FFF2-40B4-BE49-F238E27FC236}">
                <a16:creationId xmlns:a16="http://schemas.microsoft.com/office/drawing/2014/main" xmlns="" id="{C42EBEF0-D446-3503-6898-2738D242A7C0}"/>
              </a:ext>
            </a:extLst>
          </p:cNvPr>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B-16</a:t>
            </a:r>
          </a:p>
        </p:txBody>
      </p:sp>
      <p:sp>
        <p:nvSpPr>
          <p:cNvPr id="7" name="Rectangle 6"/>
          <p:cNvSpPr/>
          <p:nvPr/>
        </p:nvSpPr>
        <p:spPr>
          <a:xfrm>
            <a:off x="777240" y="6583796"/>
            <a:ext cx="12115800" cy="323165"/>
          </a:xfrm>
          <a:prstGeom prst="rect">
            <a:avLst/>
          </a:prstGeom>
        </p:spPr>
        <p:txBody>
          <a:bodyPr wrap="square">
            <a:spAutoFit/>
          </a:bodyPr>
          <a:lstStyle/>
          <a:p>
            <a:pPr marL="12700">
              <a:lnSpc>
                <a:spcPts val="1845"/>
              </a:lnSpc>
            </a:pPr>
            <a:r>
              <a:rPr lang="en-US" sz="1600" cap="small" spc="-75" dirty="0">
                <a:solidFill>
                  <a:schemeClr val="bg1"/>
                </a:solidFill>
                <a:latin typeface="Times New Roman" panose="02020603050405020304" pitchFamily="18" charset="0"/>
                <a:cs typeface="Times New Roman" panose="02020603050405020304" pitchFamily="18" charset="0"/>
              </a:rPr>
              <a:t>   Dept.</a:t>
            </a:r>
            <a:r>
              <a:rPr lang="en-US" sz="1600" cap="small" spc="-10" dirty="0">
                <a:solidFill>
                  <a:schemeClr val="bg1"/>
                </a:solidFill>
                <a:latin typeface="Times New Roman" panose="02020603050405020304" pitchFamily="18" charset="0"/>
                <a:cs typeface="Times New Roman" panose="02020603050405020304" pitchFamily="18" charset="0"/>
              </a:rPr>
              <a:t> </a:t>
            </a:r>
            <a:r>
              <a:rPr lang="en-US" sz="1600" cap="small" spc="-100" dirty="0">
                <a:solidFill>
                  <a:schemeClr val="bg1"/>
                </a:solidFill>
                <a:latin typeface="Times New Roman" panose="02020603050405020304" pitchFamily="18" charset="0"/>
                <a:cs typeface="Times New Roman" panose="02020603050405020304" pitchFamily="18" charset="0"/>
              </a:rPr>
              <a:t>of</a:t>
            </a:r>
            <a:r>
              <a:rPr lang="en-US" sz="1600" cap="small" spc="25" dirty="0">
                <a:solidFill>
                  <a:schemeClr val="bg1"/>
                </a:solidFill>
                <a:latin typeface="Times New Roman" panose="02020603050405020304" pitchFamily="18" charset="0"/>
                <a:cs typeface="Times New Roman" panose="02020603050405020304" pitchFamily="18" charset="0"/>
              </a:rPr>
              <a:t> </a:t>
            </a:r>
            <a:r>
              <a:rPr lang="en-US" sz="1600" cap="small" spc="-114" dirty="0">
                <a:solidFill>
                  <a:schemeClr val="bg1"/>
                </a:solidFill>
                <a:latin typeface="Times New Roman" panose="02020603050405020304" pitchFamily="18" charset="0"/>
                <a:cs typeface="Times New Roman" panose="02020603050405020304" pitchFamily="18" charset="0"/>
              </a:rPr>
              <a:t>Computer</a:t>
            </a:r>
            <a:r>
              <a:rPr lang="en-US" sz="1600" cap="small" spc="50" dirty="0">
                <a:solidFill>
                  <a:schemeClr val="bg1"/>
                </a:solidFill>
                <a:latin typeface="Times New Roman" panose="02020603050405020304" pitchFamily="18" charset="0"/>
                <a:cs typeface="Times New Roman" panose="02020603050405020304" pitchFamily="18" charset="0"/>
              </a:rPr>
              <a:t> </a:t>
            </a:r>
            <a:r>
              <a:rPr lang="en-US" sz="1600" cap="small" spc="-95" dirty="0">
                <a:solidFill>
                  <a:schemeClr val="bg1"/>
                </a:solidFill>
                <a:latin typeface="Times New Roman" panose="02020603050405020304" pitchFamily="18" charset="0"/>
                <a:cs typeface="Times New Roman" panose="02020603050405020304" pitchFamily="18" charset="0"/>
              </a:rPr>
              <a:t>Science</a:t>
            </a:r>
            <a:r>
              <a:rPr lang="en-US" sz="1600" cap="small" spc="50" dirty="0">
                <a:solidFill>
                  <a:schemeClr val="bg1"/>
                </a:solidFill>
                <a:latin typeface="Times New Roman" panose="02020603050405020304" pitchFamily="18" charset="0"/>
                <a:cs typeface="Times New Roman" panose="02020603050405020304" pitchFamily="18" charset="0"/>
              </a:rPr>
              <a:t> </a:t>
            </a:r>
            <a:r>
              <a:rPr lang="en-US" sz="1600" cap="small" spc="-130" dirty="0">
                <a:solidFill>
                  <a:schemeClr val="bg1"/>
                </a:solidFill>
                <a:latin typeface="Times New Roman" panose="02020603050405020304" pitchFamily="18" charset="0"/>
                <a:cs typeface="Times New Roman" panose="02020603050405020304" pitchFamily="18" charset="0"/>
              </a:rPr>
              <a:t>and</a:t>
            </a:r>
            <a:r>
              <a:rPr lang="en-US" sz="1600" cap="small" spc="45" dirty="0">
                <a:solidFill>
                  <a:schemeClr val="bg1"/>
                </a:solidFill>
                <a:latin typeface="Times New Roman" panose="02020603050405020304" pitchFamily="18" charset="0"/>
                <a:cs typeface="Times New Roman" panose="02020603050405020304" pitchFamily="18" charset="0"/>
              </a:rPr>
              <a:t> </a:t>
            </a:r>
            <a:r>
              <a:rPr lang="en-US" sz="1600" cap="small" spc="-110" dirty="0">
                <a:solidFill>
                  <a:schemeClr val="bg1"/>
                </a:solidFill>
                <a:latin typeface="Times New Roman" panose="02020603050405020304" pitchFamily="18" charset="0"/>
                <a:cs typeface="Times New Roman" panose="02020603050405020304" pitchFamily="18" charset="0"/>
              </a:rPr>
              <a:t>Engineering</a:t>
            </a:r>
            <a:r>
              <a:rPr lang="en-US" sz="1600" cap="small" spc="45" dirty="0">
                <a:solidFill>
                  <a:schemeClr val="bg1"/>
                </a:solidFill>
                <a:latin typeface="Times New Roman" panose="02020603050405020304" pitchFamily="18" charset="0"/>
                <a:cs typeface="Times New Roman" panose="02020603050405020304" pitchFamily="18" charset="0"/>
              </a:rPr>
              <a:t> </a:t>
            </a:r>
            <a:r>
              <a:rPr lang="en-US" sz="1600" cap="small" spc="-70" dirty="0">
                <a:solidFill>
                  <a:schemeClr val="bg1"/>
                </a:solidFill>
                <a:latin typeface="Times New Roman" panose="02020603050405020304" pitchFamily="18" charset="0"/>
                <a:cs typeface="Times New Roman" panose="02020603050405020304" pitchFamily="18" charset="0"/>
              </a:rPr>
              <a:t>(</a:t>
            </a:r>
            <a:r>
              <a:rPr lang="en-US" sz="1600" cap="small" spc="-70" dirty="0" err="1">
                <a:solidFill>
                  <a:schemeClr val="bg1"/>
                </a:solidFill>
                <a:latin typeface="Times New Roman" panose="02020603050405020304" pitchFamily="18" charset="0"/>
                <a:cs typeface="Times New Roman" panose="02020603050405020304" pitchFamily="18" charset="0"/>
              </a:rPr>
              <a:t>AI&amp;ml</a:t>
            </a:r>
            <a:r>
              <a:rPr lang="en-US" sz="1600" cap="small" spc="-95" dirty="0">
                <a:solidFill>
                  <a:schemeClr val="bg1"/>
                </a:solidFill>
                <a:latin typeface="Times New Roman" panose="02020603050405020304" pitchFamily="18" charset="0"/>
                <a:cs typeface="Times New Roman" panose="02020603050405020304" pitchFamily="18" charset="0"/>
              </a:rPr>
              <a:t>)                                              </a:t>
            </a:r>
            <a:r>
              <a:rPr lang="en-US" sz="1600" cap="small" spc="-95" dirty="0" err="1">
                <a:solidFill>
                  <a:schemeClr val="bg1"/>
                </a:solidFill>
                <a:latin typeface="Times New Roman" panose="02020603050405020304" pitchFamily="18" charset="0"/>
                <a:cs typeface="Times New Roman" panose="02020603050405020304" pitchFamily="18" charset="0"/>
              </a:rPr>
              <a:t>Srinivasa</a:t>
            </a:r>
            <a:r>
              <a:rPr lang="en-US" sz="1600" cap="small" spc="-95" dirty="0">
                <a:solidFill>
                  <a:schemeClr val="bg1"/>
                </a:solidFill>
                <a:latin typeface="Times New Roman" panose="02020603050405020304" pitchFamily="18" charset="0"/>
                <a:cs typeface="Times New Roman" panose="02020603050405020304" pitchFamily="18" charset="0"/>
              </a:rPr>
              <a:t> </a:t>
            </a:r>
            <a:r>
              <a:rPr lang="en-US" sz="1600" cap="small" spc="-95" dirty="0" err="1">
                <a:solidFill>
                  <a:schemeClr val="bg1"/>
                </a:solidFill>
                <a:latin typeface="Times New Roman" panose="02020603050405020304" pitchFamily="18" charset="0"/>
                <a:cs typeface="Times New Roman" panose="02020603050405020304" pitchFamily="18" charset="0"/>
              </a:rPr>
              <a:t>Ramanujan</a:t>
            </a:r>
            <a:r>
              <a:rPr lang="en-US" sz="1600" cap="small" spc="-95" dirty="0">
                <a:solidFill>
                  <a:schemeClr val="bg1"/>
                </a:solidFill>
                <a:latin typeface="Times New Roman" panose="02020603050405020304" pitchFamily="18" charset="0"/>
                <a:cs typeface="Times New Roman" panose="02020603050405020304" pitchFamily="18" charset="0"/>
              </a:rPr>
              <a:t> Institute of Technology                    </a:t>
            </a:r>
            <a:r>
              <a:rPr lang="en-US" sz="1600" b="1" cap="small" spc="-95" dirty="0" smtClean="0">
                <a:solidFill>
                  <a:schemeClr val="tx1"/>
                </a:solidFill>
                <a:latin typeface="Times New Roman" panose="02020603050405020304" pitchFamily="18" charset="0"/>
                <a:cs typeface="Times New Roman" panose="02020603050405020304" pitchFamily="18" charset="0"/>
              </a:rPr>
              <a:t>10</a:t>
            </a:r>
            <a:r>
              <a:rPr lang="en-US" sz="1600" b="1" cap="small" spc="-95" dirty="0" smtClean="0">
                <a:solidFill>
                  <a:schemeClr val="tx1"/>
                </a:solidFill>
                <a:latin typeface="Times New Roman" panose="02020603050405020304" pitchFamily="18" charset="0"/>
                <a:cs typeface="Times New Roman" panose="02020603050405020304" pitchFamily="18" charset="0"/>
              </a:rPr>
              <a:t>  </a:t>
            </a:r>
            <a:r>
              <a:rPr lang="en-US" sz="1600" cap="small" spc="-95" dirty="0" smtClean="0">
                <a:solidFill>
                  <a:schemeClr val="bg1"/>
                </a:solidFill>
                <a:latin typeface="Times New Roman" panose="02020603050405020304" pitchFamily="18" charset="0"/>
                <a:cs typeface="Times New Roman" panose="02020603050405020304" pitchFamily="18" charset="0"/>
              </a:rPr>
              <a:t>                 </a:t>
            </a:r>
            <a:endParaRPr lang="en-US" sz="1600" cap="small" spc="-95"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9185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07356" y="1752600"/>
            <a:ext cx="9977285" cy="3693319"/>
          </a:xfrm>
        </p:spPr>
        <p:txBody>
          <a:bodyPr/>
          <a:lstStyle/>
          <a:p>
            <a:pPr>
              <a:lnSpc>
                <a:spcPct val="150000"/>
              </a:lnSpc>
            </a:pPr>
            <a:r>
              <a:rPr lang="en-US" sz="2000" b="1" dirty="0" smtClean="0"/>
              <a:t>2. Non-Functional </a:t>
            </a:r>
            <a:r>
              <a:rPr lang="en-US" sz="2000" b="1" dirty="0"/>
              <a:t>Requirements</a:t>
            </a:r>
          </a:p>
          <a:p>
            <a:pPr>
              <a:lnSpc>
                <a:spcPct val="150000"/>
              </a:lnSpc>
            </a:pPr>
            <a:r>
              <a:rPr lang="en-US" sz="2000" b="1" dirty="0"/>
              <a:t>Security:</a:t>
            </a:r>
            <a:r>
              <a:rPr lang="en-US" sz="2000" dirty="0"/>
              <a:t> Multi-layer protection using MFA and encryption </a:t>
            </a:r>
          </a:p>
          <a:p>
            <a:pPr>
              <a:lnSpc>
                <a:spcPct val="150000"/>
              </a:lnSpc>
            </a:pPr>
            <a:r>
              <a:rPr lang="en-US" sz="2000" b="1" dirty="0"/>
              <a:t>Performance:</a:t>
            </a:r>
            <a:r>
              <a:rPr lang="en-US" sz="2000" dirty="0"/>
              <a:t> Fast encryption and system response </a:t>
            </a:r>
          </a:p>
          <a:p>
            <a:pPr>
              <a:lnSpc>
                <a:spcPct val="150000"/>
              </a:lnSpc>
            </a:pPr>
            <a:r>
              <a:rPr lang="en-US" sz="2000" b="1" dirty="0"/>
              <a:t>Reliability:</a:t>
            </a:r>
            <a:r>
              <a:rPr lang="en-US" sz="2000" dirty="0"/>
              <a:t> Ensures safe and consistent data storage </a:t>
            </a:r>
          </a:p>
          <a:p>
            <a:pPr>
              <a:lnSpc>
                <a:spcPct val="150000"/>
              </a:lnSpc>
            </a:pPr>
            <a:r>
              <a:rPr lang="en-US" sz="2000" b="1" dirty="0"/>
              <a:t>Scalability:</a:t>
            </a:r>
            <a:r>
              <a:rPr lang="en-US" sz="2000" dirty="0"/>
              <a:t> Supports growing users and data </a:t>
            </a:r>
          </a:p>
          <a:p>
            <a:pPr>
              <a:lnSpc>
                <a:spcPct val="150000"/>
              </a:lnSpc>
            </a:pPr>
            <a:r>
              <a:rPr lang="en-US" sz="2000" b="1" dirty="0"/>
              <a:t>Usability:</a:t>
            </a:r>
            <a:r>
              <a:rPr lang="en-US" sz="2000" dirty="0"/>
              <a:t> Simple and user-friendly interface </a:t>
            </a:r>
          </a:p>
          <a:p>
            <a:pPr>
              <a:lnSpc>
                <a:spcPct val="150000"/>
              </a:lnSpc>
            </a:pPr>
            <a:r>
              <a:rPr lang="en-US" sz="2000" b="1" dirty="0"/>
              <a:t>Auditability:</a:t>
            </a:r>
            <a:r>
              <a:rPr lang="en-US" sz="2000" dirty="0"/>
              <a:t> Tamper-proof logging using </a:t>
            </a:r>
            <a:r>
              <a:rPr lang="en-US" sz="2000" dirty="0" err="1"/>
              <a:t>blockchain</a:t>
            </a:r>
            <a:endParaRPr lang="en-US" sz="2000" dirty="0"/>
          </a:p>
          <a:p>
            <a:pPr>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4" name="object 5">
            <a:extLst>
              <a:ext uri="{FF2B5EF4-FFF2-40B4-BE49-F238E27FC236}">
                <a16:creationId xmlns:a16="http://schemas.microsoft.com/office/drawing/2014/main" xmlns="" id="{021057BB-8D93-F44B-B9E2-B26E2A078D57}"/>
              </a:ext>
            </a:extLst>
          </p:cNvPr>
          <p:cNvSpPr/>
          <p:nvPr/>
        </p:nvSpPr>
        <p:spPr>
          <a:xfrm>
            <a:off x="9832" y="212288"/>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152400" y="326885"/>
            <a:ext cx="4419600" cy="677108"/>
          </a:xfrm>
        </p:spPr>
        <p:txBody>
          <a:bodyPr/>
          <a:lstStyle/>
          <a:p>
            <a:r>
              <a:rPr lang="en-US" b="1" dirty="0" smtClean="0"/>
              <a:t>Requirements</a:t>
            </a:r>
            <a:endParaRPr lang="en-US" b="1" dirty="0"/>
          </a:p>
        </p:txBody>
      </p:sp>
      <p:sp>
        <p:nvSpPr>
          <p:cNvPr id="5" name="Rectangle 4"/>
          <p:cNvSpPr/>
          <p:nvPr/>
        </p:nvSpPr>
        <p:spPr>
          <a:xfrm>
            <a:off x="4015943" y="-69160"/>
            <a:ext cx="4160113" cy="307777"/>
          </a:xfrm>
          <a:prstGeom prst="rect">
            <a:avLst/>
          </a:prstGeom>
        </p:spPr>
        <p:txBody>
          <a:bodyPr wrap="none">
            <a:spAutoFit/>
          </a:bodyPr>
          <a:lstStyle/>
          <a:p>
            <a:pPr marL="12700" algn="ctr">
              <a:spcBef>
                <a:spcPts val="100"/>
              </a:spcBef>
            </a:pPr>
            <a:r>
              <a:rPr lang="en-US" sz="1400" dirty="0">
                <a:solidFill>
                  <a:schemeClr val="bg1"/>
                </a:solidFill>
              </a:rPr>
              <a:t>Secure Digital Forensic Evidence Storage System</a:t>
            </a:r>
            <a:endParaRPr lang="en-US" sz="1400" dirty="0">
              <a:solidFill>
                <a:schemeClr val="bg1"/>
              </a:solidFill>
              <a:latin typeface="Times New Roman"/>
              <a:cs typeface="Times New Roman"/>
            </a:endParaRPr>
          </a:p>
        </p:txBody>
      </p:sp>
      <p:sp>
        <p:nvSpPr>
          <p:cNvPr id="6" name="object 7">
            <a:extLst>
              <a:ext uri="{FF2B5EF4-FFF2-40B4-BE49-F238E27FC236}">
                <a16:creationId xmlns:a16="http://schemas.microsoft.com/office/drawing/2014/main" xmlns="" id="{C42EBEF0-D446-3503-6898-2738D242A7C0}"/>
              </a:ext>
            </a:extLst>
          </p:cNvPr>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B-16</a:t>
            </a:r>
          </a:p>
        </p:txBody>
      </p:sp>
      <p:sp>
        <p:nvSpPr>
          <p:cNvPr id="7" name="Rectangle 6"/>
          <p:cNvSpPr/>
          <p:nvPr/>
        </p:nvSpPr>
        <p:spPr>
          <a:xfrm>
            <a:off x="777240" y="6583796"/>
            <a:ext cx="12115800" cy="323165"/>
          </a:xfrm>
          <a:prstGeom prst="rect">
            <a:avLst/>
          </a:prstGeom>
        </p:spPr>
        <p:txBody>
          <a:bodyPr wrap="square">
            <a:spAutoFit/>
          </a:bodyPr>
          <a:lstStyle/>
          <a:p>
            <a:pPr marL="12700">
              <a:lnSpc>
                <a:spcPts val="1845"/>
              </a:lnSpc>
            </a:pPr>
            <a:r>
              <a:rPr lang="en-US" sz="1600" cap="small" spc="-75" dirty="0">
                <a:solidFill>
                  <a:schemeClr val="bg1"/>
                </a:solidFill>
                <a:latin typeface="Times New Roman" panose="02020603050405020304" pitchFamily="18" charset="0"/>
                <a:cs typeface="Times New Roman" panose="02020603050405020304" pitchFamily="18" charset="0"/>
              </a:rPr>
              <a:t>   Dept.</a:t>
            </a:r>
            <a:r>
              <a:rPr lang="en-US" sz="1600" cap="small" spc="-10" dirty="0">
                <a:solidFill>
                  <a:schemeClr val="bg1"/>
                </a:solidFill>
                <a:latin typeface="Times New Roman" panose="02020603050405020304" pitchFamily="18" charset="0"/>
                <a:cs typeface="Times New Roman" panose="02020603050405020304" pitchFamily="18" charset="0"/>
              </a:rPr>
              <a:t> </a:t>
            </a:r>
            <a:r>
              <a:rPr lang="en-US" sz="1600" cap="small" spc="-100" dirty="0">
                <a:solidFill>
                  <a:schemeClr val="bg1"/>
                </a:solidFill>
                <a:latin typeface="Times New Roman" panose="02020603050405020304" pitchFamily="18" charset="0"/>
                <a:cs typeface="Times New Roman" panose="02020603050405020304" pitchFamily="18" charset="0"/>
              </a:rPr>
              <a:t>of</a:t>
            </a:r>
            <a:r>
              <a:rPr lang="en-US" sz="1600" cap="small" spc="25" dirty="0">
                <a:solidFill>
                  <a:schemeClr val="bg1"/>
                </a:solidFill>
                <a:latin typeface="Times New Roman" panose="02020603050405020304" pitchFamily="18" charset="0"/>
                <a:cs typeface="Times New Roman" panose="02020603050405020304" pitchFamily="18" charset="0"/>
              </a:rPr>
              <a:t> </a:t>
            </a:r>
            <a:r>
              <a:rPr lang="en-US" sz="1600" cap="small" spc="-114" dirty="0">
                <a:solidFill>
                  <a:schemeClr val="bg1"/>
                </a:solidFill>
                <a:latin typeface="Times New Roman" panose="02020603050405020304" pitchFamily="18" charset="0"/>
                <a:cs typeface="Times New Roman" panose="02020603050405020304" pitchFamily="18" charset="0"/>
              </a:rPr>
              <a:t>Computer</a:t>
            </a:r>
            <a:r>
              <a:rPr lang="en-US" sz="1600" cap="small" spc="50" dirty="0">
                <a:solidFill>
                  <a:schemeClr val="bg1"/>
                </a:solidFill>
                <a:latin typeface="Times New Roman" panose="02020603050405020304" pitchFamily="18" charset="0"/>
                <a:cs typeface="Times New Roman" panose="02020603050405020304" pitchFamily="18" charset="0"/>
              </a:rPr>
              <a:t> </a:t>
            </a:r>
            <a:r>
              <a:rPr lang="en-US" sz="1600" cap="small" spc="-95" dirty="0">
                <a:solidFill>
                  <a:schemeClr val="bg1"/>
                </a:solidFill>
                <a:latin typeface="Times New Roman" panose="02020603050405020304" pitchFamily="18" charset="0"/>
                <a:cs typeface="Times New Roman" panose="02020603050405020304" pitchFamily="18" charset="0"/>
              </a:rPr>
              <a:t>Science</a:t>
            </a:r>
            <a:r>
              <a:rPr lang="en-US" sz="1600" cap="small" spc="50" dirty="0">
                <a:solidFill>
                  <a:schemeClr val="bg1"/>
                </a:solidFill>
                <a:latin typeface="Times New Roman" panose="02020603050405020304" pitchFamily="18" charset="0"/>
                <a:cs typeface="Times New Roman" panose="02020603050405020304" pitchFamily="18" charset="0"/>
              </a:rPr>
              <a:t> </a:t>
            </a:r>
            <a:r>
              <a:rPr lang="en-US" sz="1600" cap="small" spc="-130" dirty="0">
                <a:solidFill>
                  <a:schemeClr val="bg1"/>
                </a:solidFill>
                <a:latin typeface="Times New Roman" panose="02020603050405020304" pitchFamily="18" charset="0"/>
                <a:cs typeface="Times New Roman" panose="02020603050405020304" pitchFamily="18" charset="0"/>
              </a:rPr>
              <a:t>and</a:t>
            </a:r>
            <a:r>
              <a:rPr lang="en-US" sz="1600" cap="small" spc="45" dirty="0">
                <a:solidFill>
                  <a:schemeClr val="bg1"/>
                </a:solidFill>
                <a:latin typeface="Times New Roman" panose="02020603050405020304" pitchFamily="18" charset="0"/>
                <a:cs typeface="Times New Roman" panose="02020603050405020304" pitchFamily="18" charset="0"/>
              </a:rPr>
              <a:t> </a:t>
            </a:r>
            <a:r>
              <a:rPr lang="en-US" sz="1600" cap="small" spc="-110" dirty="0">
                <a:solidFill>
                  <a:schemeClr val="bg1"/>
                </a:solidFill>
                <a:latin typeface="Times New Roman" panose="02020603050405020304" pitchFamily="18" charset="0"/>
                <a:cs typeface="Times New Roman" panose="02020603050405020304" pitchFamily="18" charset="0"/>
              </a:rPr>
              <a:t>Engineering</a:t>
            </a:r>
            <a:r>
              <a:rPr lang="en-US" sz="1600" cap="small" spc="45" dirty="0">
                <a:solidFill>
                  <a:schemeClr val="bg1"/>
                </a:solidFill>
                <a:latin typeface="Times New Roman" panose="02020603050405020304" pitchFamily="18" charset="0"/>
                <a:cs typeface="Times New Roman" panose="02020603050405020304" pitchFamily="18" charset="0"/>
              </a:rPr>
              <a:t> </a:t>
            </a:r>
            <a:r>
              <a:rPr lang="en-US" sz="1600" cap="small" spc="-70" dirty="0">
                <a:solidFill>
                  <a:schemeClr val="bg1"/>
                </a:solidFill>
                <a:latin typeface="Times New Roman" panose="02020603050405020304" pitchFamily="18" charset="0"/>
                <a:cs typeface="Times New Roman" panose="02020603050405020304" pitchFamily="18" charset="0"/>
              </a:rPr>
              <a:t>(</a:t>
            </a:r>
            <a:r>
              <a:rPr lang="en-US" sz="1600" cap="small" spc="-70" dirty="0" err="1">
                <a:solidFill>
                  <a:schemeClr val="bg1"/>
                </a:solidFill>
                <a:latin typeface="Times New Roman" panose="02020603050405020304" pitchFamily="18" charset="0"/>
                <a:cs typeface="Times New Roman" panose="02020603050405020304" pitchFamily="18" charset="0"/>
              </a:rPr>
              <a:t>AI&amp;ml</a:t>
            </a:r>
            <a:r>
              <a:rPr lang="en-US" sz="1600" cap="small" spc="-95" dirty="0">
                <a:solidFill>
                  <a:schemeClr val="bg1"/>
                </a:solidFill>
                <a:latin typeface="Times New Roman" panose="02020603050405020304" pitchFamily="18" charset="0"/>
                <a:cs typeface="Times New Roman" panose="02020603050405020304" pitchFamily="18" charset="0"/>
              </a:rPr>
              <a:t>)                                              </a:t>
            </a:r>
            <a:r>
              <a:rPr lang="en-US" sz="1600" cap="small" spc="-95" dirty="0" err="1">
                <a:solidFill>
                  <a:schemeClr val="bg1"/>
                </a:solidFill>
                <a:latin typeface="Times New Roman" panose="02020603050405020304" pitchFamily="18" charset="0"/>
                <a:cs typeface="Times New Roman" panose="02020603050405020304" pitchFamily="18" charset="0"/>
              </a:rPr>
              <a:t>Srinivasa</a:t>
            </a:r>
            <a:r>
              <a:rPr lang="en-US" sz="1600" cap="small" spc="-95" dirty="0">
                <a:solidFill>
                  <a:schemeClr val="bg1"/>
                </a:solidFill>
                <a:latin typeface="Times New Roman" panose="02020603050405020304" pitchFamily="18" charset="0"/>
                <a:cs typeface="Times New Roman" panose="02020603050405020304" pitchFamily="18" charset="0"/>
              </a:rPr>
              <a:t> </a:t>
            </a:r>
            <a:r>
              <a:rPr lang="en-US" sz="1600" cap="small" spc="-95" dirty="0" err="1">
                <a:solidFill>
                  <a:schemeClr val="bg1"/>
                </a:solidFill>
                <a:latin typeface="Times New Roman" panose="02020603050405020304" pitchFamily="18" charset="0"/>
                <a:cs typeface="Times New Roman" panose="02020603050405020304" pitchFamily="18" charset="0"/>
              </a:rPr>
              <a:t>Ramanujan</a:t>
            </a:r>
            <a:r>
              <a:rPr lang="en-US" sz="1600" cap="small" spc="-95" dirty="0">
                <a:solidFill>
                  <a:schemeClr val="bg1"/>
                </a:solidFill>
                <a:latin typeface="Times New Roman" panose="02020603050405020304" pitchFamily="18" charset="0"/>
                <a:cs typeface="Times New Roman" panose="02020603050405020304" pitchFamily="18" charset="0"/>
              </a:rPr>
              <a:t> Institute of Technology                    </a:t>
            </a:r>
            <a:r>
              <a:rPr lang="en-US" sz="1600" b="1" cap="small" spc="-95" dirty="0" smtClean="0">
                <a:solidFill>
                  <a:schemeClr val="tx1"/>
                </a:solidFill>
                <a:latin typeface="Times New Roman" panose="02020603050405020304" pitchFamily="18" charset="0"/>
                <a:cs typeface="Times New Roman" panose="02020603050405020304" pitchFamily="18" charset="0"/>
              </a:rPr>
              <a:t>11</a:t>
            </a:r>
            <a:r>
              <a:rPr lang="en-US" sz="1600" b="1" cap="small" spc="-95" dirty="0" smtClean="0">
                <a:solidFill>
                  <a:schemeClr val="tx1"/>
                </a:solidFill>
                <a:latin typeface="Times New Roman" panose="02020603050405020304" pitchFamily="18" charset="0"/>
                <a:cs typeface="Times New Roman" panose="02020603050405020304" pitchFamily="18" charset="0"/>
              </a:rPr>
              <a:t>   </a:t>
            </a:r>
            <a:r>
              <a:rPr lang="en-US" sz="1600" cap="small" spc="-95" dirty="0" smtClean="0">
                <a:solidFill>
                  <a:schemeClr val="bg1"/>
                </a:solidFill>
                <a:latin typeface="Times New Roman" panose="02020603050405020304" pitchFamily="18" charset="0"/>
                <a:cs typeface="Times New Roman" panose="02020603050405020304" pitchFamily="18" charset="0"/>
              </a:rPr>
              <a:t>                 </a:t>
            </a:r>
            <a:endParaRPr lang="en-US" sz="1600" cap="small" spc="-95"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71349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07356" y="1260735"/>
            <a:ext cx="9977285" cy="5484643"/>
          </a:xfrm>
        </p:spPr>
        <p:txBody>
          <a:bodyPr/>
          <a:lstStyle/>
          <a:p>
            <a:pPr>
              <a:lnSpc>
                <a:spcPct val="150000"/>
              </a:lnSpc>
            </a:pPr>
            <a:r>
              <a:rPr lang="en-US" sz="2000" b="1" dirty="0" smtClean="0">
                <a:latin typeface="Times New Roman" panose="02020603050405020304" pitchFamily="18" charset="0"/>
                <a:cs typeface="Times New Roman" panose="02020603050405020304" pitchFamily="18" charset="0"/>
              </a:rPr>
              <a:t>3System </a:t>
            </a:r>
            <a:r>
              <a:rPr lang="en-US" sz="2000" b="1" dirty="0">
                <a:latin typeface="Times New Roman" panose="02020603050405020304" pitchFamily="18" charset="0"/>
                <a:cs typeface="Times New Roman" panose="02020603050405020304" pitchFamily="18" charset="0"/>
              </a:rPr>
              <a:t>Requirements</a:t>
            </a:r>
          </a:p>
          <a:p>
            <a:pPr>
              <a:lnSpc>
                <a:spcPct val="150000"/>
              </a:lnSpc>
            </a:pPr>
            <a:r>
              <a:rPr lang="en-US" sz="2000" b="1" dirty="0">
                <a:latin typeface="Times New Roman" panose="02020603050405020304" pitchFamily="18" charset="0"/>
                <a:cs typeface="Times New Roman" panose="02020603050405020304" pitchFamily="18" charset="0"/>
              </a:rPr>
              <a:t>🔹 Software</a:t>
            </a:r>
          </a:p>
          <a:p>
            <a:pPr>
              <a:lnSpc>
                <a:spcPct val="150000"/>
              </a:lnSpc>
            </a:pPr>
            <a:r>
              <a:rPr lang="en-US" sz="2000" dirty="0">
                <a:latin typeface="Times New Roman" panose="02020603050405020304" pitchFamily="18" charset="0"/>
                <a:cs typeface="Times New Roman" panose="02020603050405020304" pitchFamily="18" charset="0"/>
              </a:rPr>
              <a:t>OS: Windows / Linux </a:t>
            </a:r>
          </a:p>
          <a:p>
            <a:pPr>
              <a:lnSpc>
                <a:spcPct val="150000"/>
              </a:lnSpc>
            </a:pPr>
            <a:r>
              <a:rPr lang="en-US" sz="2000" dirty="0">
                <a:latin typeface="Times New Roman" panose="02020603050405020304" pitchFamily="18" charset="0"/>
                <a:cs typeface="Times New Roman" panose="02020603050405020304" pitchFamily="18" charset="0"/>
              </a:rPr>
              <a:t>Backend: </a:t>
            </a:r>
            <a:r>
              <a:rPr lang="en-US" sz="2000" dirty="0" err="1">
                <a:latin typeface="Times New Roman" panose="02020603050405020304" pitchFamily="18" charset="0"/>
                <a:cs typeface="Times New Roman" panose="02020603050405020304" pitchFamily="18" charset="0"/>
              </a:rPr>
              <a:t>Django</a:t>
            </a:r>
            <a:r>
              <a:rPr lang="en-US" sz="2000" dirty="0">
                <a:latin typeface="Times New Roman" panose="02020603050405020304" pitchFamily="18" charset="0"/>
                <a:cs typeface="Times New Roman" panose="02020603050405020304" pitchFamily="18" charset="0"/>
              </a:rPr>
              <a:t> (Python) </a:t>
            </a:r>
          </a:p>
          <a:p>
            <a:pPr>
              <a:lnSpc>
                <a:spcPct val="150000"/>
              </a:lnSpc>
            </a:pPr>
            <a:r>
              <a:rPr lang="en-US" sz="2000" dirty="0">
                <a:latin typeface="Times New Roman" panose="02020603050405020304" pitchFamily="18" charset="0"/>
                <a:cs typeface="Times New Roman" panose="02020603050405020304" pitchFamily="18" charset="0"/>
              </a:rPr>
              <a:t>Frontend: HTML, CSS, Bootstrap </a:t>
            </a:r>
          </a:p>
          <a:p>
            <a:pPr>
              <a:lnSpc>
                <a:spcPct val="150000"/>
              </a:lnSpc>
            </a:pPr>
            <a:r>
              <a:rPr lang="en-US" sz="2000" dirty="0">
                <a:latin typeface="Times New Roman" panose="02020603050405020304" pitchFamily="18" charset="0"/>
                <a:cs typeface="Times New Roman" panose="02020603050405020304" pitchFamily="18" charset="0"/>
              </a:rPr>
              <a:t>Database: SQLite / </a:t>
            </a:r>
            <a:r>
              <a:rPr lang="en-US" sz="2000" dirty="0" err="1">
                <a:latin typeface="Times New Roman" panose="02020603050405020304" pitchFamily="18" charset="0"/>
                <a:cs typeface="Times New Roman" panose="02020603050405020304" pitchFamily="18" charset="0"/>
              </a:rPr>
              <a:t>PostgreSQL</a:t>
            </a:r>
            <a:r>
              <a:rPr lang="en-US" sz="2000" dirty="0">
                <a:latin typeface="Times New Roman" panose="02020603050405020304" pitchFamily="18" charset="0"/>
                <a:cs typeface="Times New Roman" panose="02020603050405020304" pitchFamily="18" charset="0"/>
              </a:rPr>
              <a:t> </a:t>
            </a:r>
          </a:p>
          <a:p>
            <a:pPr>
              <a:lnSpc>
                <a:spcPct val="150000"/>
              </a:lnSpc>
            </a:pPr>
            <a:r>
              <a:rPr lang="en-US" sz="2000" dirty="0">
                <a:latin typeface="Times New Roman" panose="02020603050405020304" pitchFamily="18" charset="0"/>
                <a:cs typeface="Times New Roman" panose="02020603050405020304" pitchFamily="18" charset="0"/>
              </a:rPr>
              <a:t>Libraries: </a:t>
            </a:r>
            <a:r>
              <a:rPr lang="en-US" sz="2000" dirty="0" err="1">
                <a:latin typeface="Times New Roman" panose="02020603050405020304" pitchFamily="18" charset="0"/>
                <a:cs typeface="Times New Roman" panose="02020603050405020304" pitchFamily="18" charset="0"/>
              </a:rPr>
              <a:t>PyOTP</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PyJWT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PyCryptodome</a:t>
            </a:r>
            <a:r>
              <a:rPr lang="en-US" sz="2000" dirty="0">
                <a:latin typeface="Times New Roman" panose="02020603050405020304" pitchFamily="18" charset="0"/>
                <a:cs typeface="Times New Roman" panose="02020603050405020304" pitchFamily="18" charset="0"/>
              </a:rPr>
              <a:t>, Cryptography </a:t>
            </a:r>
          </a:p>
          <a:p>
            <a:pPr>
              <a:lnSpc>
                <a:spcPct val="150000"/>
              </a:lnSpc>
            </a:pPr>
            <a:r>
              <a:rPr lang="en-US" sz="2000" b="1" dirty="0">
                <a:latin typeface="Times New Roman" panose="02020603050405020304" pitchFamily="18" charset="0"/>
                <a:cs typeface="Times New Roman" panose="02020603050405020304" pitchFamily="18" charset="0"/>
              </a:rPr>
              <a:t>🔹 Hardware</a:t>
            </a:r>
          </a:p>
          <a:p>
            <a:pPr>
              <a:lnSpc>
                <a:spcPct val="150000"/>
              </a:lnSpc>
            </a:pPr>
            <a:r>
              <a:rPr lang="en-US" sz="2000" dirty="0">
                <a:latin typeface="Times New Roman" panose="02020603050405020304" pitchFamily="18" charset="0"/>
                <a:cs typeface="Times New Roman" panose="02020603050405020304" pitchFamily="18" charset="0"/>
              </a:rPr>
              <a:t>Processor: i3 or above </a:t>
            </a:r>
          </a:p>
          <a:p>
            <a:pPr>
              <a:lnSpc>
                <a:spcPct val="150000"/>
              </a:lnSpc>
            </a:pPr>
            <a:r>
              <a:rPr lang="en-US" sz="2000" dirty="0">
                <a:latin typeface="Times New Roman" panose="02020603050405020304" pitchFamily="18" charset="0"/>
                <a:cs typeface="Times New Roman" panose="02020603050405020304" pitchFamily="18" charset="0"/>
              </a:rPr>
              <a:t>RAM: Minimum 4 GB </a:t>
            </a:r>
          </a:p>
          <a:p>
            <a:pPr>
              <a:lnSpc>
                <a:spcPct val="150000"/>
              </a:lnSpc>
            </a:pPr>
            <a:r>
              <a:rPr lang="en-US" sz="2000" dirty="0" smtClean="0">
                <a:latin typeface="Times New Roman" panose="02020603050405020304" pitchFamily="18" charset="0"/>
                <a:cs typeface="Times New Roman" panose="02020603050405020304" pitchFamily="18" charset="0"/>
              </a:rPr>
              <a:t>Internet </a:t>
            </a:r>
            <a:r>
              <a:rPr lang="en-US" sz="2000" dirty="0">
                <a:latin typeface="Times New Roman" panose="02020603050405020304" pitchFamily="18" charset="0"/>
                <a:cs typeface="Times New Roman" panose="02020603050405020304" pitchFamily="18" charset="0"/>
              </a:rPr>
              <a:t>Connection</a:t>
            </a:r>
          </a:p>
          <a:p>
            <a:pPr>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4" name="object 5">
            <a:extLst>
              <a:ext uri="{FF2B5EF4-FFF2-40B4-BE49-F238E27FC236}">
                <a16:creationId xmlns:a16="http://schemas.microsoft.com/office/drawing/2014/main" xmlns="" id="{021057BB-8D93-F44B-B9E2-B26E2A078D57}"/>
              </a:ext>
            </a:extLst>
          </p:cNvPr>
          <p:cNvSpPr/>
          <p:nvPr/>
        </p:nvSpPr>
        <p:spPr>
          <a:xfrm>
            <a:off x="9832" y="212288"/>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152400" y="326885"/>
            <a:ext cx="4419600" cy="677108"/>
          </a:xfrm>
        </p:spPr>
        <p:txBody>
          <a:bodyPr/>
          <a:lstStyle/>
          <a:p>
            <a:r>
              <a:rPr lang="en-US" b="1" dirty="0" smtClean="0"/>
              <a:t>Requirements</a:t>
            </a:r>
            <a:endParaRPr lang="en-US" b="1" dirty="0"/>
          </a:p>
        </p:txBody>
      </p:sp>
      <p:sp>
        <p:nvSpPr>
          <p:cNvPr id="5" name="Rectangle 4"/>
          <p:cNvSpPr/>
          <p:nvPr/>
        </p:nvSpPr>
        <p:spPr>
          <a:xfrm>
            <a:off x="4015943" y="-69160"/>
            <a:ext cx="4160113" cy="307777"/>
          </a:xfrm>
          <a:prstGeom prst="rect">
            <a:avLst/>
          </a:prstGeom>
        </p:spPr>
        <p:txBody>
          <a:bodyPr wrap="none">
            <a:spAutoFit/>
          </a:bodyPr>
          <a:lstStyle/>
          <a:p>
            <a:pPr marL="12700" algn="ctr">
              <a:spcBef>
                <a:spcPts val="100"/>
              </a:spcBef>
            </a:pPr>
            <a:r>
              <a:rPr lang="en-US" sz="1400" dirty="0">
                <a:solidFill>
                  <a:schemeClr val="bg1"/>
                </a:solidFill>
              </a:rPr>
              <a:t>Secure Digital Forensic Evidence Storage System</a:t>
            </a:r>
            <a:endParaRPr lang="en-US" sz="1400" dirty="0">
              <a:solidFill>
                <a:schemeClr val="bg1"/>
              </a:solidFill>
              <a:latin typeface="Times New Roman"/>
              <a:cs typeface="Times New Roman"/>
            </a:endParaRPr>
          </a:p>
        </p:txBody>
      </p:sp>
      <p:sp>
        <p:nvSpPr>
          <p:cNvPr id="6" name="object 7">
            <a:extLst>
              <a:ext uri="{FF2B5EF4-FFF2-40B4-BE49-F238E27FC236}">
                <a16:creationId xmlns:a16="http://schemas.microsoft.com/office/drawing/2014/main" xmlns="" id="{C42EBEF0-D446-3503-6898-2738D242A7C0}"/>
              </a:ext>
            </a:extLst>
          </p:cNvPr>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B-16</a:t>
            </a:r>
          </a:p>
        </p:txBody>
      </p:sp>
      <p:sp>
        <p:nvSpPr>
          <p:cNvPr id="7" name="Rectangle 6"/>
          <p:cNvSpPr/>
          <p:nvPr/>
        </p:nvSpPr>
        <p:spPr>
          <a:xfrm>
            <a:off x="777240" y="6583796"/>
            <a:ext cx="12115800" cy="323165"/>
          </a:xfrm>
          <a:prstGeom prst="rect">
            <a:avLst/>
          </a:prstGeom>
        </p:spPr>
        <p:txBody>
          <a:bodyPr wrap="square">
            <a:spAutoFit/>
          </a:bodyPr>
          <a:lstStyle/>
          <a:p>
            <a:pPr marL="12700">
              <a:lnSpc>
                <a:spcPts val="1845"/>
              </a:lnSpc>
            </a:pPr>
            <a:r>
              <a:rPr lang="en-US" sz="1600" cap="small" spc="-75" dirty="0">
                <a:solidFill>
                  <a:schemeClr val="bg1"/>
                </a:solidFill>
                <a:latin typeface="Times New Roman" panose="02020603050405020304" pitchFamily="18" charset="0"/>
                <a:cs typeface="Times New Roman" panose="02020603050405020304" pitchFamily="18" charset="0"/>
              </a:rPr>
              <a:t>   Dept.</a:t>
            </a:r>
            <a:r>
              <a:rPr lang="en-US" sz="1600" cap="small" spc="-10" dirty="0">
                <a:solidFill>
                  <a:schemeClr val="bg1"/>
                </a:solidFill>
                <a:latin typeface="Times New Roman" panose="02020603050405020304" pitchFamily="18" charset="0"/>
                <a:cs typeface="Times New Roman" panose="02020603050405020304" pitchFamily="18" charset="0"/>
              </a:rPr>
              <a:t> </a:t>
            </a:r>
            <a:r>
              <a:rPr lang="en-US" sz="1600" cap="small" spc="-100" dirty="0">
                <a:solidFill>
                  <a:schemeClr val="bg1"/>
                </a:solidFill>
                <a:latin typeface="Times New Roman" panose="02020603050405020304" pitchFamily="18" charset="0"/>
                <a:cs typeface="Times New Roman" panose="02020603050405020304" pitchFamily="18" charset="0"/>
              </a:rPr>
              <a:t>of</a:t>
            </a:r>
            <a:r>
              <a:rPr lang="en-US" sz="1600" cap="small" spc="25" dirty="0">
                <a:solidFill>
                  <a:schemeClr val="bg1"/>
                </a:solidFill>
                <a:latin typeface="Times New Roman" panose="02020603050405020304" pitchFamily="18" charset="0"/>
                <a:cs typeface="Times New Roman" panose="02020603050405020304" pitchFamily="18" charset="0"/>
              </a:rPr>
              <a:t> </a:t>
            </a:r>
            <a:r>
              <a:rPr lang="en-US" sz="1600" cap="small" spc="-114" dirty="0">
                <a:solidFill>
                  <a:schemeClr val="bg1"/>
                </a:solidFill>
                <a:latin typeface="Times New Roman" panose="02020603050405020304" pitchFamily="18" charset="0"/>
                <a:cs typeface="Times New Roman" panose="02020603050405020304" pitchFamily="18" charset="0"/>
              </a:rPr>
              <a:t>Computer</a:t>
            </a:r>
            <a:r>
              <a:rPr lang="en-US" sz="1600" cap="small" spc="50" dirty="0">
                <a:solidFill>
                  <a:schemeClr val="bg1"/>
                </a:solidFill>
                <a:latin typeface="Times New Roman" panose="02020603050405020304" pitchFamily="18" charset="0"/>
                <a:cs typeface="Times New Roman" panose="02020603050405020304" pitchFamily="18" charset="0"/>
              </a:rPr>
              <a:t> </a:t>
            </a:r>
            <a:r>
              <a:rPr lang="en-US" sz="1600" cap="small" spc="-95" dirty="0">
                <a:solidFill>
                  <a:schemeClr val="bg1"/>
                </a:solidFill>
                <a:latin typeface="Times New Roman" panose="02020603050405020304" pitchFamily="18" charset="0"/>
                <a:cs typeface="Times New Roman" panose="02020603050405020304" pitchFamily="18" charset="0"/>
              </a:rPr>
              <a:t>Science</a:t>
            </a:r>
            <a:r>
              <a:rPr lang="en-US" sz="1600" cap="small" spc="50" dirty="0">
                <a:solidFill>
                  <a:schemeClr val="bg1"/>
                </a:solidFill>
                <a:latin typeface="Times New Roman" panose="02020603050405020304" pitchFamily="18" charset="0"/>
                <a:cs typeface="Times New Roman" panose="02020603050405020304" pitchFamily="18" charset="0"/>
              </a:rPr>
              <a:t> </a:t>
            </a:r>
            <a:r>
              <a:rPr lang="en-US" sz="1600" cap="small" spc="-130" dirty="0">
                <a:solidFill>
                  <a:schemeClr val="bg1"/>
                </a:solidFill>
                <a:latin typeface="Times New Roman" panose="02020603050405020304" pitchFamily="18" charset="0"/>
                <a:cs typeface="Times New Roman" panose="02020603050405020304" pitchFamily="18" charset="0"/>
              </a:rPr>
              <a:t>and</a:t>
            </a:r>
            <a:r>
              <a:rPr lang="en-US" sz="1600" cap="small" spc="45" dirty="0">
                <a:solidFill>
                  <a:schemeClr val="bg1"/>
                </a:solidFill>
                <a:latin typeface="Times New Roman" panose="02020603050405020304" pitchFamily="18" charset="0"/>
                <a:cs typeface="Times New Roman" panose="02020603050405020304" pitchFamily="18" charset="0"/>
              </a:rPr>
              <a:t> </a:t>
            </a:r>
            <a:r>
              <a:rPr lang="en-US" sz="1600" cap="small" spc="-110" dirty="0">
                <a:solidFill>
                  <a:schemeClr val="bg1"/>
                </a:solidFill>
                <a:latin typeface="Times New Roman" panose="02020603050405020304" pitchFamily="18" charset="0"/>
                <a:cs typeface="Times New Roman" panose="02020603050405020304" pitchFamily="18" charset="0"/>
              </a:rPr>
              <a:t>Engineering</a:t>
            </a:r>
            <a:r>
              <a:rPr lang="en-US" sz="1600" cap="small" spc="45" dirty="0">
                <a:solidFill>
                  <a:schemeClr val="bg1"/>
                </a:solidFill>
                <a:latin typeface="Times New Roman" panose="02020603050405020304" pitchFamily="18" charset="0"/>
                <a:cs typeface="Times New Roman" panose="02020603050405020304" pitchFamily="18" charset="0"/>
              </a:rPr>
              <a:t> </a:t>
            </a:r>
            <a:r>
              <a:rPr lang="en-US" sz="1600" cap="small" spc="-70" dirty="0">
                <a:solidFill>
                  <a:schemeClr val="bg1"/>
                </a:solidFill>
                <a:latin typeface="Times New Roman" panose="02020603050405020304" pitchFamily="18" charset="0"/>
                <a:cs typeface="Times New Roman" panose="02020603050405020304" pitchFamily="18" charset="0"/>
              </a:rPr>
              <a:t>(</a:t>
            </a:r>
            <a:r>
              <a:rPr lang="en-US" sz="1600" cap="small" spc="-70" dirty="0" err="1">
                <a:solidFill>
                  <a:schemeClr val="bg1"/>
                </a:solidFill>
                <a:latin typeface="Times New Roman" panose="02020603050405020304" pitchFamily="18" charset="0"/>
                <a:cs typeface="Times New Roman" panose="02020603050405020304" pitchFamily="18" charset="0"/>
              </a:rPr>
              <a:t>AI&amp;ml</a:t>
            </a:r>
            <a:r>
              <a:rPr lang="en-US" sz="1600" cap="small" spc="-95" dirty="0">
                <a:solidFill>
                  <a:schemeClr val="bg1"/>
                </a:solidFill>
                <a:latin typeface="Times New Roman" panose="02020603050405020304" pitchFamily="18" charset="0"/>
                <a:cs typeface="Times New Roman" panose="02020603050405020304" pitchFamily="18" charset="0"/>
              </a:rPr>
              <a:t>)                                              </a:t>
            </a:r>
            <a:r>
              <a:rPr lang="en-US" sz="1600" cap="small" spc="-95" dirty="0" err="1">
                <a:solidFill>
                  <a:schemeClr val="bg1"/>
                </a:solidFill>
                <a:latin typeface="Times New Roman" panose="02020603050405020304" pitchFamily="18" charset="0"/>
                <a:cs typeface="Times New Roman" panose="02020603050405020304" pitchFamily="18" charset="0"/>
              </a:rPr>
              <a:t>Srinivasa</a:t>
            </a:r>
            <a:r>
              <a:rPr lang="en-US" sz="1600" cap="small" spc="-95" dirty="0">
                <a:solidFill>
                  <a:schemeClr val="bg1"/>
                </a:solidFill>
                <a:latin typeface="Times New Roman" panose="02020603050405020304" pitchFamily="18" charset="0"/>
                <a:cs typeface="Times New Roman" panose="02020603050405020304" pitchFamily="18" charset="0"/>
              </a:rPr>
              <a:t> </a:t>
            </a:r>
            <a:r>
              <a:rPr lang="en-US" sz="1600" cap="small" spc="-95" dirty="0" err="1">
                <a:solidFill>
                  <a:schemeClr val="bg1"/>
                </a:solidFill>
                <a:latin typeface="Times New Roman" panose="02020603050405020304" pitchFamily="18" charset="0"/>
                <a:cs typeface="Times New Roman" panose="02020603050405020304" pitchFamily="18" charset="0"/>
              </a:rPr>
              <a:t>Ramanujan</a:t>
            </a:r>
            <a:r>
              <a:rPr lang="en-US" sz="1600" cap="small" spc="-95" dirty="0">
                <a:solidFill>
                  <a:schemeClr val="bg1"/>
                </a:solidFill>
                <a:latin typeface="Times New Roman" panose="02020603050405020304" pitchFamily="18" charset="0"/>
                <a:cs typeface="Times New Roman" panose="02020603050405020304" pitchFamily="18" charset="0"/>
              </a:rPr>
              <a:t> Institute of Technology                    </a:t>
            </a:r>
            <a:r>
              <a:rPr lang="en-US" sz="1600" b="1" cap="small" spc="-95" dirty="0" smtClean="0">
                <a:solidFill>
                  <a:schemeClr val="tx1"/>
                </a:solidFill>
                <a:latin typeface="Times New Roman" panose="02020603050405020304" pitchFamily="18" charset="0"/>
                <a:cs typeface="Times New Roman" panose="02020603050405020304" pitchFamily="18" charset="0"/>
              </a:rPr>
              <a:t>12</a:t>
            </a:r>
            <a:r>
              <a:rPr lang="en-US" sz="1600" b="1" cap="small" spc="-95" dirty="0" smtClean="0">
                <a:solidFill>
                  <a:schemeClr val="tx1"/>
                </a:solidFill>
                <a:latin typeface="Times New Roman" panose="02020603050405020304" pitchFamily="18" charset="0"/>
                <a:cs typeface="Times New Roman" panose="02020603050405020304" pitchFamily="18" charset="0"/>
              </a:rPr>
              <a:t>   </a:t>
            </a:r>
            <a:r>
              <a:rPr lang="en-US" sz="1600" cap="small" spc="-95" dirty="0" smtClean="0">
                <a:solidFill>
                  <a:schemeClr val="bg1"/>
                </a:solidFill>
                <a:latin typeface="Times New Roman" panose="02020603050405020304" pitchFamily="18" charset="0"/>
                <a:cs typeface="Times New Roman" panose="02020603050405020304" pitchFamily="18" charset="0"/>
              </a:rPr>
              <a:t>                 </a:t>
            </a:r>
            <a:endParaRPr lang="en-US" sz="1600" cap="small" spc="-95"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85658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6610184"/>
            <a:ext cx="10972800" cy="553998"/>
          </a:xfrm>
        </p:spPr>
        <p:txBody>
          <a:bodyPr/>
          <a:lstStyle/>
          <a:p>
            <a:r>
              <a:rPr lang="en-US" cap="small" spc="-75" dirty="0">
                <a:solidFill>
                  <a:schemeClr val="bg1"/>
                </a:solidFill>
              </a:rPr>
              <a:t>Dept.</a:t>
            </a:r>
            <a:r>
              <a:rPr lang="en-US" cap="small" spc="-10" dirty="0">
                <a:solidFill>
                  <a:schemeClr val="bg1"/>
                </a:solidFill>
              </a:rPr>
              <a:t> </a:t>
            </a:r>
            <a:r>
              <a:rPr lang="en-US" cap="small" spc="-100" dirty="0">
                <a:solidFill>
                  <a:schemeClr val="bg1"/>
                </a:solidFill>
              </a:rPr>
              <a:t>of</a:t>
            </a:r>
            <a:r>
              <a:rPr lang="en-US" cap="small" spc="25" dirty="0">
                <a:solidFill>
                  <a:schemeClr val="bg1"/>
                </a:solidFill>
              </a:rPr>
              <a:t> </a:t>
            </a:r>
            <a:r>
              <a:rPr lang="en-US" cap="small" spc="-114" dirty="0">
                <a:solidFill>
                  <a:schemeClr val="bg1"/>
                </a:solidFill>
              </a:rPr>
              <a:t>Computer</a:t>
            </a:r>
            <a:r>
              <a:rPr lang="en-US" cap="small" spc="50" dirty="0">
                <a:solidFill>
                  <a:schemeClr val="bg1"/>
                </a:solidFill>
              </a:rPr>
              <a:t> </a:t>
            </a:r>
            <a:r>
              <a:rPr lang="en-US" cap="small" spc="-95" dirty="0">
                <a:solidFill>
                  <a:schemeClr val="bg1"/>
                </a:solidFill>
              </a:rPr>
              <a:t>Science</a:t>
            </a:r>
            <a:r>
              <a:rPr lang="en-US" cap="small" spc="50" dirty="0">
                <a:solidFill>
                  <a:schemeClr val="bg1"/>
                </a:solidFill>
              </a:rPr>
              <a:t> </a:t>
            </a:r>
            <a:r>
              <a:rPr lang="en-US" cap="small" spc="-130" dirty="0">
                <a:solidFill>
                  <a:schemeClr val="bg1"/>
                </a:solidFill>
              </a:rPr>
              <a:t>and</a:t>
            </a:r>
            <a:r>
              <a:rPr lang="en-US" cap="small" spc="45" dirty="0">
                <a:solidFill>
                  <a:schemeClr val="bg1"/>
                </a:solidFill>
              </a:rPr>
              <a:t> </a:t>
            </a:r>
            <a:r>
              <a:rPr lang="en-US" cap="small" spc="-110" dirty="0">
                <a:solidFill>
                  <a:schemeClr val="bg1"/>
                </a:solidFill>
              </a:rPr>
              <a:t>Engineering</a:t>
            </a:r>
            <a:r>
              <a:rPr lang="en-US" cap="small" spc="45" dirty="0">
                <a:solidFill>
                  <a:schemeClr val="bg1"/>
                </a:solidFill>
              </a:rPr>
              <a:t> </a:t>
            </a:r>
            <a:r>
              <a:rPr lang="en-US" cap="small" spc="-70" dirty="0">
                <a:solidFill>
                  <a:schemeClr val="bg1"/>
                </a:solidFill>
              </a:rPr>
              <a:t>(</a:t>
            </a:r>
            <a:r>
              <a:rPr lang="en-US" cap="small" spc="-70" dirty="0" err="1">
                <a:solidFill>
                  <a:schemeClr val="bg1"/>
                </a:solidFill>
              </a:rPr>
              <a:t>AI&amp;ml</a:t>
            </a:r>
            <a:r>
              <a:rPr lang="en-US" cap="small" spc="-95" dirty="0">
                <a:solidFill>
                  <a:schemeClr val="bg1"/>
                </a:solidFill>
              </a:rPr>
              <a:t>)                      	  </a:t>
            </a:r>
            <a:r>
              <a:rPr lang="en-US" cap="small" spc="-95" dirty="0" err="1">
                <a:solidFill>
                  <a:schemeClr val="bg1"/>
                </a:solidFill>
              </a:rPr>
              <a:t>Srinivasa</a:t>
            </a:r>
            <a:r>
              <a:rPr lang="en-US" cap="small" spc="-95" dirty="0">
                <a:solidFill>
                  <a:schemeClr val="bg1"/>
                </a:solidFill>
              </a:rPr>
              <a:t> </a:t>
            </a:r>
            <a:r>
              <a:rPr lang="en-US" cap="small" spc="-95" dirty="0" err="1">
                <a:solidFill>
                  <a:schemeClr val="bg1"/>
                </a:solidFill>
              </a:rPr>
              <a:t>Ramanujan</a:t>
            </a:r>
            <a:r>
              <a:rPr lang="en-US" cap="small" spc="-95" dirty="0">
                <a:solidFill>
                  <a:schemeClr val="bg1"/>
                </a:solidFill>
              </a:rPr>
              <a:t> Institute of Technology                                </a:t>
            </a:r>
            <a:r>
              <a:rPr lang="en-US" sz="1600" b="1" cap="small" spc="-95" dirty="0" smtClean="0">
                <a:solidFill>
                  <a:schemeClr val="tx1"/>
                </a:solidFill>
              </a:rPr>
              <a:t>13</a:t>
            </a:r>
            <a:endParaRPr lang="en-US" sz="1600" b="1" cap="small" spc="-95" dirty="0">
              <a:solidFill>
                <a:schemeClr val="tx1"/>
              </a:solidFill>
            </a:endParaRPr>
          </a:p>
          <a:p>
            <a:endParaRPr lang="en-US" dirty="0"/>
          </a:p>
        </p:txBody>
      </p:sp>
      <p:sp>
        <p:nvSpPr>
          <p:cNvPr id="2" name="Title 1"/>
          <p:cNvSpPr>
            <a:spLocks noGrp="1"/>
          </p:cNvSpPr>
          <p:nvPr>
            <p:ph type="title"/>
          </p:nvPr>
        </p:nvSpPr>
        <p:spPr>
          <a:xfrm>
            <a:off x="152400" y="339855"/>
            <a:ext cx="4267200" cy="1354217"/>
          </a:xfrm>
        </p:spPr>
        <p:txBody>
          <a:bodyPr/>
          <a:lstStyle/>
          <a:p>
            <a:r>
              <a:rPr lang="en-US" b="1" dirty="0"/>
              <a:t>Proposed System</a:t>
            </a:r>
          </a:p>
        </p:txBody>
      </p:sp>
      <p:sp>
        <p:nvSpPr>
          <p:cNvPr id="6" name="Rectangle 5"/>
          <p:cNvSpPr/>
          <p:nvPr/>
        </p:nvSpPr>
        <p:spPr>
          <a:xfrm>
            <a:off x="9832" y="6631261"/>
            <a:ext cx="732893" cy="323165"/>
          </a:xfrm>
          <a:prstGeom prst="rect">
            <a:avLst/>
          </a:prstGeom>
        </p:spPr>
        <p:txBody>
          <a:bodyPr wrap="none">
            <a:spAutoFit/>
          </a:bodyPr>
          <a:lstStyle/>
          <a:p>
            <a:pPr marL="12700">
              <a:lnSpc>
                <a:spcPts val="1845"/>
              </a:lnSpc>
            </a:pPr>
            <a:r>
              <a:rPr lang="en-IN" spc="-25" dirty="0">
                <a:solidFill>
                  <a:schemeClr val="bg1"/>
                </a:solidFill>
              </a:rPr>
              <a:t>B -16</a:t>
            </a:r>
          </a:p>
        </p:txBody>
      </p:sp>
      <p:sp>
        <p:nvSpPr>
          <p:cNvPr id="9" name="Rectangle 8"/>
          <p:cNvSpPr/>
          <p:nvPr/>
        </p:nvSpPr>
        <p:spPr>
          <a:xfrm>
            <a:off x="3810000" y="0"/>
            <a:ext cx="4236313" cy="307777"/>
          </a:xfrm>
          <a:prstGeom prst="rect">
            <a:avLst/>
          </a:prstGeom>
        </p:spPr>
        <p:txBody>
          <a:bodyPr wrap="square">
            <a:spAutoFit/>
          </a:bodyPr>
          <a:lstStyle/>
          <a:p>
            <a:pPr marL="12700" marR="0" lvl="0" indent="0" algn="ctr" defTabSz="914400" eaLnBrk="1" fontAlgn="auto" latinLnBrk="0" hangingPunct="1">
              <a:lnSpc>
                <a:spcPct val="100000"/>
              </a:lnSpc>
              <a:spcBef>
                <a:spcPts val="10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rPr>
              <a:t>Secure Digital Forensic Evidence Storage System</a:t>
            </a:r>
            <a:endParaRPr kumimoji="0" lang="en-US" sz="1400" b="0" i="0" u="none" strike="noStrike" kern="0" cap="none" spc="0" normalizeH="0" baseline="0" noProof="0" dirty="0">
              <a:ln>
                <a:noFill/>
              </a:ln>
              <a:solidFill>
                <a:prstClr val="white"/>
              </a:solidFill>
              <a:effectLst/>
              <a:uLnTx/>
              <a:uFillTx/>
              <a:latin typeface="Times New Roman"/>
              <a:cs typeface="Times New Roman"/>
            </a:endParaRPr>
          </a:p>
        </p:txBody>
      </p:sp>
      <p:pic>
        <p:nvPicPr>
          <p:cNvPr id="7" name="Picture 6" descr="Gemini_Generated_Image_mboredmboredmbor"/>
          <p:cNvPicPr/>
          <p:nvPr/>
        </p:nvPicPr>
        <p:blipFill>
          <a:blip r:embed="rId3">
            <a:extLst>
              <a:ext uri="{28A0092B-C50C-407E-A947-70E740481C1C}">
                <a14:useLocalDpi xmlns:a14="http://schemas.microsoft.com/office/drawing/2010/main" val="0"/>
              </a:ext>
            </a:extLst>
          </a:blip>
          <a:stretch>
            <a:fillRect/>
          </a:stretch>
        </p:blipFill>
        <p:spPr>
          <a:xfrm>
            <a:off x="2362201" y="1694072"/>
            <a:ext cx="7162800" cy="4706728"/>
          </a:xfrm>
          <a:prstGeom prst="rect">
            <a:avLst/>
          </a:prstGeom>
        </p:spPr>
      </p:pic>
      <p:sp>
        <p:nvSpPr>
          <p:cNvPr id="8" name="object 5">
            <a:extLst>
              <a:ext uri="{FF2B5EF4-FFF2-40B4-BE49-F238E27FC236}">
                <a16:creationId xmlns:a16="http://schemas.microsoft.com/office/drawing/2014/main" xmlns="" id="{30513A1C-239C-B928-A044-F829A49F0D17}"/>
              </a:ext>
            </a:extLst>
          </p:cNvPr>
          <p:cNvSpPr/>
          <p:nvPr/>
        </p:nvSpPr>
        <p:spPr>
          <a:xfrm>
            <a:off x="0" y="228601"/>
            <a:ext cx="12172336" cy="990599"/>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52400" y="312293"/>
            <a:ext cx="6096000" cy="769441"/>
          </a:xfrm>
          <a:prstGeom prst="rect">
            <a:avLst/>
          </a:prstGeom>
          <a:noFill/>
        </p:spPr>
        <p:txBody>
          <a:bodyPr wrap="square" rtlCol="0">
            <a:spAutoFit/>
          </a:bodyPr>
          <a:lstStyle/>
          <a:p>
            <a:r>
              <a:rPr lang="en-US" sz="4400" b="1" dirty="0" smtClean="0">
                <a:solidFill>
                  <a:schemeClr val="bg1"/>
                </a:solidFill>
              </a:rPr>
              <a:t>System Architecture</a:t>
            </a:r>
            <a:endParaRPr lang="en-US" sz="4400" b="1" dirty="0">
              <a:solidFill>
                <a:schemeClr val="bg1"/>
              </a:solidFill>
            </a:endParaRPr>
          </a:p>
        </p:txBody>
      </p:sp>
    </p:spTree>
    <p:extLst>
      <p:ext uri="{BB962C8B-B14F-4D97-AF65-F5344CB8AC3E}">
        <p14:creationId xmlns:p14="http://schemas.microsoft.com/office/powerpoint/2010/main" val="12513755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B931819-BD2D-B786-D7DD-96ABD311A155}"/>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xmlns="" id="{FF65975D-5A32-3BA7-60A4-B0594FC93BE6}"/>
              </a:ext>
            </a:extLst>
          </p:cNvPr>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dirty="0"/>
          </a:p>
        </p:txBody>
      </p:sp>
      <p:sp>
        <p:nvSpPr>
          <p:cNvPr id="7" name="object 7">
            <a:extLst>
              <a:ext uri="{FF2B5EF4-FFF2-40B4-BE49-F238E27FC236}">
                <a16:creationId xmlns:a16="http://schemas.microsoft.com/office/drawing/2014/main" xmlns="" id="{FAB1C1B7-C0F0-849D-6176-F97252B53AFF}"/>
              </a:ext>
            </a:extLst>
          </p:cNvPr>
          <p:cNvSpPr/>
          <p:nvPr/>
        </p:nvSpPr>
        <p:spPr>
          <a:xfrm>
            <a:off x="0" y="6624856"/>
            <a:ext cx="762000" cy="231331"/>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a:t>
            </a:r>
            <a:r>
              <a:rPr lang="en-US" sz="1600" dirty="0">
                <a:solidFill>
                  <a:schemeClr val="bg1"/>
                </a:solidFill>
                <a:latin typeface="Times New Roman"/>
                <a:ea typeface="+mn-lt"/>
                <a:cs typeface="Times New Roman"/>
              </a:rPr>
              <a:t>B-16</a:t>
            </a:r>
          </a:p>
        </p:txBody>
      </p:sp>
      <p:sp>
        <p:nvSpPr>
          <p:cNvPr id="10" name="object 9">
            <a:extLst>
              <a:ext uri="{FF2B5EF4-FFF2-40B4-BE49-F238E27FC236}">
                <a16:creationId xmlns:a16="http://schemas.microsoft.com/office/drawing/2014/main" xmlns="" id="{A339265E-AAA8-4E00-E070-740FC72A3D5E}"/>
              </a:ext>
            </a:extLst>
          </p:cNvPr>
          <p:cNvSpPr txBox="1">
            <a:spLocks noGrp="1"/>
          </p:cNvSpPr>
          <p:nvPr>
            <p:ph type="dt" sz="half" idx="6"/>
          </p:nvPr>
        </p:nvSpPr>
        <p:spPr>
          <a:xfrm>
            <a:off x="1123125" y="6629792"/>
            <a:ext cx="1061167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r>
              <a:rPr lang="en-US" cap="small" spc="-95" dirty="0"/>
              <a:t>                             Srinivasa Ramanujan Institute of Technology  </a:t>
            </a:r>
            <a:endParaRPr cap="small" spc="-95" dirty="0"/>
          </a:p>
        </p:txBody>
      </p:sp>
      <p:sp>
        <p:nvSpPr>
          <p:cNvPr id="22" name="object 5">
            <a:extLst>
              <a:ext uri="{FF2B5EF4-FFF2-40B4-BE49-F238E27FC236}">
                <a16:creationId xmlns:a16="http://schemas.microsoft.com/office/drawing/2014/main" xmlns="" id="{EB71B47D-3E69-3777-AECE-78AAAE31E5D7}"/>
              </a:ext>
            </a:extLst>
          </p:cNvPr>
          <p:cNvSpPr/>
          <p:nvPr/>
        </p:nvSpPr>
        <p:spPr>
          <a:xfrm>
            <a:off x="-1" y="241239"/>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6" name="object 6">
            <a:extLst>
              <a:ext uri="{FF2B5EF4-FFF2-40B4-BE49-F238E27FC236}">
                <a16:creationId xmlns:a16="http://schemas.microsoft.com/office/drawing/2014/main" xmlns="" id="{E1CBF879-DD70-0900-2E31-B5401B0A5274}"/>
              </a:ext>
            </a:extLst>
          </p:cNvPr>
          <p:cNvSpPr txBox="1">
            <a:spLocks noGrp="1"/>
          </p:cNvSpPr>
          <p:nvPr>
            <p:ph type="title"/>
          </p:nvPr>
        </p:nvSpPr>
        <p:spPr>
          <a:xfrm>
            <a:off x="20182" y="331753"/>
            <a:ext cx="8133218" cy="689932"/>
          </a:xfrm>
          <a:prstGeom prst="rect">
            <a:avLst/>
          </a:prstGeom>
        </p:spPr>
        <p:txBody>
          <a:bodyPr vert="horz" wrap="square" lIns="0" tIns="12700" rIns="0" bIns="0" rtlCol="0">
            <a:spAutoFit/>
          </a:bodyPr>
          <a:lstStyle/>
          <a:p>
            <a:pPr marL="12700" algn="ctr">
              <a:lnSpc>
                <a:spcPct val="100000"/>
              </a:lnSpc>
            </a:pPr>
            <a:r>
              <a:rPr lang="en-IN" b="1" spc="-10" dirty="0" smtClean="0"/>
              <a:t>Workflow and Implementation</a:t>
            </a:r>
            <a:endParaRPr b="1" spc="-10" dirty="0"/>
          </a:p>
        </p:txBody>
      </p:sp>
      <p:sp>
        <p:nvSpPr>
          <p:cNvPr id="28" name="object 2">
            <a:extLst>
              <a:ext uri="{FF2B5EF4-FFF2-40B4-BE49-F238E27FC236}">
                <a16:creationId xmlns:a16="http://schemas.microsoft.com/office/drawing/2014/main" xmlns="" id="{C86D60A3-51E7-EDDD-14B9-611D39CA2A7C}"/>
              </a:ext>
            </a:extLst>
          </p:cNvPr>
          <p:cNvSpPr txBox="1"/>
          <p:nvPr/>
        </p:nvSpPr>
        <p:spPr>
          <a:xfrm>
            <a:off x="3429000" y="5249"/>
            <a:ext cx="4890061" cy="228268"/>
          </a:xfrm>
          <a:prstGeom prst="rect">
            <a:avLst/>
          </a:prstGeom>
        </p:spPr>
        <p:txBody>
          <a:bodyPr vert="horz" wrap="square" lIns="0" tIns="12700" rIns="0" bIns="0" rtlCol="0" anchor="t">
            <a:spAutoFit/>
          </a:bodyPr>
          <a:lstStyle/>
          <a:p>
            <a:pPr marL="12700" algn="ctr">
              <a:spcBef>
                <a:spcPts val="100"/>
              </a:spcBef>
            </a:pPr>
            <a:r>
              <a:rPr lang="en-US" sz="1400" dirty="0">
                <a:solidFill>
                  <a:schemeClr val="bg1"/>
                </a:solidFill>
              </a:rPr>
              <a:t>Secure Digital Forensic Evidence Storage System</a:t>
            </a:r>
            <a:endParaRPr lang="en-US" sz="1600" dirty="0">
              <a:solidFill>
                <a:schemeClr val="bg1"/>
              </a:solidFill>
              <a:latin typeface="Times New Roman"/>
              <a:cs typeface="Times New Roman"/>
            </a:endParaRPr>
          </a:p>
        </p:txBody>
      </p:sp>
      <p:sp>
        <p:nvSpPr>
          <p:cNvPr id="29" name="object 12">
            <a:extLst>
              <a:ext uri="{FF2B5EF4-FFF2-40B4-BE49-F238E27FC236}">
                <a16:creationId xmlns:a16="http://schemas.microsoft.com/office/drawing/2014/main" xmlns="" id="{170CA6EE-45D2-B17E-8404-AE48F1B3E780}"/>
              </a:ext>
            </a:extLst>
          </p:cNvPr>
          <p:cNvSpPr txBox="1">
            <a:spLocks noGrp="1"/>
          </p:cNvSpPr>
          <p:nvPr>
            <p:ph type="sldNum" sz="quarter" idx="7"/>
          </p:nvPr>
        </p:nvSpPr>
        <p:spPr>
          <a:xfrm>
            <a:off x="11858823" y="6629309"/>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14</a:t>
            </a:fld>
            <a:endParaRPr spc="-25" dirty="0"/>
          </a:p>
        </p:txBody>
      </p:sp>
      <p:sp>
        <p:nvSpPr>
          <p:cNvPr id="16" name="Rectangle 7">
            <a:extLst>
              <a:ext uri="{FF2B5EF4-FFF2-40B4-BE49-F238E27FC236}">
                <a16:creationId xmlns:a16="http://schemas.microsoft.com/office/drawing/2014/main" xmlns="" id="{5577AE71-B96D-FE4C-F625-166DDA0E0270}"/>
              </a:ext>
            </a:extLst>
          </p:cNvPr>
          <p:cNvSpPr>
            <a:spLocks noChangeArrowheads="1"/>
          </p:cNvSpPr>
          <p:nvPr/>
        </p:nvSpPr>
        <p:spPr bwMode="auto">
          <a:xfrm>
            <a:off x="423149" y="1119921"/>
            <a:ext cx="11582400" cy="2954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US" sz="2000" b="1" dirty="0" smtClean="0">
                <a:latin typeface="Times New Roman" panose="02020603050405020304" pitchFamily="18" charset="0"/>
                <a:cs typeface="Times New Roman" panose="02020603050405020304" pitchFamily="18" charset="0"/>
              </a:rPr>
              <a:t>1. User Registration &amp; MFA Setup</a:t>
            </a:r>
          </a:p>
          <a:p>
            <a:pPr algn="just">
              <a:lnSpc>
                <a:spcPct val="150000"/>
              </a:lnSpc>
            </a:pPr>
            <a:r>
              <a:rPr lang="en-US" sz="2000" dirty="0" smtClean="0">
                <a:latin typeface="Times New Roman" panose="02020603050405020304" pitchFamily="18" charset="0"/>
                <a:cs typeface="Times New Roman" panose="02020603050405020304" pitchFamily="18" charset="0"/>
              </a:rPr>
              <a:t>         User registers and system generates a secret key and sends QR code via email </a:t>
            </a:r>
          </a:p>
          <a:p>
            <a:pPr algn="just">
              <a:lnSpc>
                <a:spcPct val="150000"/>
              </a:lnSpc>
            </a:pPr>
            <a:r>
              <a:rPr lang="en-US" sz="2000" dirty="0" smtClean="0">
                <a:latin typeface="Times New Roman" panose="02020603050405020304" pitchFamily="18" charset="0"/>
                <a:cs typeface="Times New Roman" panose="02020603050405020304" pitchFamily="18" charset="0"/>
              </a:rPr>
              <a:t>         User scans QR code using authenticator app </a:t>
            </a:r>
          </a:p>
          <a:p>
            <a:pPr algn="just">
              <a:lnSpc>
                <a:spcPct val="150000"/>
              </a:lnSpc>
            </a:pP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Admin reviews and approves the user</a:t>
            </a:r>
          </a:p>
          <a:p>
            <a:pPr algn="just">
              <a:lnSpc>
                <a:spcPct val="150000"/>
              </a:lnSpc>
            </a:pPr>
            <a:endParaRPr lang="en-US" sz="2000" dirty="0" smtClean="0">
              <a:latin typeface="Times New Roman" panose="02020603050405020304" pitchFamily="18" charset="0"/>
              <a:cs typeface="Times New Roman" panose="02020603050405020304" pitchFamily="18" charset="0"/>
            </a:endParaRPr>
          </a:p>
          <a:p>
            <a:endParaRPr lang="en-US" dirty="0" smtClean="0"/>
          </a:p>
          <a:p>
            <a:pPr marL="0" marR="0" lvl="0" indent="0" algn="just" defTabSz="914400" rtl="0" eaLnBrk="0" fontAlgn="base" latinLnBrk="0" hangingPunct="0">
              <a:lnSpc>
                <a:spcPct val="100000"/>
              </a:lnSpc>
              <a:spcBef>
                <a:spcPct val="0"/>
              </a:spcBef>
              <a:spcAft>
                <a:spcPct val="0"/>
              </a:spcAft>
              <a:buClrTx/>
              <a:buSzTx/>
              <a:tabLst/>
            </a:pPr>
            <a:endParaRPr kumimoji="0" lang="en-US" altLang="en-US"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stretch>
            <a:fillRect/>
          </a:stretch>
        </p:blipFill>
        <p:spPr>
          <a:xfrm>
            <a:off x="990600" y="3124200"/>
            <a:ext cx="4667955" cy="3276600"/>
          </a:xfrm>
          <a:prstGeom prst="rect">
            <a:avLst/>
          </a:prstGeom>
        </p:spPr>
      </p:pic>
      <p:pic>
        <p:nvPicPr>
          <p:cNvPr id="3" name="Picture 2"/>
          <p:cNvPicPr>
            <a:picLocks noChangeAspect="1"/>
          </p:cNvPicPr>
          <p:nvPr/>
        </p:nvPicPr>
        <p:blipFill>
          <a:blip r:embed="rId4"/>
          <a:stretch>
            <a:fillRect/>
          </a:stretch>
        </p:blipFill>
        <p:spPr>
          <a:xfrm>
            <a:off x="6066816" y="3124200"/>
            <a:ext cx="4800600" cy="3268341"/>
          </a:xfrm>
          <a:prstGeom prst="rect">
            <a:avLst/>
          </a:prstGeom>
        </p:spPr>
      </p:pic>
    </p:spTree>
    <p:extLst>
      <p:ext uri="{BB962C8B-B14F-4D97-AF65-F5344CB8AC3E}">
        <p14:creationId xmlns:p14="http://schemas.microsoft.com/office/powerpoint/2010/main" val="3638442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B931819-BD2D-B786-D7DD-96ABD311A155}"/>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xmlns="" id="{FF65975D-5A32-3BA7-60A4-B0594FC93BE6}"/>
              </a:ext>
            </a:extLst>
          </p:cNvPr>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dirty="0"/>
          </a:p>
        </p:txBody>
      </p:sp>
      <p:sp>
        <p:nvSpPr>
          <p:cNvPr id="7" name="object 7">
            <a:extLst>
              <a:ext uri="{FF2B5EF4-FFF2-40B4-BE49-F238E27FC236}">
                <a16:creationId xmlns:a16="http://schemas.microsoft.com/office/drawing/2014/main" xmlns="" id="{FAB1C1B7-C0F0-849D-6176-F97252B53AFF}"/>
              </a:ext>
            </a:extLst>
          </p:cNvPr>
          <p:cNvSpPr/>
          <p:nvPr/>
        </p:nvSpPr>
        <p:spPr>
          <a:xfrm>
            <a:off x="0" y="6624856"/>
            <a:ext cx="762000" cy="231331"/>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a:t>
            </a:r>
            <a:r>
              <a:rPr lang="en-US" sz="1600" dirty="0">
                <a:solidFill>
                  <a:schemeClr val="bg1"/>
                </a:solidFill>
                <a:latin typeface="Times New Roman"/>
                <a:ea typeface="+mn-lt"/>
                <a:cs typeface="Times New Roman"/>
              </a:rPr>
              <a:t>B-16</a:t>
            </a:r>
          </a:p>
        </p:txBody>
      </p:sp>
      <p:sp>
        <p:nvSpPr>
          <p:cNvPr id="10" name="object 9">
            <a:extLst>
              <a:ext uri="{FF2B5EF4-FFF2-40B4-BE49-F238E27FC236}">
                <a16:creationId xmlns:a16="http://schemas.microsoft.com/office/drawing/2014/main" xmlns="" id="{A339265E-AAA8-4E00-E070-740FC72A3D5E}"/>
              </a:ext>
            </a:extLst>
          </p:cNvPr>
          <p:cNvSpPr txBox="1">
            <a:spLocks noGrp="1"/>
          </p:cNvSpPr>
          <p:nvPr>
            <p:ph type="dt" sz="half" idx="6"/>
          </p:nvPr>
        </p:nvSpPr>
        <p:spPr>
          <a:xfrm>
            <a:off x="1123125" y="6629792"/>
            <a:ext cx="1061167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r>
              <a:rPr lang="en-US" cap="small" spc="-95" dirty="0"/>
              <a:t>                             Srinivasa Ramanujan Institute of Technology  </a:t>
            </a:r>
            <a:endParaRPr cap="small" spc="-95" dirty="0"/>
          </a:p>
        </p:txBody>
      </p:sp>
      <p:sp>
        <p:nvSpPr>
          <p:cNvPr id="22" name="object 5">
            <a:extLst>
              <a:ext uri="{FF2B5EF4-FFF2-40B4-BE49-F238E27FC236}">
                <a16:creationId xmlns:a16="http://schemas.microsoft.com/office/drawing/2014/main" xmlns="" id="{EB71B47D-3E69-3777-AECE-78AAAE31E5D7}"/>
              </a:ext>
            </a:extLst>
          </p:cNvPr>
          <p:cNvSpPr/>
          <p:nvPr/>
        </p:nvSpPr>
        <p:spPr>
          <a:xfrm>
            <a:off x="-1" y="228827"/>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6" name="object 6">
            <a:extLst>
              <a:ext uri="{FF2B5EF4-FFF2-40B4-BE49-F238E27FC236}">
                <a16:creationId xmlns:a16="http://schemas.microsoft.com/office/drawing/2014/main" xmlns="" id="{E1CBF879-DD70-0900-2E31-B5401B0A5274}"/>
              </a:ext>
            </a:extLst>
          </p:cNvPr>
          <p:cNvSpPr txBox="1">
            <a:spLocks noGrp="1"/>
          </p:cNvSpPr>
          <p:nvPr>
            <p:ph type="title"/>
          </p:nvPr>
        </p:nvSpPr>
        <p:spPr>
          <a:xfrm>
            <a:off x="20182" y="331753"/>
            <a:ext cx="2951618" cy="689932"/>
          </a:xfrm>
          <a:prstGeom prst="rect">
            <a:avLst/>
          </a:prstGeom>
        </p:spPr>
        <p:txBody>
          <a:bodyPr vert="horz" wrap="square" lIns="0" tIns="12700" rIns="0" bIns="0" rtlCol="0">
            <a:spAutoFit/>
          </a:bodyPr>
          <a:lstStyle/>
          <a:p>
            <a:pPr marL="12700" algn="ctr">
              <a:lnSpc>
                <a:spcPct val="100000"/>
              </a:lnSpc>
            </a:pPr>
            <a:r>
              <a:rPr lang="en-IN" b="1" spc="-10" dirty="0" smtClean="0"/>
              <a:t>Contd..</a:t>
            </a:r>
            <a:endParaRPr b="1" spc="-10" dirty="0"/>
          </a:p>
        </p:txBody>
      </p:sp>
      <p:sp>
        <p:nvSpPr>
          <p:cNvPr id="28" name="object 2">
            <a:extLst>
              <a:ext uri="{FF2B5EF4-FFF2-40B4-BE49-F238E27FC236}">
                <a16:creationId xmlns:a16="http://schemas.microsoft.com/office/drawing/2014/main" xmlns="" id="{C86D60A3-51E7-EDDD-14B9-611D39CA2A7C}"/>
              </a:ext>
            </a:extLst>
          </p:cNvPr>
          <p:cNvSpPr txBox="1"/>
          <p:nvPr/>
        </p:nvSpPr>
        <p:spPr>
          <a:xfrm>
            <a:off x="3429000" y="5249"/>
            <a:ext cx="4890061" cy="228268"/>
          </a:xfrm>
          <a:prstGeom prst="rect">
            <a:avLst/>
          </a:prstGeom>
        </p:spPr>
        <p:txBody>
          <a:bodyPr vert="horz" wrap="square" lIns="0" tIns="12700" rIns="0" bIns="0" rtlCol="0" anchor="t">
            <a:spAutoFit/>
          </a:bodyPr>
          <a:lstStyle/>
          <a:p>
            <a:pPr marL="12700" algn="ctr">
              <a:spcBef>
                <a:spcPts val="100"/>
              </a:spcBef>
            </a:pPr>
            <a:r>
              <a:rPr lang="en-US" sz="1400" dirty="0">
                <a:solidFill>
                  <a:schemeClr val="bg1"/>
                </a:solidFill>
              </a:rPr>
              <a:t>Secure Digital Forensic Evidence Storage System</a:t>
            </a:r>
            <a:endParaRPr lang="en-US" sz="1600" dirty="0">
              <a:solidFill>
                <a:schemeClr val="bg1"/>
              </a:solidFill>
              <a:latin typeface="Times New Roman"/>
              <a:cs typeface="Times New Roman"/>
            </a:endParaRPr>
          </a:p>
        </p:txBody>
      </p:sp>
      <p:sp>
        <p:nvSpPr>
          <p:cNvPr id="29" name="object 12">
            <a:extLst>
              <a:ext uri="{FF2B5EF4-FFF2-40B4-BE49-F238E27FC236}">
                <a16:creationId xmlns:a16="http://schemas.microsoft.com/office/drawing/2014/main" xmlns="" id="{170CA6EE-45D2-B17E-8404-AE48F1B3E780}"/>
              </a:ext>
            </a:extLst>
          </p:cNvPr>
          <p:cNvSpPr txBox="1">
            <a:spLocks noGrp="1"/>
          </p:cNvSpPr>
          <p:nvPr>
            <p:ph type="sldNum" sz="quarter" idx="7"/>
          </p:nvPr>
        </p:nvSpPr>
        <p:spPr>
          <a:xfrm>
            <a:off x="11858823" y="6629309"/>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15</a:t>
            </a:fld>
            <a:endParaRPr spc="-25" dirty="0"/>
          </a:p>
        </p:txBody>
      </p:sp>
      <p:sp>
        <p:nvSpPr>
          <p:cNvPr id="16" name="Rectangle 7">
            <a:extLst>
              <a:ext uri="{FF2B5EF4-FFF2-40B4-BE49-F238E27FC236}">
                <a16:creationId xmlns:a16="http://schemas.microsoft.com/office/drawing/2014/main" xmlns="" id="{5577AE71-B96D-FE4C-F625-166DDA0E0270}"/>
              </a:ext>
            </a:extLst>
          </p:cNvPr>
          <p:cNvSpPr>
            <a:spLocks noChangeArrowheads="1"/>
          </p:cNvSpPr>
          <p:nvPr/>
        </p:nvSpPr>
        <p:spPr bwMode="auto">
          <a:xfrm>
            <a:off x="637762" y="1305024"/>
            <a:ext cx="11582400" cy="2339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dirty="0" smtClean="0">
                <a:latin typeface="Times New Roman" panose="02020603050405020304" pitchFamily="18" charset="0"/>
                <a:cs typeface="Times New Roman" panose="02020603050405020304" pitchFamily="18" charset="0"/>
              </a:rPr>
              <a:t>2. Secure Login with OTP</a:t>
            </a:r>
          </a:p>
          <a:p>
            <a:r>
              <a:rPr lang="en-US" sz="2000" dirty="0" smtClean="0">
                <a:latin typeface="Times New Roman" panose="02020603050405020304" pitchFamily="18" charset="0"/>
                <a:cs typeface="Times New Roman" panose="02020603050405020304" pitchFamily="18" charset="0"/>
              </a:rPr>
              <a:t>User enters username and password </a:t>
            </a:r>
          </a:p>
          <a:p>
            <a:r>
              <a:rPr lang="en-US" sz="2000" dirty="0" smtClean="0">
                <a:latin typeface="Times New Roman" panose="02020603050405020304" pitchFamily="18" charset="0"/>
                <a:cs typeface="Times New Roman" panose="02020603050405020304" pitchFamily="18" charset="0"/>
              </a:rPr>
              <a:t>System asks for OTP (from authenticator app) </a:t>
            </a:r>
          </a:p>
          <a:p>
            <a:r>
              <a:rPr lang="en-US" sz="2000" dirty="0" smtClean="0">
                <a:latin typeface="Times New Roman" panose="02020603050405020304" pitchFamily="18" charset="0"/>
                <a:cs typeface="Times New Roman" panose="02020603050405020304" pitchFamily="18" charset="0"/>
              </a:rPr>
              <a:t>OTP is verified for authentication </a:t>
            </a:r>
          </a:p>
          <a:p>
            <a:pPr algn="just">
              <a:lnSpc>
                <a:spcPct val="150000"/>
              </a:lnSpc>
            </a:pPr>
            <a:endParaRPr lang="en-US" sz="2000" dirty="0" smtClean="0">
              <a:latin typeface="Times New Roman" panose="02020603050405020304" pitchFamily="18" charset="0"/>
              <a:cs typeface="Times New Roman" panose="02020603050405020304" pitchFamily="18" charset="0"/>
            </a:endParaRPr>
          </a:p>
          <a:p>
            <a:endParaRPr lang="en-US" dirty="0" smtClean="0"/>
          </a:p>
          <a:p>
            <a:pPr marL="0" marR="0" lvl="0" indent="0" algn="just" defTabSz="914400" rtl="0" eaLnBrk="0" fontAlgn="base" latinLnBrk="0" hangingPunct="0">
              <a:lnSpc>
                <a:spcPct val="100000"/>
              </a:lnSpc>
              <a:spcBef>
                <a:spcPct val="0"/>
              </a:spcBef>
              <a:spcAft>
                <a:spcPct val="0"/>
              </a:spcAft>
              <a:buClrTx/>
              <a:buSzTx/>
              <a:tabLst/>
            </a:pPr>
            <a:endParaRPr kumimoji="0" lang="en-US" altLang="en-US"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2971800"/>
            <a:ext cx="5104678" cy="2901404"/>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48400" y="2988468"/>
            <a:ext cx="4456934" cy="2884736"/>
          </a:xfrm>
          <a:prstGeom prst="rect">
            <a:avLst/>
          </a:prstGeom>
        </p:spPr>
      </p:pic>
    </p:spTree>
    <p:extLst>
      <p:ext uri="{BB962C8B-B14F-4D97-AF65-F5344CB8AC3E}">
        <p14:creationId xmlns:p14="http://schemas.microsoft.com/office/powerpoint/2010/main" val="6634721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B931819-BD2D-B786-D7DD-96ABD311A155}"/>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xmlns="" id="{FF65975D-5A32-3BA7-60A4-B0594FC93BE6}"/>
              </a:ext>
            </a:extLst>
          </p:cNvPr>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dirty="0"/>
          </a:p>
        </p:txBody>
      </p:sp>
      <p:sp>
        <p:nvSpPr>
          <p:cNvPr id="7" name="object 7">
            <a:extLst>
              <a:ext uri="{FF2B5EF4-FFF2-40B4-BE49-F238E27FC236}">
                <a16:creationId xmlns:a16="http://schemas.microsoft.com/office/drawing/2014/main" xmlns="" id="{FAB1C1B7-C0F0-849D-6176-F97252B53AFF}"/>
              </a:ext>
            </a:extLst>
          </p:cNvPr>
          <p:cNvSpPr/>
          <p:nvPr/>
        </p:nvSpPr>
        <p:spPr>
          <a:xfrm>
            <a:off x="0" y="6624856"/>
            <a:ext cx="762000" cy="231331"/>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a:t>
            </a:r>
            <a:r>
              <a:rPr lang="en-US" sz="1600" dirty="0">
                <a:solidFill>
                  <a:schemeClr val="bg1"/>
                </a:solidFill>
                <a:latin typeface="Times New Roman"/>
                <a:ea typeface="+mn-lt"/>
                <a:cs typeface="Times New Roman"/>
              </a:rPr>
              <a:t>B-16</a:t>
            </a:r>
          </a:p>
        </p:txBody>
      </p:sp>
      <p:sp>
        <p:nvSpPr>
          <p:cNvPr id="10" name="object 9">
            <a:extLst>
              <a:ext uri="{FF2B5EF4-FFF2-40B4-BE49-F238E27FC236}">
                <a16:creationId xmlns:a16="http://schemas.microsoft.com/office/drawing/2014/main" xmlns="" id="{A339265E-AAA8-4E00-E070-740FC72A3D5E}"/>
              </a:ext>
            </a:extLst>
          </p:cNvPr>
          <p:cNvSpPr txBox="1">
            <a:spLocks noGrp="1"/>
          </p:cNvSpPr>
          <p:nvPr>
            <p:ph type="dt" sz="half" idx="6"/>
          </p:nvPr>
        </p:nvSpPr>
        <p:spPr>
          <a:xfrm>
            <a:off x="1123125" y="6629792"/>
            <a:ext cx="1061167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r>
              <a:rPr lang="en-US" cap="small" spc="-95" dirty="0"/>
              <a:t>                             Srinivasa Ramanujan Institute of Technology  </a:t>
            </a:r>
            <a:endParaRPr cap="small" spc="-95" dirty="0"/>
          </a:p>
        </p:txBody>
      </p:sp>
      <p:sp>
        <p:nvSpPr>
          <p:cNvPr id="22" name="object 5">
            <a:extLst>
              <a:ext uri="{FF2B5EF4-FFF2-40B4-BE49-F238E27FC236}">
                <a16:creationId xmlns:a16="http://schemas.microsoft.com/office/drawing/2014/main" xmlns="" id="{EB71B47D-3E69-3777-AECE-78AAAE31E5D7}"/>
              </a:ext>
            </a:extLst>
          </p:cNvPr>
          <p:cNvSpPr/>
          <p:nvPr/>
        </p:nvSpPr>
        <p:spPr>
          <a:xfrm>
            <a:off x="-8107" y="233044"/>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6" name="object 6">
            <a:extLst>
              <a:ext uri="{FF2B5EF4-FFF2-40B4-BE49-F238E27FC236}">
                <a16:creationId xmlns:a16="http://schemas.microsoft.com/office/drawing/2014/main" xmlns="" id="{E1CBF879-DD70-0900-2E31-B5401B0A5274}"/>
              </a:ext>
            </a:extLst>
          </p:cNvPr>
          <p:cNvSpPr txBox="1">
            <a:spLocks noGrp="1"/>
          </p:cNvSpPr>
          <p:nvPr>
            <p:ph type="title"/>
          </p:nvPr>
        </p:nvSpPr>
        <p:spPr>
          <a:xfrm>
            <a:off x="20182" y="331753"/>
            <a:ext cx="2570618" cy="689932"/>
          </a:xfrm>
          <a:prstGeom prst="rect">
            <a:avLst/>
          </a:prstGeom>
        </p:spPr>
        <p:txBody>
          <a:bodyPr vert="horz" wrap="square" lIns="0" tIns="12700" rIns="0" bIns="0" rtlCol="0">
            <a:spAutoFit/>
          </a:bodyPr>
          <a:lstStyle/>
          <a:p>
            <a:pPr marL="12700" algn="ctr">
              <a:lnSpc>
                <a:spcPct val="100000"/>
              </a:lnSpc>
            </a:pPr>
            <a:r>
              <a:rPr lang="en-US" b="1" spc="-10" dirty="0" smtClean="0"/>
              <a:t>Contd..</a:t>
            </a:r>
            <a:endParaRPr b="1" spc="-10" dirty="0"/>
          </a:p>
        </p:txBody>
      </p:sp>
      <p:sp>
        <p:nvSpPr>
          <p:cNvPr id="28" name="object 2">
            <a:extLst>
              <a:ext uri="{FF2B5EF4-FFF2-40B4-BE49-F238E27FC236}">
                <a16:creationId xmlns:a16="http://schemas.microsoft.com/office/drawing/2014/main" xmlns="" id="{C86D60A3-51E7-EDDD-14B9-611D39CA2A7C}"/>
              </a:ext>
            </a:extLst>
          </p:cNvPr>
          <p:cNvSpPr txBox="1"/>
          <p:nvPr/>
        </p:nvSpPr>
        <p:spPr>
          <a:xfrm>
            <a:off x="3429000" y="5249"/>
            <a:ext cx="4890061" cy="228268"/>
          </a:xfrm>
          <a:prstGeom prst="rect">
            <a:avLst/>
          </a:prstGeom>
        </p:spPr>
        <p:txBody>
          <a:bodyPr vert="horz" wrap="square" lIns="0" tIns="12700" rIns="0" bIns="0" rtlCol="0" anchor="t">
            <a:spAutoFit/>
          </a:bodyPr>
          <a:lstStyle/>
          <a:p>
            <a:pPr marL="12700" algn="ctr">
              <a:spcBef>
                <a:spcPts val="100"/>
              </a:spcBef>
            </a:pPr>
            <a:r>
              <a:rPr lang="en-US" sz="1400" dirty="0">
                <a:solidFill>
                  <a:schemeClr val="bg1"/>
                </a:solidFill>
              </a:rPr>
              <a:t>Secure Digital Forensic Evidence Storage System</a:t>
            </a:r>
            <a:endParaRPr lang="en-US" sz="1600" dirty="0">
              <a:solidFill>
                <a:schemeClr val="bg1"/>
              </a:solidFill>
              <a:latin typeface="Times New Roman"/>
              <a:cs typeface="Times New Roman"/>
            </a:endParaRPr>
          </a:p>
        </p:txBody>
      </p:sp>
      <p:sp>
        <p:nvSpPr>
          <p:cNvPr id="29" name="object 12">
            <a:extLst>
              <a:ext uri="{FF2B5EF4-FFF2-40B4-BE49-F238E27FC236}">
                <a16:creationId xmlns:a16="http://schemas.microsoft.com/office/drawing/2014/main" xmlns="" id="{170CA6EE-45D2-B17E-8404-AE48F1B3E780}"/>
              </a:ext>
            </a:extLst>
          </p:cNvPr>
          <p:cNvSpPr txBox="1">
            <a:spLocks noGrp="1"/>
          </p:cNvSpPr>
          <p:nvPr>
            <p:ph type="sldNum" sz="quarter" idx="7"/>
          </p:nvPr>
        </p:nvSpPr>
        <p:spPr>
          <a:xfrm>
            <a:off x="11858823" y="6629309"/>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16</a:t>
            </a:fld>
            <a:endParaRPr spc="-25" dirty="0"/>
          </a:p>
        </p:txBody>
      </p:sp>
      <p:sp>
        <p:nvSpPr>
          <p:cNvPr id="16" name="Rectangle 7">
            <a:extLst>
              <a:ext uri="{FF2B5EF4-FFF2-40B4-BE49-F238E27FC236}">
                <a16:creationId xmlns:a16="http://schemas.microsoft.com/office/drawing/2014/main" xmlns="" id="{5577AE71-B96D-FE4C-F625-166DDA0E0270}"/>
              </a:ext>
            </a:extLst>
          </p:cNvPr>
          <p:cNvSpPr>
            <a:spLocks noChangeArrowheads="1"/>
          </p:cNvSpPr>
          <p:nvPr/>
        </p:nvSpPr>
        <p:spPr bwMode="auto">
          <a:xfrm>
            <a:off x="505023" y="1309241"/>
            <a:ext cx="11582400" cy="264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dirty="0" smtClean="0">
                <a:latin typeface="Times New Roman" panose="02020603050405020304" pitchFamily="18" charset="0"/>
                <a:cs typeface="Times New Roman" panose="02020603050405020304" pitchFamily="18" charset="0"/>
              </a:rPr>
              <a:t>3. Admin Uploads Evidence</a:t>
            </a:r>
          </a:p>
          <a:p>
            <a:r>
              <a:rPr lang="en-US" sz="2000" dirty="0" smtClean="0">
                <a:latin typeface="Times New Roman" panose="02020603050405020304" pitchFamily="18" charset="0"/>
                <a:cs typeface="Times New Roman" panose="02020603050405020304" pitchFamily="18" charset="0"/>
              </a:rPr>
              <a:t>Admin uploads files (PDF, images, videos, etc.) </a:t>
            </a:r>
          </a:p>
          <a:p>
            <a:r>
              <a:rPr lang="en-US" sz="2000" dirty="0" smtClean="0">
                <a:latin typeface="Times New Roman" panose="02020603050405020304" pitchFamily="18" charset="0"/>
                <a:cs typeface="Times New Roman" panose="02020603050405020304" pitchFamily="18" charset="0"/>
              </a:rPr>
              <a:t>File is encrypted using AES-256 </a:t>
            </a:r>
          </a:p>
          <a:p>
            <a:r>
              <a:rPr lang="en-US" sz="2000" dirty="0" smtClean="0">
                <a:latin typeface="Times New Roman" panose="02020603050405020304" pitchFamily="18" charset="0"/>
                <a:cs typeface="Times New Roman" panose="02020603050405020304" pitchFamily="18" charset="0"/>
              </a:rPr>
              <a:t>Encrypted file is divided into multiple parts </a:t>
            </a:r>
          </a:p>
          <a:p>
            <a:r>
              <a:rPr lang="en-US" sz="2000" dirty="0" smtClean="0">
                <a:latin typeface="Times New Roman" panose="02020603050405020304" pitchFamily="18" charset="0"/>
                <a:cs typeface="Times New Roman" panose="02020603050405020304" pitchFamily="18" charset="0"/>
              </a:rPr>
              <a:t>Encryption key is secured using ECC</a:t>
            </a:r>
          </a:p>
          <a:p>
            <a:pPr algn="just">
              <a:lnSpc>
                <a:spcPct val="150000"/>
              </a:lnSpc>
            </a:pPr>
            <a:endParaRPr lang="en-US" sz="2000" dirty="0" smtClean="0">
              <a:latin typeface="Times New Roman" panose="02020603050405020304" pitchFamily="18" charset="0"/>
              <a:cs typeface="Times New Roman" panose="02020603050405020304" pitchFamily="18" charset="0"/>
            </a:endParaRPr>
          </a:p>
          <a:p>
            <a:endParaRPr lang="en-US" dirty="0" smtClean="0"/>
          </a:p>
          <a:p>
            <a:pPr marL="0" marR="0" lvl="0" indent="0" algn="just" defTabSz="914400" rtl="0" eaLnBrk="0" fontAlgn="base" latinLnBrk="0" hangingPunct="0">
              <a:lnSpc>
                <a:spcPct val="100000"/>
              </a:lnSpc>
              <a:spcBef>
                <a:spcPct val="0"/>
              </a:spcBef>
              <a:spcAft>
                <a:spcPct val="0"/>
              </a:spcAft>
              <a:buClrTx/>
              <a:buSzTx/>
              <a:tabLst/>
            </a:pPr>
            <a:endParaRPr kumimoji="0" lang="en-US" altLang="en-US"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stretch>
            <a:fillRect/>
          </a:stretch>
        </p:blipFill>
        <p:spPr>
          <a:xfrm>
            <a:off x="685800" y="3200400"/>
            <a:ext cx="4729824" cy="3124200"/>
          </a:xfrm>
          <a:prstGeom prst="rect">
            <a:avLst/>
          </a:prstGeom>
        </p:spPr>
      </p:pic>
      <p:pic>
        <p:nvPicPr>
          <p:cNvPr id="3" name="Picture 2"/>
          <p:cNvPicPr>
            <a:picLocks noChangeAspect="1"/>
          </p:cNvPicPr>
          <p:nvPr/>
        </p:nvPicPr>
        <p:blipFill>
          <a:blip r:embed="rId4"/>
          <a:stretch>
            <a:fillRect/>
          </a:stretch>
        </p:blipFill>
        <p:spPr>
          <a:xfrm>
            <a:off x="5715000" y="3200400"/>
            <a:ext cx="5196559" cy="3215104"/>
          </a:xfrm>
          <a:prstGeom prst="rect">
            <a:avLst/>
          </a:prstGeom>
        </p:spPr>
      </p:pic>
    </p:spTree>
    <p:extLst>
      <p:ext uri="{BB962C8B-B14F-4D97-AF65-F5344CB8AC3E}">
        <p14:creationId xmlns:p14="http://schemas.microsoft.com/office/powerpoint/2010/main" val="14453534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B931819-BD2D-B786-D7DD-96ABD311A155}"/>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xmlns="" id="{FF65975D-5A32-3BA7-60A4-B0594FC93BE6}"/>
              </a:ext>
            </a:extLst>
          </p:cNvPr>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dirty="0"/>
          </a:p>
        </p:txBody>
      </p:sp>
      <p:sp>
        <p:nvSpPr>
          <p:cNvPr id="7" name="object 7">
            <a:extLst>
              <a:ext uri="{FF2B5EF4-FFF2-40B4-BE49-F238E27FC236}">
                <a16:creationId xmlns:a16="http://schemas.microsoft.com/office/drawing/2014/main" xmlns="" id="{FAB1C1B7-C0F0-849D-6176-F97252B53AFF}"/>
              </a:ext>
            </a:extLst>
          </p:cNvPr>
          <p:cNvSpPr/>
          <p:nvPr/>
        </p:nvSpPr>
        <p:spPr>
          <a:xfrm>
            <a:off x="0" y="6624856"/>
            <a:ext cx="762000" cy="231331"/>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a:t>
            </a:r>
            <a:r>
              <a:rPr lang="en-US" sz="1600" dirty="0">
                <a:solidFill>
                  <a:schemeClr val="bg1"/>
                </a:solidFill>
                <a:latin typeface="Times New Roman"/>
                <a:ea typeface="+mn-lt"/>
                <a:cs typeface="Times New Roman"/>
              </a:rPr>
              <a:t>B-16</a:t>
            </a:r>
          </a:p>
        </p:txBody>
      </p:sp>
      <p:sp>
        <p:nvSpPr>
          <p:cNvPr id="10" name="object 9">
            <a:extLst>
              <a:ext uri="{FF2B5EF4-FFF2-40B4-BE49-F238E27FC236}">
                <a16:creationId xmlns:a16="http://schemas.microsoft.com/office/drawing/2014/main" xmlns="" id="{A339265E-AAA8-4E00-E070-740FC72A3D5E}"/>
              </a:ext>
            </a:extLst>
          </p:cNvPr>
          <p:cNvSpPr txBox="1">
            <a:spLocks noGrp="1"/>
          </p:cNvSpPr>
          <p:nvPr>
            <p:ph type="dt" sz="half" idx="6"/>
          </p:nvPr>
        </p:nvSpPr>
        <p:spPr>
          <a:xfrm>
            <a:off x="1123125" y="6629792"/>
            <a:ext cx="1061167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r>
              <a:rPr lang="en-US" cap="small" spc="-95" dirty="0"/>
              <a:t>                             Srinivasa Ramanujan Institute of Technology  </a:t>
            </a:r>
            <a:endParaRPr cap="small" spc="-95" dirty="0"/>
          </a:p>
        </p:txBody>
      </p:sp>
      <p:sp>
        <p:nvSpPr>
          <p:cNvPr id="22" name="object 5">
            <a:extLst>
              <a:ext uri="{FF2B5EF4-FFF2-40B4-BE49-F238E27FC236}">
                <a16:creationId xmlns:a16="http://schemas.microsoft.com/office/drawing/2014/main" xmlns="" id="{EB71B47D-3E69-3777-AECE-78AAAE31E5D7}"/>
              </a:ext>
            </a:extLst>
          </p:cNvPr>
          <p:cNvSpPr/>
          <p:nvPr/>
        </p:nvSpPr>
        <p:spPr>
          <a:xfrm>
            <a:off x="-8107" y="233044"/>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6" name="object 6">
            <a:extLst>
              <a:ext uri="{FF2B5EF4-FFF2-40B4-BE49-F238E27FC236}">
                <a16:creationId xmlns:a16="http://schemas.microsoft.com/office/drawing/2014/main" xmlns="" id="{E1CBF879-DD70-0900-2E31-B5401B0A5274}"/>
              </a:ext>
            </a:extLst>
          </p:cNvPr>
          <p:cNvSpPr txBox="1">
            <a:spLocks noGrp="1"/>
          </p:cNvSpPr>
          <p:nvPr>
            <p:ph type="title"/>
          </p:nvPr>
        </p:nvSpPr>
        <p:spPr>
          <a:xfrm>
            <a:off x="20182" y="331753"/>
            <a:ext cx="2342018" cy="689932"/>
          </a:xfrm>
          <a:prstGeom prst="rect">
            <a:avLst/>
          </a:prstGeom>
        </p:spPr>
        <p:txBody>
          <a:bodyPr vert="horz" wrap="square" lIns="0" tIns="12700" rIns="0" bIns="0" rtlCol="0">
            <a:spAutoFit/>
          </a:bodyPr>
          <a:lstStyle/>
          <a:p>
            <a:pPr marL="12700" algn="ctr">
              <a:lnSpc>
                <a:spcPct val="100000"/>
              </a:lnSpc>
            </a:pPr>
            <a:r>
              <a:rPr lang="en-IN" b="1" spc="-10" dirty="0" smtClean="0"/>
              <a:t>Contd..</a:t>
            </a:r>
            <a:endParaRPr b="1" spc="-10" dirty="0"/>
          </a:p>
        </p:txBody>
      </p:sp>
      <p:sp>
        <p:nvSpPr>
          <p:cNvPr id="28" name="object 2">
            <a:extLst>
              <a:ext uri="{FF2B5EF4-FFF2-40B4-BE49-F238E27FC236}">
                <a16:creationId xmlns:a16="http://schemas.microsoft.com/office/drawing/2014/main" xmlns="" id="{C86D60A3-51E7-EDDD-14B9-611D39CA2A7C}"/>
              </a:ext>
            </a:extLst>
          </p:cNvPr>
          <p:cNvSpPr txBox="1"/>
          <p:nvPr/>
        </p:nvSpPr>
        <p:spPr>
          <a:xfrm>
            <a:off x="3429000" y="5249"/>
            <a:ext cx="4890061" cy="228268"/>
          </a:xfrm>
          <a:prstGeom prst="rect">
            <a:avLst/>
          </a:prstGeom>
        </p:spPr>
        <p:txBody>
          <a:bodyPr vert="horz" wrap="square" lIns="0" tIns="12700" rIns="0" bIns="0" rtlCol="0" anchor="t">
            <a:spAutoFit/>
          </a:bodyPr>
          <a:lstStyle/>
          <a:p>
            <a:pPr marL="12700" algn="ctr">
              <a:spcBef>
                <a:spcPts val="100"/>
              </a:spcBef>
            </a:pPr>
            <a:r>
              <a:rPr lang="en-US" sz="1400" dirty="0">
                <a:solidFill>
                  <a:schemeClr val="bg1"/>
                </a:solidFill>
              </a:rPr>
              <a:t>Secure Digital Forensic Evidence Storage System</a:t>
            </a:r>
            <a:endParaRPr lang="en-US" sz="1600" dirty="0">
              <a:solidFill>
                <a:schemeClr val="bg1"/>
              </a:solidFill>
              <a:latin typeface="Times New Roman"/>
              <a:cs typeface="Times New Roman"/>
            </a:endParaRPr>
          </a:p>
        </p:txBody>
      </p:sp>
      <p:sp>
        <p:nvSpPr>
          <p:cNvPr id="29" name="object 12">
            <a:extLst>
              <a:ext uri="{FF2B5EF4-FFF2-40B4-BE49-F238E27FC236}">
                <a16:creationId xmlns:a16="http://schemas.microsoft.com/office/drawing/2014/main" xmlns="" id="{170CA6EE-45D2-B17E-8404-AE48F1B3E780}"/>
              </a:ext>
            </a:extLst>
          </p:cNvPr>
          <p:cNvSpPr txBox="1">
            <a:spLocks noGrp="1"/>
          </p:cNvSpPr>
          <p:nvPr>
            <p:ph type="sldNum" sz="quarter" idx="7"/>
          </p:nvPr>
        </p:nvSpPr>
        <p:spPr>
          <a:xfrm>
            <a:off x="11858823" y="6629309"/>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17</a:t>
            </a:fld>
            <a:endParaRPr spc="-25" dirty="0"/>
          </a:p>
        </p:txBody>
      </p:sp>
      <p:sp>
        <p:nvSpPr>
          <p:cNvPr id="16" name="Rectangle 7">
            <a:extLst>
              <a:ext uri="{FF2B5EF4-FFF2-40B4-BE49-F238E27FC236}">
                <a16:creationId xmlns:a16="http://schemas.microsoft.com/office/drawing/2014/main" xmlns="" id="{5577AE71-B96D-FE4C-F625-166DDA0E0270}"/>
              </a:ext>
            </a:extLst>
          </p:cNvPr>
          <p:cNvSpPr>
            <a:spLocks noChangeArrowheads="1"/>
          </p:cNvSpPr>
          <p:nvPr/>
        </p:nvSpPr>
        <p:spPr bwMode="auto">
          <a:xfrm>
            <a:off x="505023" y="1463129"/>
            <a:ext cx="11582400" cy="2339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dirty="0">
                <a:latin typeface="Times New Roman" panose="02020603050405020304" pitchFamily="18" charset="0"/>
                <a:cs typeface="Times New Roman" panose="02020603050405020304" pitchFamily="18" charset="0"/>
              </a:rPr>
              <a:t>4</a:t>
            </a:r>
            <a:r>
              <a:rPr lang="en-US" sz="2000" b="1" dirty="0" smtClean="0">
                <a:latin typeface="Times New Roman" panose="02020603050405020304" pitchFamily="18" charset="0"/>
                <a:cs typeface="Times New Roman" panose="02020603050405020304" pitchFamily="18" charset="0"/>
              </a:rPr>
              <a:t>. User Requests Access</a:t>
            </a:r>
          </a:p>
          <a:p>
            <a:r>
              <a:rPr lang="en-US" sz="2000" dirty="0" smtClean="0">
                <a:latin typeface="Times New Roman" panose="02020603050405020304" pitchFamily="18" charset="0"/>
                <a:cs typeface="Times New Roman" panose="02020603050405020304" pitchFamily="18" charset="0"/>
              </a:rPr>
              <a:t>User searches for required document </a:t>
            </a:r>
          </a:p>
          <a:p>
            <a:r>
              <a:rPr lang="en-US" sz="2000" dirty="0" smtClean="0">
                <a:latin typeface="Times New Roman" panose="02020603050405020304" pitchFamily="18" charset="0"/>
                <a:cs typeface="Times New Roman" panose="02020603050405020304" pitchFamily="18" charset="0"/>
              </a:rPr>
              <a:t>Sends request for access or decryption key </a:t>
            </a:r>
          </a:p>
          <a:p>
            <a:r>
              <a:rPr lang="en-US" sz="2000" dirty="0" smtClean="0">
                <a:latin typeface="Times New Roman" panose="02020603050405020304" pitchFamily="18" charset="0"/>
                <a:cs typeface="Times New Roman" panose="02020603050405020304" pitchFamily="18" charset="0"/>
              </a:rPr>
              <a:t>Request is sent to Admin for approval </a:t>
            </a:r>
          </a:p>
          <a:p>
            <a:pPr algn="just">
              <a:lnSpc>
                <a:spcPct val="150000"/>
              </a:lnSpc>
            </a:pPr>
            <a:endParaRPr lang="en-US" sz="2000" dirty="0" smtClean="0">
              <a:latin typeface="Times New Roman" panose="02020603050405020304" pitchFamily="18" charset="0"/>
              <a:cs typeface="Times New Roman" panose="02020603050405020304" pitchFamily="18" charset="0"/>
            </a:endParaRPr>
          </a:p>
          <a:p>
            <a:endParaRPr lang="en-US" dirty="0" smtClean="0"/>
          </a:p>
          <a:p>
            <a:pPr marL="0" marR="0" lvl="0" indent="0" algn="just" defTabSz="914400" rtl="0" eaLnBrk="0" fontAlgn="base" latinLnBrk="0" hangingPunct="0">
              <a:lnSpc>
                <a:spcPct val="100000"/>
              </a:lnSpc>
              <a:spcBef>
                <a:spcPct val="0"/>
              </a:spcBef>
              <a:spcAft>
                <a:spcPct val="0"/>
              </a:spcAft>
              <a:buClrTx/>
              <a:buSzTx/>
              <a:tabLst/>
            </a:pPr>
            <a:endParaRPr kumimoji="0" lang="en-US" altLang="en-US"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505023" y="2971800"/>
            <a:ext cx="4996774" cy="3292493"/>
          </a:xfrm>
          <a:prstGeom prst="rect">
            <a:avLst/>
          </a:prstGeom>
        </p:spPr>
      </p:pic>
      <p:pic>
        <p:nvPicPr>
          <p:cNvPr id="5" name="Picture 4"/>
          <p:cNvPicPr>
            <a:picLocks noChangeAspect="1"/>
          </p:cNvPicPr>
          <p:nvPr/>
        </p:nvPicPr>
        <p:blipFill>
          <a:blip r:embed="rId4"/>
          <a:stretch>
            <a:fillRect/>
          </a:stretch>
        </p:blipFill>
        <p:spPr>
          <a:xfrm>
            <a:off x="5874030" y="2971800"/>
            <a:ext cx="5091780" cy="3124200"/>
          </a:xfrm>
          <a:prstGeom prst="rect">
            <a:avLst/>
          </a:prstGeom>
        </p:spPr>
      </p:pic>
    </p:spTree>
    <p:extLst>
      <p:ext uri="{BB962C8B-B14F-4D97-AF65-F5344CB8AC3E}">
        <p14:creationId xmlns:p14="http://schemas.microsoft.com/office/powerpoint/2010/main" val="25522483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B931819-BD2D-B786-D7DD-96ABD311A155}"/>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xmlns="" id="{FF65975D-5A32-3BA7-60A4-B0594FC93BE6}"/>
              </a:ext>
            </a:extLst>
          </p:cNvPr>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dirty="0"/>
          </a:p>
        </p:txBody>
      </p:sp>
      <p:sp>
        <p:nvSpPr>
          <p:cNvPr id="7" name="object 7">
            <a:extLst>
              <a:ext uri="{FF2B5EF4-FFF2-40B4-BE49-F238E27FC236}">
                <a16:creationId xmlns:a16="http://schemas.microsoft.com/office/drawing/2014/main" xmlns="" id="{FAB1C1B7-C0F0-849D-6176-F97252B53AFF}"/>
              </a:ext>
            </a:extLst>
          </p:cNvPr>
          <p:cNvSpPr/>
          <p:nvPr/>
        </p:nvSpPr>
        <p:spPr>
          <a:xfrm>
            <a:off x="0" y="6624856"/>
            <a:ext cx="762000" cy="231331"/>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a:t>
            </a:r>
            <a:r>
              <a:rPr lang="en-US" sz="1600" dirty="0">
                <a:solidFill>
                  <a:schemeClr val="bg1"/>
                </a:solidFill>
                <a:latin typeface="Times New Roman"/>
                <a:ea typeface="+mn-lt"/>
                <a:cs typeface="Times New Roman"/>
              </a:rPr>
              <a:t>B-16</a:t>
            </a:r>
          </a:p>
        </p:txBody>
      </p:sp>
      <p:sp>
        <p:nvSpPr>
          <p:cNvPr id="10" name="object 9">
            <a:extLst>
              <a:ext uri="{FF2B5EF4-FFF2-40B4-BE49-F238E27FC236}">
                <a16:creationId xmlns:a16="http://schemas.microsoft.com/office/drawing/2014/main" xmlns="" id="{A339265E-AAA8-4E00-E070-740FC72A3D5E}"/>
              </a:ext>
            </a:extLst>
          </p:cNvPr>
          <p:cNvSpPr txBox="1">
            <a:spLocks noGrp="1"/>
          </p:cNvSpPr>
          <p:nvPr>
            <p:ph type="dt" sz="half" idx="6"/>
          </p:nvPr>
        </p:nvSpPr>
        <p:spPr>
          <a:xfrm>
            <a:off x="1123125" y="6629792"/>
            <a:ext cx="1061167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r>
              <a:rPr lang="en-US" cap="small" spc="-95" dirty="0"/>
              <a:t>                             Srinivasa Ramanujan Institute of Technology  </a:t>
            </a:r>
            <a:endParaRPr cap="small" spc="-95" dirty="0"/>
          </a:p>
        </p:txBody>
      </p:sp>
      <p:sp>
        <p:nvSpPr>
          <p:cNvPr id="22" name="object 5">
            <a:extLst>
              <a:ext uri="{FF2B5EF4-FFF2-40B4-BE49-F238E27FC236}">
                <a16:creationId xmlns:a16="http://schemas.microsoft.com/office/drawing/2014/main" xmlns="" id="{EB71B47D-3E69-3777-AECE-78AAAE31E5D7}"/>
              </a:ext>
            </a:extLst>
          </p:cNvPr>
          <p:cNvSpPr/>
          <p:nvPr/>
        </p:nvSpPr>
        <p:spPr>
          <a:xfrm>
            <a:off x="-8107" y="233044"/>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6" name="object 6">
            <a:extLst>
              <a:ext uri="{FF2B5EF4-FFF2-40B4-BE49-F238E27FC236}">
                <a16:creationId xmlns:a16="http://schemas.microsoft.com/office/drawing/2014/main" xmlns="" id="{E1CBF879-DD70-0900-2E31-B5401B0A5274}"/>
              </a:ext>
            </a:extLst>
          </p:cNvPr>
          <p:cNvSpPr txBox="1">
            <a:spLocks noGrp="1"/>
          </p:cNvSpPr>
          <p:nvPr>
            <p:ph type="title"/>
          </p:nvPr>
        </p:nvSpPr>
        <p:spPr>
          <a:xfrm>
            <a:off x="20182" y="331753"/>
            <a:ext cx="2723018" cy="689932"/>
          </a:xfrm>
          <a:prstGeom prst="rect">
            <a:avLst/>
          </a:prstGeom>
        </p:spPr>
        <p:txBody>
          <a:bodyPr vert="horz" wrap="square" lIns="0" tIns="12700" rIns="0" bIns="0" rtlCol="0">
            <a:spAutoFit/>
          </a:bodyPr>
          <a:lstStyle/>
          <a:p>
            <a:pPr marL="12700" algn="ctr">
              <a:lnSpc>
                <a:spcPct val="100000"/>
              </a:lnSpc>
            </a:pPr>
            <a:r>
              <a:rPr lang="en-IN" b="1" spc="-10" dirty="0" smtClean="0"/>
              <a:t>Contd..</a:t>
            </a:r>
            <a:endParaRPr b="1" spc="-10" dirty="0"/>
          </a:p>
        </p:txBody>
      </p:sp>
      <p:sp>
        <p:nvSpPr>
          <p:cNvPr id="28" name="object 2">
            <a:extLst>
              <a:ext uri="{FF2B5EF4-FFF2-40B4-BE49-F238E27FC236}">
                <a16:creationId xmlns:a16="http://schemas.microsoft.com/office/drawing/2014/main" xmlns="" id="{C86D60A3-51E7-EDDD-14B9-611D39CA2A7C}"/>
              </a:ext>
            </a:extLst>
          </p:cNvPr>
          <p:cNvSpPr txBox="1"/>
          <p:nvPr/>
        </p:nvSpPr>
        <p:spPr>
          <a:xfrm>
            <a:off x="3429000" y="5249"/>
            <a:ext cx="4890061" cy="228268"/>
          </a:xfrm>
          <a:prstGeom prst="rect">
            <a:avLst/>
          </a:prstGeom>
        </p:spPr>
        <p:txBody>
          <a:bodyPr vert="horz" wrap="square" lIns="0" tIns="12700" rIns="0" bIns="0" rtlCol="0" anchor="t">
            <a:spAutoFit/>
          </a:bodyPr>
          <a:lstStyle/>
          <a:p>
            <a:pPr marL="12700" algn="ctr">
              <a:spcBef>
                <a:spcPts val="100"/>
              </a:spcBef>
            </a:pPr>
            <a:r>
              <a:rPr lang="en-US" sz="1400" dirty="0">
                <a:solidFill>
                  <a:schemeClr val="bg1"/>
                </a:solidFill>
              </a:rPr>
              <a:t>Secure Digital Forensic Evidence Storage System</a:t>
            </a:r>
            <a:endParaRPr lang="en-US" sz="1600" dirty="0">
              <a:solidFill>
                <a:schemeClr val="bg1"/>
              </a:solidFill>
              <a:latin typeface="Times New Roman"/>
              <a:cs typeface="Times New Roman"/>
            </a:endParaRPr>
          </a:p>
        </p:txBody>
      </p:sp>
      <p:sp>
        <p:nvSpPr>
          <p:cNvPr id="29" name="object 12">
            <a:extLst>
              <a:ext uri="{FF2B5EF4-FFF2-40B4-BE49-F238E27FC236}">
                <a16:creationId xmlns:a16="http://schemas.microsoft.com/office/drawing/2014/main" xmlns="" id="{170CA6EE-45D2-B17E-8404-AE48F1B3E780}"/>
              </a:ext>
            </a:extLst>
          </p:cNvPr>
          <p:cNvSpPr txBox="1">
            <a:spLocks noGrp="1"/>
          </p:cNvSpPr>
          <p:nvPr>
            <p:ph type="sldNum" sz="quarter" idx="7"/>
          </p:nvPr>
        </p:nvSpPr>
        <p:spPr>
          <a:xfrm>
            <a:off x="11858823" y="6629309"/>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18</a:t>
            </a:fld>
            <a:endParaRPr spc="-25" dirty="0"/>
          </a:p>
        </p:txBody>
      </p:sp>
      <p:sp>
        <p:nvSpPr>
          <p:cNvPr id="16" name="Rectangle 7">
            <a:extLst>
              <a:ext uri="{FF2B5EF4-FFF2-40B4-BE49-F238E27FC236}">
                <a16:creationId xmlns:a16="http://schemas.microsoft.com/office/drawing/2014/main" xmlns="" id="{5577AE71-B96D-FE4C-F625-166DDA0E0270}"/>
              </a:ext>
            </a:extLst>
          </p:cNvPr>
          <p:cNvSpPr>
            <a:spLocks noChangeArrowheads="1"/>
          </p:cNvSpPr>
          <p:nvPr/>
        </p:nvSpPr>
        <p:spPr bwMode="auto">
          <a:xfrm>
            <a:off x="505023" y="1463129"/>
            <a:ext cx="11582400" cy="2339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dirty="0">
                <a:latin typeface="Times New Roman" panose="02020603050405020304" pitchFamily="18" charset="0"/>
                <a:cs typeface="Times New Roman" panose="02020603050405020304" pitchFamily="18" charset="0"/>
              </a:rPr>
              <a:t>5</a:t>
            </a:r>
            <a:r>
              <a:rPr lang="en-US" sz="2000" b="1" dirty="0" smtClean="0">
                <a:latin typeface="Times New Roman" panose="02020603050405020304" pitchFamily="18" charset="0"/>
                <a:cs typeface="Times New Roman" panose="02020603050405020304" pitchFamily="18" charset="0"/>
              </a:rPr>
              <a:t>. Admin Approval &amp; Key Generation</a:t>
            </a:r>
          </a:p>
          <a:p>
            <a:r>
              <a:rPr lang="en-US" sz="2000" dirty="0" smtClean="0">
                <a:latin typeface="Times New Roman" panose="02020603050405020304" pitchFamily="18" charset="0"/>
                <a:cs typeface="Times New Roman" panose="02020603050405020304" pitchFamily="18" charset="0"/>
              </a:rPr>
              <a:t>Admin reviews request </a:t>
            </a:r>
          </a:p>
          <a:p>
            <a:r>
              <a:rPr lang="en-US" sz="2000" dirty="0" smtClean="0">
                <a:latin typeface="Times New Roman" panose="02020603050405020304" pitchFamily="18" charset="0"/>
                <a:cs typeface="Times New Roman" panose="02020603050405020304" pitchFamily="18" charset="0"/>
              </a:rPr>
              <a:t>If approved → system generates one-time key </a:t>
            </a:r>
          </a:p>
          <a:p>
            <a:r>
              <a:rPr lang="en-US" sz="2000" dirty="0" smtClean="0">
                <a:latin typeface="Times New Roman" panose="02020603050405020304" pitchFamily="18" charset="0"/>
                <a:cs typeface="Times New Roman" panose="02020603050405020304" pitchFamily="18" charset="0"/>
              </a:rPr>
              <a:t>Key is sent securely to user via email</a:t>
            </a:r>
          </a:p>
          <a:p>
            <a:pPr algn="just">
              <a:lnSpc>
                <a:spcPct val="150000"/>
              </a:lnSpc>
            </a:pPr>
            <a:endParaRPr lang="en-US" sz="2000" dirty="0" smtClean="0">
              <a:latin typeface="Times New Roman" panose="02020603050405020304" pitchFamily="18" charset="0"/>
              <a:cs typeface="Times New Roman" panose="02020603050405020304" pitchFamily="18" charset="0"/>
            </a:endParaRPr>
          </a:p>
          <a:p>
            <a:endParaRPr lang="en-US" dirty="0" smtClean="0"/>
          </a:p>
          <a:p>
            <a:pPr marL="0" marR="0" lvl="0" indent="0" algn="just" defTabSz="914400" rtl="0" eaLnBrk="0" fontAlgn="base" latinLnBrk="0" hangingPunct="0">
              <a:lnSpc>
                <a:spcPct val="100000"/>
              </a:lnSpc>
              <a:spcBef>
                <a:spcPct val="0"/>
              </a:spcBef>
              <a:spcAft>
                <a:spcPct val="0"/>
              </a:spcAft>
              <a:buClrTx/>
              <a:buSzTx/>
              <a:tabLst/>
            </a:pPr>
            <a:endParaRPr kumimoji="0" lang="en-US" altLang="en-US"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stretch>
            <a:fillRect/>
          </a:stretch>
        </p:blipFill>
        <p:spPr>
          <a:xfrm>
            <a:off x="1676400" y="3060605"/>
            <a:ext cx="8305800" cy="3483504"/>
          </a:xfrm>
          <a:prstGeom prst="rect">
            <a:avLst/>
          </a:prstGeom>
        </p:spPr>
      </p:pic>
    </p:spTree>
    <p:extLst>
      <p:ext uri="{BB962C8B-B14F-4D97-AF65-F5344CB8AC3E}">
        <p14:creationId xmlns:p14="http://schemas.microsoft.com/office/powerpoint/2010/main" val="20050266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B931819-BD2D-B786-D7DD-96ABD311A155}"/>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xmlns="" id="{FF65975D-5A32-3BA7-60A4-B0594FC93BE6}"/>
              </a:ext>
            </a:extLst>
          </p:cNvPr>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dirty="0"/>
          </a:p>
        </p:txBody>
      </p:sp>
      <p:sp>
        <p:nvSpPr>
          <p:cNvPr id="7" name="object 7">
            <a:extLst>
              <a:ext uri="{FF2B5EF4-FFF2-40B4-BE49-F238E27FC236}">
                <a16:creationId xmlns:a16="http://schemas.microsoft.com/office/drawing/2014/main" xmlns="" id="{FAB1C1B7-C0F0-849D-6176-F97252B53AFF}"/>
              </a:ext>
            </a:extLst>
          </p:cNvPr>
          <p:cNvSpPr/>
          <p:nvPr/>
        </p:nvSpPr>
        <p:spPr>
          <a:xfrm>
            <a:off x="0" y="6624856"/>
            <a:ext cx="762000" cy="231331"/>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a:t>
            </a:r>
            <a:r>
              <a:rPr lang="en-US" sz="1600" dirty="0">
                <a:solidFill>
                  <a:schemeClr val="bg1"/>
                </a:solidFill>
                <a:latin typeface="Times New Roman"/>
                <a:ea typeface="+mn-lt"/>
                <a:cs typeface="Times New Roman"/>
              </a:rPr>
              <a:t>B-16</a:t>
            </a:r>
          </a:p>
        </p:txBody>
      </p:sp>
      <p:sp>
        <p:nvSpPr>
          <p:cNvPr id="10" name="object 9">
            <a:extLst>
              <a:ext uri="{FF2B5EF4-FFF2-40B4-BE49-F238E27FC236}">
                <a16:creationId xmlns:a16="http://schemas.microsoft.com/office/drawing/2014/main" xmlns="" id="{A339265E-AAA8-4E00-E070-740FC72A3D5E}"/>
              </a:ext>
            </a:extLst>
          </p:cNvPr>
          <p:cNvSpPr txBox="1">
            <a:spLocks noGrp="1"/>
          </p:cNvSpPr>
          <p:nvPr>
            <p:ph type="dt" sz="half" idx="6"/>
          </p:nvPr>
        </p:nvSpPr>
        <p:spPr>
          <a:xfrm>
            <a:off x="1123125" y="6629792"/>
            <a:ext cx="1061167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r>
              <a:rPr lang="en-US" cap="small" spc="-95" dirty="0"/>
              <a:t>                             Srinivasa Ramanujan Institute of Technology  </a:t>
            </a:r>
            <a:endParaRPr cap="small" spc="-95" dirty="0"/>
          </a:p>
        </p:txBody>
      </p:sp>
      <p:sp>
        <p:nvSpPr>
          <p:cNvPr id="22" name="object 5">
            <a:extLst>
              <a:ext uri="{FF2B5EF4-FFF2-40B4-BE49-F238E27FC236}">
                <a16:creationId xmlns:a16="http://schemas.microsoft.com/office/drawing/2014/main" xmlns="" id="{EB71B47D-3E69-3777-AECE-78AAAE31E5D7}"/>
              </a:ext>
            </a:extLst>
          </p:cNvPr>
          <p:cNvSpPr/>
          <p:nvPr/>
        </p:nvSpPr>
        <p:spPr>
          <a:xfrm>
            <a:off x="-8107" y="233044"/>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6" name="object 6">
            <a:extLst>
              <a:ext uri="{FF2B5EF4-FFF2-40B4-BE49-F238E27FC236}">
                <a16:creationId xmlns:a16="http://schemas.microsoft.com/office/drawing/2014/main" xmlns="" id="{E1CBF879-DD70-0900-2E31-B5401B0A5274}"/>
              </a:ext>
            </a:extLst>
          </p:cNvPr>
          <p:cNvSpPr txBox="1">
            <a:spLocks noGrp="1"/>
          </p:cNvSpPr>
          <p:nvPr>
            <p:ph type="title"/>
          </p:nvPr>
        </p:nvSpPr>
        <p:spPr>
          <a:xfrm>
            <a:off x="20182" y="331753"/>
            <a:ext cx="2723018" cy="689932"/>
          </a:xfrm>
          <a:prstGeom prst="rect">
            <a:avLst/>
          </a:prstGeom>
        </p:spPr>
        <p:txBody>
          <a:bodyPr vert="horz" wrap="square" lIns="0" tIns="12700" rIns="0" bIns="0" rtlCol="0">
            <a:spAutoFit/>
          </a:bodyPr>
          <a:lstStyle/>
          <a:p>
            <a:pPr marL="12700" algn="ctr">
              <a:lnSpc>
                <a:spcPct val="100000"/>
              </a:lnSpc>
            </a:pPr>
            <a:r>
              <a:rPr lang="en-IN" b="1" spc="-10" dirty="0" smtClean="0"/>
              <a:t>Co</a:t>
            </a:r>
            <a:r>
              <a:rPr lang="en-IN" b="1" spc="-10" dirty="0" smtClean="0"/>
              <a:t>ntd..</a:t>
            </a:r>
            <a:endParaRPr b="1" spc="-10" dirty="0"/>
          </a:p>
        </p:txBody>
      </p:sp>
      <p:sp>
        <p:nvSpPr>
          <p:cNvPr id="28" name="object 2">
            <a:extLst>
              <a:ext uri="{FF2B5EF4-FFF2-40B4-BE49-F238E27FC236}">
                <a16:creationId xmlns:a16="http://schemas.microsoft.com/office/drawing/2014/main" xmlns="" id="{C86D60A3-51E7-EDDD-14B9-611D39CA2A7C}"/>
              </a:ext>
            </a:extLst>
          </p:cNvPr>
          <p:cNvSpPr txBox="1"/>
          <p:nvPr/>
        </p:nvSpPr>
        <p:spPr>
          <a:xfrm>
            <a:off x="3429000" y="5249"/>
            <a:ext cx="4890061" cy="228268"/>
          </a:xfrm>
          <a:prstGeom prst="rect">
            <a:avLst/>
          </a:prstGeom>
        </p:spPr>
        <p:txBody>
          <a:bodyPr vert="horz" wrap="square" lIns="0" tIns="12700" rIns="0" bIns="0" rtlCol="0" anchor="t">
            <a:spAutoFit/>
          </a:bodyPr>
          <a:lstStyle/>
          <a:p>
            <a:pPr marL="12700" algn="ctr">
              <a:spcBef>
                <a:spcPts val="100"/>
              </a:spcBef>
            </a:pPr>
            <a:r>
              <a:rPr lang="en-US" sz="1400" dirty="0">
                <a:solidFill>
                  <a:schemeClr val="bg1"/>
                </a:solidFill>
              </a:rPr>
              <a:t>Secure Digital Forensic Evidence Storage System</a:t>
            </a:r>
            <a:endParaRPr lang="en-US" sz="1600" dirty="0">
              <a:solidFill>
                <a:schemeClr val="bg1"/>
              </a:solidFill>
              <a:latin typeface="Times New Roman"/>
              <a:cs typeface="Times New Roman"/>
            </a:endParaRPr>
          </a:p>
        </p:txBody>
      </p:sp>
      <p:sp>
        <p:nvSpPr>
          <p:cNvPr id="29" name="object 12">
            <a:extLst>
              <a:ext uri="{FF2B5EF4-FFF2-40B4-BE49-F238E27FC236}">
                <a16:creationId xmlns:a16="http://schemas.microsoft.com/office/drawing/2014/main" xmlns="" id="{170CA6EE-45D2-B17E-8404-AE48F1B3E780}"/>
              </a:ext>
            </a:extLst>
          </p:cNvPr>
          <p:cNvSpPr txBox="1">
            <a:spLocks noGrp="1"/>
          </p:cNvSpPr>
          <p:nvPr>
            <p:ph type="sldNum" sz="quarter" idx="7"/>
          </p:nvPr>
        </p:nvSpPr>
        <p:spPr>
          <a:xfrm>
            <a:off x="11858823" y="6629309"/>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19</a:t>
            </a:fld>
            <a:endParaRPr spc="-25" dirty="0"/>
          </a:p>
        </p:txBody>
      </p:sp>
      <p:sp>
        <p:nvSpPr>
          <p:cNvPr id="16" name="Rectangle 7">
            <a:extLst>
              <a:ext uri="{FF2B5EF4-FFF2-40B4-BE49-F238E27FC236}">
                <a16:creationId xmlns:a16="http://schemas.microsoft.com/office/drawing/2014/main" xmlns="" id="{5577AE71-B96D-FE4C-F625-166DDA0E0270}"/>
              </a:ext>
            </a:extLst>
          </p:cNvPr>
          <p:cNvSpPr>
            <a:spLocks noChangeArrowheads="1"/>
          </p:cNvSpPr>
          <p:nvPr/>
        </p:nvSpPr>
        <p:spPr bwMode="auto">
          <a:xfrm>
            <a:off x="505023" y="1309242"/>
            <a:ext cx="11582400" cy="264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dirty="0">
                <a:latin typeface="Times New Roman" panose="02020603050405020304" pitchFamily="18" charset="0"/>
                <a:cs typeface="Times New Roman" panose="02020603050405020304" pitchFamily="18" charset="0"/>
              </a:rPr>
              <a:t>6</a:t>
            </a:r>
            <a:r>
              <a:rPr lang="en-US" sz="2000" b="1" dirty="0" smtClean="0">
                <a:latin typeface="Times New Roman" panose="02020603050405020304" pitchFamily="18" charset="0"/>
                <a:cs typeface="Times New Roman" panose="02020603050405020304" pitchFamily="18" charset="0"/>
              </a:rPr>
              <a:t>. File Decryption &amp; Download</a:t>
            </a:r>
          </a:p>
          <a:p>
            <a:r>
              <a:rPr lang="en-US" sz="2000" dirty="0" smtClean="0">
                <a:latin typeface="Times New Roman" panose="02020603050405020304" pitchFamily="18" charset="0"/>
                <a:cs typeface="Times New Roman" panose="02020603050405020304" pitchFamily="18" charset="0"/>
              </a:rPr>
              <a:t>User enters one-time key </a:t>
            </a:r>
          </a:p>
          <a:p>
            <a:r>
              <a:rPr lang="en-US" sz="2000" dirty="0" smtClean="0">
                <a:latin typeface="Times New Roman" panose="02020603050405020304" pitchFamily="18" charset="0"/>
                <a:cs typeface="Times New Roman" panose="02020603050405020304" pitchFamily="18" charset="0"/>
              </a:rPr>
              <a:t>System reconstructs file parts </a:t>
            </a:r>
          </a:p>
          <a:p>
            <a:r>
              <a:rPr lang="en-US" sz="2000" dirty="0" smtClean="0">
                <a:latin typeface="Times New Roman" panose="02020603050405020304" pitchFamily="18" charset="0"/>
                <a:cs typeface="Times New Roman" panose="02020603050405020304" pitchFamily="18" charset="0"/>
              </a:rPr>
              <a:t>File is decrypted and verified </a:t>
            </a:r>
          </a:p>
          <a:p>
            <a:r>
              <a:rPr lang="en-US" sz="2000" dirty="0" smtClean="0">
                <a:latin typeface="Times New Roman" panose="02020603050405020304" pitchFamily="18" charset="0"/>
                <a:cs typeface="Times New Roman" panose="02020603050405020304" pitchFamily="18" charset="0"/>
              </a:rPr>
              <a:t>User downloads original file</a:t>
            </a:r>
          </a:p>
          <a:p>
            <a:pPr algn="just">
              <a:lnSpc>
                <a:spcPct val="150000"/>
              </a:lnSpc>
            </a:pPr>
            <a:endParaRPr lang="en-US" sz="2000" dirty="0" smtClean="0">
              <a:latin typeface="Times New Roman" panose="02020603050405020304" pitchFamily="18" charset="0"/>
              <a:cs typeface="Times New Roman" panose="02020603050405020304" pitchFamily="18" charset="0"/>
            </a:endParaRPr>
          </a:p>
          <a:p>
            <a:endParaRPr lang="en-US" dirty="0" smtClean="0"/>
          </a:p>
          <a:p>
            <a:pPr marL="0" marR="0" lvl="0" indent="0" algn="just" defTabSz="914400" rtl="0" eaLnBrk="0" fontAlgn="base" latinLnBrk="0" hangingPunct="0">
              <a:lnSpc>
                <a:spcPct val="100000"/>
              </a:lnSpc>
              <a:spcBef>
                <a:spcPct val="0"/>
              </a:spcBef>
              <a:spcAft>
                <a:spcPct val="0"/>
              </a:spcAft>
              <a:buClrTx/>
              <a:buSzTx/>
              <a:tabLst/>
            </a:pPr>
            <a:endParaRPr kumimoji="0" lang="en-US" altLang="en-US"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3276600"/>
            <a:ext cx="4648200" cy="2770710"/>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62600" y="3276599"/>
            <a:ext cx="5257801" cy="2826039"/>
          </a:xfrm>
          <a:prstGeom prst="rect">
            <a:avLst/>
          </a:prstGeom>
        </p:spPr>
      </p:pic>
    </p:spTree>
    <p:extLst>
      <p:ext uri="{BB962C8B-B14F-4D97-AF65-F5344CB8AC3E}">
        <p14:creationId xmlns:p14="http://schemas.microsoft.com/office/powerpoint/2010/main" val="16075959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B931819-BD2D-B786-D7DD-96ABD311A155}"/>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xmlns="" id="{FF65975D-5A32-3BA7-60A4-B0594FC93BE6}"/>
              </a:ext>
            </a:extLst>
          </p:cNvPr>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dirty="0"/>
          </a:p>
        </p:txBody>
      </p:sp>
      <p:sp>
        <p:nvSpPr>
          <p:cNvPr id="7" name="object 7">
            <a:extLst>
              <a:ext uri="{FF2B5EF4-FFF2-40B4-BE49-F238E27FC236}">
                <a16:creationId xmlns:a16="http://schemas.microsoft.com/office/drawing/2014/main" xmlns="" id="{FAB1C1B7-C0F0-849D-6176-F97252B53AFF}"/>
              </a:ext>
            </a:extLst>
          </p:cNvPr>
          <p:cNvSpPr/>
          <p:nvPr/>
        </p:nvSpPr>
        <p:spPr>
          <a:xfrm>
            <a:off x="0" y="6624856"/>
            <a:ext cx="762000" cy="231331"/>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a:t>
            </a:r>
            <a:r>
              <a:rPr lang="en-US" sz="1600" dirty="0">
                <a:solidFill>
                  <a:schemeClr val="bg1"/>
                </a:solidFill>
                <a:latin typeface="Times New Roman"/>
                <a:ea typeface="+mn-lt"/>
                <a:cs typeface="Times New Roman"/>
              </a:rPr>
              <a:t>B-16</a:t>
            </a:r>
          </a:p>
        </p:txBody>
      </p:sp>
      <p:sp>
        <p:nvSpPr>
          <p:cNvPr id="10" name="object 9">
            <a:extLst>
              <a:ext uri="{FF2B5EF4-FFF2-40B4-BE49-F238E27FC236}">
                <a16:creationId xmlns:a16="http://schemas.microsoft.com/office/drawing/2014/main" xmlns="" id="{A339265E-AAA8-4E00-E070-740FC72A3D5E}"/>
              </a:ext>
            </a:extLst>
          </p:cNvPr>
          <p:cNvSpPr txBox="1">
            <a:spLocks noGrp="1"/>
          </p:cNvSpPr>
          <p:nvPr>
            <p:ph type="dt" sz="half" idx="6"/>
          </p:nvPr>
        </p:nvSpPr>
        <p:spPr>
          <a:xfrm>
            <a:off x="1123125" y="6629792"/>
            <a:ext cx="1061167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r>
              <a:rPr lang="en-US" cap="small" spc="-95" dirty="0"/>
              <a:t>                             Srinivasa Ramanujan Institute of Technology  </a:t>
            </a:r>
            <a:endParaRPr cap="small" spc="-95" dirty="0"/>
          </a:p>
        </p:txBody>
      </p:sp>
      <p:sp>
        <p:nvSpPr>
          <p:cNvPr id="22" name="object 5">
            <a:extLst>
              <a:ext uri="{FF2B5EF4-FFF2-40B4-BE49-F238E27FC236}">
                <a16:creationId xmlns:a16="http://schemas.microsoft.com/office/drawing/2014/main" xmlns="" id="{EB71B47D-3E69-3777-AECE-78AAAE31E5D7}"/>
              </a:ext>
            </a:extLst>
          </p:cNvPr>
          <p:cNvSpPr/>
          <p:nvPr/>
        </p:nvSpPr>
        <p:spPr>
          <a:xfrm>
            <a:off x="-8107" y="233044"/>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6" name="object 6">
            <a:extLst>
              <a:ext uri="{FF2B5EF4-FFF2-40B4-BE49-F238E27FC236}">
                <a16:creationId xmlns:a16="http://schemas.microsoft.com/office/drawing/2014/main" xmlns="" id="{E1CBF879-DD70-0900-2E31-B5401B0A5274}"/>
              </a:ext>
            </a:extLst>
          </p:cNvPr>
          <p:cNvSpPr txBox="1">
            <a:spLocks noGrp="1"/>
          </p:cNvSpPr>
          <p:nvPr>
            <p:ph type="title"/>
          </p:nvPr>
        </p:nvSpPr>
        <p:spPr>
          <a:xfrm>
            <a:off x="20182" y="331753"/>
            <a:ext cx="2723018" cy="689932"/>
          </a:xfrm>
          <a:prstGeom prst="rect">
            <a:avLst/>
          </a:prstGeom>
        </p:spPr>
        <p:txBody>
          <a:bodyPr vert="horz" wrap="square" lIns="0" tIns="12700" rIns="0" bIns="0" rtlCol="0">
            <a:spAutoFit/>
          </a:bodyPr>
          <a:lstStyle/>
          <a:p>
            <a:pPr marL="12700" algn="ctr">
              <a:lnSpc>
                <a:spcPct val="100000"/>
              </a:lnSpc>
            </a:pPr>
            <a:r>
              <a:rPr lang="en-IN" b="1" spc="-10" dirty="0" smtClean="0"/>
              <a:t>Result</a:t>
            </a:r>
            <a:endParaRPr b="1" spc="-10" dirty="0"/>
          </a:p>
        </p:txBody>
      </p:sp>
      <p:sp>
        <p:nvSpPr>
          <p:cNvPr id="28" name="object 2">
            <a:extLst>
              <a:ext uri="{FF2B5EF4-FFF2-40B4-BE49-F238E27FC236}">
                <a16:creationId xmlns:a16="http://schemas.microsoft.com/office/drawing/2014/main" xmlns="" id="{C86D60A3-51E7-EDDD-14B9-611D39CA2A7C}"/>
              </a:ext>
            </a:extLst>
          </p:cNvPr>
          <p:cNvSpPr txBox="1"/>
          <p:nvPr/>
        </p:nvSpPr>
        <p:spPr>
          <a:xfrm>
            <a:off x="3429000" y="5249"/>
            <a:ext cx="4890061" cy="228268"/>
          </a:xfrm>
          <a:prstGeom prst="rect">
            <a:avLst/>
          </a:prstGeom>
        </p:spPr>
        <p:txBody>
          <a:bodyPr vert="horz" wrap="square" lIns="0" tIns="12700" rIns="0" bIns="0" rtlCol="0" anchor="t">
            <a:spAutoFit/>
          </a:bodyPr>
          <a:lstStyle/>
          <a:p>
            <a:pPr marL="12700" algn="ctr">
              <a:spcBef>
                <a:spcPts val="100"/>
              </a:spcBef>
            </a:pPr>
            <a:r>
              <a:rPr lang="en-US" sz="1400" dirty="0">
                <a:solidFill>
                  <a:schemeClr val="bg1"/>
                </a:solidFill>
              </a:rPr>
              <a:t>Secure Digital Forensic Evidence Storage System</a:t>
            </a:r>
            <a:endParaRPr lang="en-US" sz="1600" dirty="0">
              <a:solidFill>
                <a:schemeClr val="bg1"/>
              </a:solidFill>
              <a:latin typeface="Times New Roman"/>
              <a:cs typeface="Times New Roman"/>
            </a:endParaRPr>
          </a:p>
        </p:txBody>
      </p:sp>
      <p:sp>
        <p:nvSpPr>
          <p:cNvPr id="29" name="object 12">
            <a:extLst>
              <a:ext uri="{FF2B5EF4-FFF2-40B4-BE49-F238E27FC236}">
                <a16:creationId xmlns:a16="http://schemas.microsoft.com/office/drawing/2014/main" xmlns="" id="{170CA6EE-45D2-B17E-8404-AE48F1B3E780}"/>
              </a:ext>
            </a:extLst>
          </p:cNvPr>
          <p:cNvSpPr txBox="1">
            <a:spLocks noGrp="1"/>
          </p:cNvSpPr>
          <p:nvPr>
            <p:ph type="sldNum" sz="quarter" idx="7"/>
          </p:nvPr>
        </p:nvSpPr>
        <p:spPr>
          <a:xfrm>
            <a:off x="11858823" y="6629309"/>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20</a:t>
            </a:fld>
            <a:endParaRPr spc="-25" dirty="0"/>
          </a:p>
        </p:txBody>
      </p:sp>
      <p:sp>
        <p:nvSpPr>
          <p:cNvPr id="16" name="Rectangle 7">
            <a:extLst>
              <a:ext uri="{FF2B5EF4-FFF2-40B4-BE49-F238E27FC236}">
                <a16:creationId xmlns:a16="http://schemas.microsoft.com/office/drawing/2014/main" xmlns="" id="{5577AE71-B96D-FE4C-F625-166DDA0E0270}"/>
              </a:ext>
            </a:extLst>
          </p:cNvPr>
          <p:cNvSpPr>
            <a:spLocks noChangeArrowheads="1"/>
          </p:cNvSpPr>
          <p:nvPr/>
        </p:nvSpPr>
        <p:spPr bwMode="auto">
          <a:xfrm>
            <a:off x="505023" y="1155355"/>
            <a:ext cx="11582400" cy="2954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a:lnSpc>
                <a:spcPct val="150000"/>
              </a:lnSpc>
              <a:buFont typeface="Arial" panose="020B0604020202020204" pitchFamily="34" charset="0"/>
              <a:buChar char="•"/>
            </a:pPr>
            <a:r>
              <a:rPr lang="en-US" sz="2000" dirty="0" smtClean="0"/>
              <a:t>Secure storage achieved using AES &amp; ECC</a:t>
            </a:r>
          </a:p>
          <a:p>
            <a:pPr marL="342900" indent="-342900" algn="just">
              <a:lnSpc>
                <a:spcPct val="150000"/>
              </a:lnSpc>
              <a:buFont typeface="Arial" panose="020B0604020202020204" pitchFamily="34" charset="0"/>
              <a:buChar char="•"/>
            </a:pPr>
            <a:r>
              <a:rPr lang="en-US" sz="2000" dirty="0" smtClean="0"/>
              <a:t>Strong authentication using MFA</a:t>
            </a:r>
          </a:p>
          <a:p>
            <a:pPr marL="342900" indent="-342900" algn="just">
              <a:lnSpc>
                <a:spcPct val="150000"/>
              </a:lnSpc>
              <a:buFont typeface="Arial" panose="020B0604020202020204" pitchFamily="34" charset="0"/>
              <a:buChar char="•"/>
            </a:pPr>
            <a:r>
              <a:rPr lang="en-US" sz="2000" dirty="0" smtClean="0"/>
              <a:t>Integrity ensured using SHA-256</a:t>
            </a:r>
          </a:p>
          <a:p>
            <a:pPr marL="342900" indent="-342900" algn="just">
              <a:lnSpc>
                <a:spcPct val="150000"/>
              </a:lnSpc>
              <a:buFont typeface="Arial" panose="020B0604020202020204" pitchFamily="34" charset="0"/>
              <a:buChar char="•"/>
            </a:pPr>
            <a:r>
              <a:rPr lang="en-US" sz="2000" dirty="0" err="1" smtClean="0"/>
              <a:t>Blockchain</a:t>
            </a:r>
            <a:r>
              <a:rPr lang="en-US" sz="2000" dirty="0" smtClean="0"/>
              <a:t> used for audit logging</a:t>
            </a:r>
          </a:p>
          <a:p>
            <a:pPr marL="342900" indent="-342900" algn="just">
              <a:lnSpc>
                <a:spcPct val="150000"/>
              </a:lnSpc>
              <a:buFont typeface="Arial" panose="020B0604020202020204" pitchFamily="34" charset="0"/>
              <a:buChar char="•"/>
            </a:pPr>
            <a:r>
              <a:rPr lang="en-US" sz="2000" dirty="0" smtClean="0"/>
              <a:t>Controlled access using RBAC &amp; one-time keys</a:t>
            </a:r>
            <a:endParaRPr lang="en-US" sz="2000" dirty="0" smtClean="0">
              <a:latin typeface="Times New Roman" panose="02020603050405020304" pitchFamily="18" charset="0"/>
              <a:cs typeface="Times New Roman" panose="02020603050405020304" pitchFamily="18" charset="0"/>
            </a:endParaRPr>
          </a:p>
          <a:p>
            <a:endParaRPr lang="en-US" dirty="0" smtClean="0"/>
          </a:p>
          <a:p>
            <a:pPr marL="0" marR="0" lvl="0" indent="0" algn="just" defTabSz="914400" rtl="0" eaLnBrk="0" fontAlgn="base" latinLnBrk="0" hangingPunct="0">
              <a:lnSpc>
                <a:spcPct val="100000"/>
              </a:lnSpc>
              <a:spcBef>
                <a:spcPct val="0"/>
              </a:spcBef>
              <a:spcAft>
                <a:spcPct val="0"/>
              </a:spcAft>
              <a:buClrTx/>
              <a:buSzTx/>
              <a:tabLst/>
            </a:pPr>
            <a:endParaRPr kumimoji="0" lang="en-US" altLang="en-US"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3"/>
          <a:stretch>
            <a:fillRect/>
          </a:stretch>
        </p:blipFill>
        <p:spPr>
          <a:xfrm>
            <a:off x="2869175" y="3507848"/>
            <a:ext cx="6009709" cy="3048000"/>
          </a:xfrm>
          <a:prstGeom prst="rect">
            <a:avLst/>
          </a:prstGeom>
        </p:spPr>
      </p:pic>
    </p:spTree>
    <p:extLst>
      <p:ext uri="{BB962C8B-B14F-4D97-AF65-F5344CB8AC3E}">
        <p14:creationId xmlns:p14="http://schemas.microsoft.com/office/powerpoint/2010/main" val="41498356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B931819-BD2D-B786-D7DD-96ABD311A155}"/>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xmlns="" id="{FF65975D-5A32-3BA7-60A4-B0594FC93BE6}"/>
              </a:ext>
            </a:extLst>
          </p:cNvPr>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dirty="0"/>
          </a:p>
        </p:txBody>
      </p:sp>
      <p:sp>
        <p:nvSpPr>
          <p:cNvPr id="7" name="object 7">
            <a:extLst>
              <a:ext uri="{FF2B5EF4-FFF2-40B4-BE49-F238E27FC236}">
                <a16:creationId xmlns:a16="http://schemas.microsoft.com/office/drawing/2014/main" xmlns="" id="{FAB1C1B7-C0F0-849D-6176-F97252B53AFF}"/>
              </a:ext>
            </a:extLst>
          </p:cNvPr>
          <p:cNvSpPr/>
          <p:nvPr/>
        </p:nvSpPr>
        <p:spPr>
          <a:xfrm>
            <a:off x="0" y="6624856"/>
            <a:ext cx="762000" cy="231331"/>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a:t>
            </a:r>
            <a:r>
              <a:rPr lang="en-US" sz="1600" dirty="0">
                <a:solidFill>
                  <a:schemeClr val="bg1"/>
                </a:solidFill>
                <a:latin typeface="Times New Roman"/>
                <a:ea typeface="+mn-lt"/>
                <a:cs typeface="Times New Roman"/>
              </a:rPr>
              <a:t>B-16</a:t>
            </a:r>
          </a:p>
        </p:txBody>
      </p:sp>
      <p:sp>
        <p:nvSpPr>
          <p:cNvPr id="10" name="object 9">
            <a:extLst>
              <a:ext uri="{FF2B5EF4-FFF2-40B4-BE49-F238E27FC236}">
                <a16:creationId xmlns:a16="http://schemas.microsoft.com/office/drawing/2014/main" xmlns="" id="{A339265E-AAA8-4E00-E070-740FC72A3D5E}"/>
              </a:ext>
            </a:extLst>
          </p:cNvPr>
          <p:cNvSpPr txBox="1">
            <a:spLocks noGrp="1"/>
          </p:cNvSpPr>
          <p:nvPr>
            <p:ph type="dt" sz="half" idx="6"/>
          </p:nvPr>
        </p:nvSpPr>
        <p:spPr>
          <a:xfrm>
            <a:off x="1123125" y="6629792"/>
            <a:ext cx="1061167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r>
              <a:rPr lang="en-US" cap="small" spc="-95" dirty="0"/>
              <a:t>                             Srinivasa Ramanujan Institute of Technology  </a:t>
            </a:r>
            <a:endParaRPr cap="small" spc="-95" dirty="0"/>
          </a:p>
        </p:txBody>
      </p:sp>
      <p:sp>
        <p:nvSpPr>
          <p:cNvPr id="22" name="object 5">
            <a:extLst>
              <a:ext uri="{FF2B5EF4-FFF2-40B4-BE49-F238E27FC236}">
                <a16:creationId xmlns:a16="http://schemas.microsoft.com/office/drawing/2014/main" xmlns="" id="{EB71B47D-3E69-3777-AECE-78AAAE31E5D7}"/>
              </a:ext>
            </a:extLst>
          </p:cNvPr>
          <p:cNvSpPr/>
          <p:nvPr/>
        </p:nvSpPr>
        <p:spPr>
          <a:xfrm>
            <a:off x="-8107" y="233044"/>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6" name="object 6">
            <a:extLst>
              <a:ext uri="{FF2B5EF4-FFF2-40B4-BE49-F238E27FC236}">
                <a16:creationId xmlns:a16="http://schemas.microsoft.com/office/drawing/2014/main" xmlns="" id="{E1CBF879-DD70-0900-2E31-B5401B0A5274}"/>
              </a:ext>
            </a:extLst>
          </p:cNvPr>
          <p:cNvSpPr txBox="1">
            <a:spLocks noGrp="1"/>
          </p:cNvSpPr>
          <p:nvPr>
            <p:ph type="title"/>
          </p:nvPr>
        </p:nvSpPr>
        <p:spPr>
          <a:xfrm>
            <a:off x="20182" y="331753"/>
            <a:ext cx="2951618" cy="689932"/>
          </a:xfrm>
          <a:prstGeom prst="rect">
            <a:avLst/>
          </a:prstGeom>
        </p:spPr>
        <p:txBody>
          <a:bodyPr vert="horz" wrap="square" lIns="0" tIns="12700" rIns="0" bIns="0" rtlCol="0">
            <a:spAutoFit/>
          </a:bodyPr>
          <a:lstStyle/>
          <a:p>
            <a:pPr marL="12700" algn="ctr">
              <a:lnSpc>
                <a:spcPct val="100000"/>
              </a:lnSpc>
            </a:pPr>
            <a:r>
              <a:rPr lang="en-IN" b="1" spc="-10" dirty="0" smtClean="0"/>
              <a:t>Conclusion</a:t>
            </a:r>
            <a:endParaRPr b="1" spc="-10" dirty="0"/>
          </a:p>
        </p:txBody>
      </p:sp>
      <p:sp>
        <p:nvSpPr>
          <p:cNvPr id="28" name="object 2">
            <a:extLst>
              <a:ext uri="{FF2B5EF4-FFF2-40B4-BE49-F238E27FC236}">
                <a16:creationId xmlns:a16="http://schemas.microsoft.com/office/drawing/2014/main" xmlns="" id="{C86D60A3-51E7-EDDD-14B9-611D39CA2A7C}"/>
              </a:ext>
            </a:extLst>
          </p:cNvPr>
          <p:cNvSpPr txBox="1"/>
          <p:nvPr/>
        </p:nvSpPr>
        <p:spPr>
          <a:xfrm>
            <a:off x="3429000" y="5249"/>
            <a:ext cx="4890061" cy="228268"/>
          </a:xfrm>
          <a:prstGeom prst="rect">
            <a:avLst/>
          </a:prstGeom>
        </p:spPr>
        <p:txBody>
          <a:bodyPr vert="horz" wrap="square" lIns="0" tIns="12700" rIns="0" bIns="0" rtlCol="0" anchor="t">
            <a:spAutoFit/>
          </a:bodyPr>
          <a:lstStyle/>
          <a:p>
            <a:pPr marL="12700" algn="ctr">
              <a:spcBef>
                <a:spcPts val="100"/>
              </a:spcBef>
            </a:pPr>
            <a:r>
              <a:rPr lang="en-US" sz="1400" dirty="0">
                <a:solidFill>
                  <a:schemeClr val="bg1"/>
                </a:solidFill>
              </a:rPr>
              <a:t>Secure Digital Forensic Evidence Storage System</a:t>
            </a:r>
            <a:endParaRPr lang="en-US" sz="1600" dirty="0">
              <a:solidFill>
                <a:schemeClr val="bg1"/>
              </a:solidFill>
              <a:latin typeface="Times New Roman"/>
              <a:cs typeface="Times New Roman"/>
            </a:endParaRPr>
          </a:p>
        </p:txBody>
      </p:sp>
      <p:sp>
        <p:nvSpPr>
          <p:cNvPr id="29" name="object 12">
            <a:extLst>
              <a:ext uri="{FF2B5EF4-FFF2-40B4-BE49-F238E27FC236}">
                <a16:creationId xmlns:a16="http://schemas.microsoft.com/office/drawing/2014/main" xmlns="" id="{170CA6EE-45D2-B17E-8404-AE48F1B3E780}"/>
              </a:ext>
            </a:extLst>
          </p:cNvPr>
          <p:cNvSpPr txBox="1">
            <a:spLocks noGrp="1"/>
          </p:cNvSpPr>
          <p:nvPr>
            <p:ph type="sldNum" sz="quarter" idx="7"/>
          </p:nvPr>
        </p:nvSpPr>
        <p:spPr>
          <a:xfrm>
            <a:off x="11858823" y="6629309"/>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21</a:t>
            </a:fld>
            <a:endParaRPr spc="-25" dirty="0"/>
          </a:p>
        </p:txBody>
      </p:sp>
      <p:sp>
        <p:nvSpPr>
          <p:cNvPr id="16" name="Rectangle 7">
            <a:extLst>
              <a:ext uri="{FF2B5EF4-FFF2-40B4-BE49-F238E27FC236}">
                <a16:creationId xmlns:a16="http://schemas.microsoft.com/office/drawing/2014/main" xmlns="" id="{5577AE71-B96D-FE4C-F625-166DDA0E0270}"/>
              </a:ext>
            </a:extLst>
          </p:cNvPr>
          <p:cNvSpPr>
            <a:spLocks noChangeArrowheads="1"/>
          </p:cNvSpPr>
          <p:nvPr/>
        </p:nvSpPr>
        <p:spPr bwMode="auto">
          <a:xfrm>
            <a:off x="685800" y="1309714"/>
            <a:ext cx="10582077"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US" sz="2000" dirty="0" smtClean="0">
                <a:latin typeface="Times New Roman" panose="02020603050405020304" pitchFamily="18" charset="0"/>
                <a:cs typeface="Times New Roman" panose="02020603050405020304" pitchFamily="18" charset="0"/>
              </a:rPr>
              <a:t>The proposed Digital Forensic Evidence Storage System provides a secure and efficient solution for managing sensitive digital evidence. It ensures confidentiality through advanced encryption techniques such as AES-256 and ECC, while maintaining data integrity using SHA-256 hashing. The system also implements strong authentication mechanisms like Multi-Factor Authentication (MFA) and JWT to prevent unauthorized access.</a:t>
            </a:r>
          </a:p>
          <a:p>
            <a:pPr algn="just">
              <a:lnSpc>
                <a:spcPct val="150000"/>
              </a:lnSpc>
            </a:pPr>
            <a:r>
              <a:rPr lang="en-US" sz="2000" dirty="0" smtClean="0">
                <a:latin typeface="Times New Roman" panose="02020603050405020304" pitchFamily="18" charset="0"/>
                <a:cs typeface="Times New Roman" panose="02020603050405020304" pitchFamily="18" charset="0"/>
              </a:rPr>
              <a:t>Furthermore, Role-Based Access Control enables controlled access to users, and the integration of </a:t>
            </a:r>
            <a:r>
              <a:rPr lang="en-US" sz="2000" dirty="0" err="1" smtClean="0">
                <a:latin typeface="Times New Roman" panose="02020603050405020304" pitchFamily="18" charset="0"/>
                <a:cs typeface="Times New Roman" panose="02020603050405020304" pitchFamily="18" charset="0"/>
              </a:rPr>
              <a:t>blockchain</a:t>
            </a:r>
            <a:r>
              <a:rPr lang="en-US" sz="2000" dirty="0" smtClean="0">
                <a:latin typeface="Times New Roman" panose="02020603050405020304" pitchFamily="18" charset="0"/>
                <a:cs typeface="Times New Roman" panose="02020603050405020304" pitchFamily="18" charset="0"/>
              </a:rPr>
              <a:t> technology ensures a tamper-proof audit trail, maintaining a proper chain of custody. Overall, the system enhances the security, reliability, and transparency of digital evidence management, making it suitable for real-world forensic and legal applications.</a:t>
            </a:r>
          </a:p>
          <a:p>
            <a:endParaRPr lang="en-US" dirty="0" smtClean="0"/>
          </a:p>
          <a:p>
            <a:pPr marL="0" marR="0" lvl="0" indent="0" algn="just" defTabSz="914400" rtl="0" eaLnBrk="0" fontAlgn="base" latinLnBrk="0" hangingPunct="0">
              <a:lnSpc>
                <a:spcPct val="100000"/>
              </a:lnSpc>
              <a:spcBef>
                <a:spcPct val="0"/>
              </a:spcBef>
              <a:spcAft>
                <a:spcPct val="0"/>
              </a:spcAft>
              <a:buClrTx/>
              <a:buSzTx/>
              <a:tabLst/>
            </a:pPr>
            <a:endParaRPr kumimoji="0" lang="en-US" altLang="en-US"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7474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B931819-BD2D-B786-D7DD-96ABD311A155}"/>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xmlns="" id="{FF65975D-5A32-3BA7-60A4-B0594FC93BE6}"/>
              </a:ext>
            </a:extLst>
          </p:cNvPr>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dirty="0"/>
          </a:p>
        </p:txBody>
      </p:sp>
      <p:sp>
        <p:nvSpPr>
          <p:cNvPr id="7" name="object 7">
            <a:extLst>
              <a:ext uri="{FF2B5EF4-FFF2-40B4-BE49-F238E27FC236}">
                <a16:creationId xmlns:a16="http://schemas.microsoft.com/office/drawing/2014/main" xmlns="" id="{FAB1C1B7-C0F0-849D-6176-F97252B53AFF}"/>
              </a:ext>
            </a:extLst>
          </p:cNvPr>
          <p:cNvSpPr/>
          <p:nvPr/>
        </p:nvSpPr>
        <p:spPr>
          <a:xfrm>
            <a:off x="0" y="6624856"/>
            <a:ext cx="762000" cy="231331"/>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a:t>
            </a:r>
            <a:r>
              <a:rPr lang="en-US" sz="1600" dirty="0">
                <a:solidFill>
                  <a:schemeClr val="bg1"/>
                </a:solidFill>
                <a:latin typeface="Times New Roman"/>
                <a:ea typeface="+mn-lt"/>
                <a:cs typeface="Times New Roman"/>
              </a:rPr>
              <a:t>B-16</a:t>
            </a:r>
          </a:p>
        </p:txBody>
      </p:sp>
      <p:sp>
        <p:nvSpPr>
          <p:cNvPr id="10" name="object 9">
            <a:extLst>
              <a:ext uri="{FF2B5EF4-FFF2-40B4-BE49-F238E27FC236}">
                <a16:creationId xmlns:a16="http://schemas.microsoft.com/office/drawing/2014/main" xmlns="" id="{A339265E-AAA8-4E00-E070-740FC72A3D5E}"/>
              </a:ext>
            </a:extLst>
          </p:cNvPr>
          <p:cNvSpPr txBox="1">
            <a:spLocks noGrp="1"/>
          </p:cNvSpPr>
          <p:nvPr>
            <p:ph type="dt" sz="half" idx="6"/>
          </p:nvPr>
        </p:nvSpPr>
        <p:spPr>
          <a:xfrm>
            <a:off x="1123125" y="6629792"/>
            <a:ext cx="1061167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r>
              <a:rPr lang="en-US" cap="small" spc="-95" dirty="0"/>
              <a:t>                             Srinivasa Ramanujan Institute of Technology  </a:t>
            </a:r>
            <a:endParaRPr cap="small" spc="-95" dirty="0"/>
          </a:p>
        </p:txBody>
      </p:sp>
      <p:sp>
        <p:nvSpPr>
          <p:cNvPr id="22" name="object 5">
            <a:extLst>
              <a:ext uri="{FF2B5EF4-FFF2-40B4-BE49-F238E27FC236}">
                <a16:creationId xmlns:a16="http://schemas.microsoft.com/office/drawing/2014/main" xmlns="" id="{EB71B47D-3E69-3777-AECE-78AAAE31E5D7}"/>
              </a:ext>
            </a:extLst>
          </p:cNvPr>
          <p:cNvSpPr/>
          <p:nvPr/>
        </p:nvSpPr>
        <p:spPr>
          <a:xfrm>
            <a:off x="-8107" y="233044"/>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6" name="object 6">
            <a:extLst>
              <a:ext uri="{FF2B5EF4-FFF2-40B4-BE49-F238E27FC236}">
                <a16:creationId xmlns:a16="http://schemas.microsoft.com/office/drawing/2014/main" xmlns="" id="{E1CBF879-DD70-0900-2E31-B5401B0A5274}"/>
              </a:ext>
            </a:extLst>
          </p:cNvPr>
          <p:cNvSpPr txBox="1">
            <a:spLocks noGrp="1"/>
          </p:cNvSpPr>
          <p:nvPr>
            <p:ph type="title"/>
          </p:nvPr>
        </p:nvSpPr>
        <p:spPr>
          <a:xfrm>
            <a:off x="20182" y="331753"/>
            <a:ext cx="3561218" cy="689932"/>
          </a:xfrm>
          <a:prstGeom prst="rect">
            <a:avLst/>
          </a:prstGeom>
        </p:spPr>
        <p:txBody>
          <a:bodyPr vert="horz" wrap="square" lIns="0" tIns="12700" rIns="0" bIns="0" rtlCol="0">
            <a:spAutoFit/>
          </a:bodyPr>
          <a:lstStyle/>
          <a:p>
            <a:pPr marL="12700" algn="ctr">
              <a:lnSpc>
                <a:spcPct val="100000"/>
              </a:lnSpc>
            </a:pPr>
            <a:r>
              <a:rPr lang="en-IN" b="1" spc="-10" dirty="0" smtClean="0"/>
              <a:t>References</a:t>
            </a:r>
            <a:endParaRPr b="1" spc="-10" dirty="0"/>
          </a:p>
        </p:txBody>
      </p:sp>
      <p:sp>
        <p:nvSpPr>
          <p:cNvPr id="28" name="object 2">
            <a:extLst>
              <a:ext uri="{FF2B5EF4-FFF2-40B4-BE49-F238E27FC236}">
                <a16:creationId xmlns:a16="http://schemas.microsoft.com/office/drawing/2014/main" xmlns="" id="{C86D60A3-51E7-EDDD-14B9-611D39CA2A7C}"/>
              </a:ext>
            </a:extLst>
          </p:cNvPr>
          <p:cNvSpPr txBox="1"/>
          <p:nvPr/>
        </p:nvSpPr>
        <p:spPr>
          <a:xfrm>
            <a:off x="3429000" y="5249"/>
            <a:ext cx="4890061" cy="228268"/>
          </a:xfrm>
          <a:prstGeom prst="rect">
            <a:avLst/>
          </a:prstGeom>
        </p:spPr>
        <p:txBody>
          <a:bodyPr vert="horz" wrap="square" lIns="0" tIns="12700" rIns="0" bIns="0" rtlCol="0" anchor="t">
            <a:spAutoFit/>
          </a:bodyPr>
          <a:lstStyle/>
          <a:p>
            <a:pPr marL="12700" algn="ctr">
              <a:spcBef>
                <a:spcPts val="100"/>
              </a:spcBef>
            </a:pPr>
            <a:r>
              <a:rPr lang="en-US" sz="1400" dirty="0">
                <a:solidFill>
                  <a:schemeClr val="bg1"/>
                </a:solidFill>
              </a:rPr>
              <a:t>Secure Digital Forensic Evidence Storage System</a:t>
            </a:r>
            <a:endParaRPr lang="en-US" sz="1600" dirty="0">
              <a:solidFill>
                <a:schemeClr val="bg1"/>
              </a:solidFill>
              <a:latin typeface="Times New Roman"/>
              <a:cs typeface="Times New Roman"/>
            </a:endParaRPr>
          </a:p>
        </p:txBody>
      </p:sp>
      <p:sp>
        <p:nvSpPr>
          <p:cNvPr id="29" name="object 12">
            <a:extLst>
              <a:ext uri="{FF2B5EF4-FFF2-40B4-BE49-F238E27FC236}">
                <a16:creationId xmlns:a16="http://schemas.microsoft.com/office/drawing/2014/main" xmlns="" id="{170CA6EE-45D2-B17E-8404-AE48F1B3E780}"/>
              </a:ext>
            </a:extLst>
          </p:cNvPr>
          <p:cNvSpPr txBox="1">
            <a:spLocks noGrp="1"/>
          </p:cNvSpPr>
          <p:nvPr>
            <p:ph type="sldNum" sz="quarter" idx="7"/>
          </p:nvPr>
        </p:nvSpPr>
        <p:spPr>
          <a:xfrm>
            <a:off x="11858823" y="6629309"/>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22</a:t>
            </a:fld>
            <a:endParaRPr spc="-25" dirty="0"/>
          </a:p>
        </p:txBody>
      </p:sp>
      <p:sp>
        <p:nvSpPr>
          <p:cNvPr id="16" name="Rectangle 7">
            <a:extLst>
              <a:ext uri="{FF2B5EF4-FFF2-40B4-BE49-F238E27FC236}">
                <a16:creationId xmlns:a16="http://schemas.microsoft.com/office/drawing/2014/main" xmlns="" id="{5577AE71-B96D-FE4C-F625-166DDA0E0270}"/>
              </a:ext>
            </a:extLst>
          </p:cNvPr>
          <p:cNvSpPr>
            <a:spLocks noChangeArrowheads="1"/>
          </p:cNvSpPr>
          <p:nvPr/>
        </p:nvSpPr>
        <p:spPr bwMode="auto">
          <a:xfrm>
            <a:off x="685800" y="1184196"/>
            <a:ext cx="10381034"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000" i="1" dirty="0"/>
              <a:t>[1] E. Casey, Digital Evidence and Computer Crime: Forensic Science, Computers, and the Internet, 3rd ed. Academic Press, 2011.</a:t>
            </a:r>
            <a:endParaRPr lang="en-US" sz="2000" dirty="0"/>
          </a:p>
          <a:p>
            <a:pPr>
              <a:lnSpc>
                <a:spcPct val="150000"/>
              </a:lnSpc>
            </a:pPr>
            <a:r>
              <a:rPr lang="en-US" sz="2000" i="1" dirty="0"/>
              <a:t> [2] F. Prakash and H. </a:t>
            </a:r>
            <a:r>
              <a:rPr lang="en-US" sz="2000" i="1" dirty="0" err="1"/>
              <a:t>Sadawarti</a:t>
            </a:r>
            <a:r>
              <a:rPr lang="en-US" sz="2000" i="1" dirty="0"/>
              <a:t>, “</a:t>
            </a:r>
            <a:r>
              <a:rPr lang="en-US" sz="2000" i="1" dirty="0" err="1"/>
              <a:t>Blockchain</a:t>
            </a:r>
            <a:r>
              <a:rPr lang="en-US" sz="2000" i="1" dirty="0"/>
              <a:t>-Based Chain of Custody: A Secure Digital Evidence Framework for Digital Forensics Investigation,” 2024. </a:t>
            </a:r>
            <a:endParaRPr lang="en-US" sz="2000" dirty="0"/>
          </a:p>
          <a:p>
            <a:pPr>
              <a:lnSpc>
                <a:spcPct val="150000"/>
              </a:lnSpc>
            </a:pPr>
            <a:r>
              <a:rPr lang="en-US" sz="2000" i="1" dirty="0"/>
              <a:t>[3] H. F. </a:t>
            </a:r>
            <a:r>
              <a:rPr lang="en-US" sz="2000" i="1" dirty="0" err="1"/>
              <a:t>Atlam</a:t>
            </a:r>
            <a:r>
              <a:rPr lang="en-US" sz="2000" i="1" dirty="0"/>
              <a:t>, “</a:t>
            </a:r>
            <a:r>
              <a:rPr lang="en-US" sz="2000" i="1" dirty="0" err="1"/>
              <a:t>Blockchain</a:t>
            </a:r>
            <a:r>
              <a:rPr lang="en-US" sz="2000" i="1" dirty="0"/>
              <a:t> Forensics: A Systematic Literature Review of Digital Forensic Frameworks and Methodologies,” Electronics, vol. 13, no. </a:t>
            </a:r>
            <a:r>
              <a:rPr lang="en-US" sz="2000" i="1" dirty="0">
                <a:latin typeface="Times New Roman" panose="02020603050405020304" pitchFamily="18" charset="0"/>
                <a:cs typeface="Times New Roman" panose="02020603050405020304" pitchFamily="18" charset="0"/>
              </a:rPr>
              <a:t>17, 2024.</a:t>
            </a: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i="1" dirty="0">
                <a:latin typeface="Times New Roman" panose="02020603050405020304" pitchFamily="18" charset="0"/>
                <a:cs typeface="Times New Roman" panose="02020603050405020304" pitchFamily="18" charset="0"/>
              </a:rPr>
              <a:t> [4] N. </a:t>
            </a:r>
            <a:r>
              <a:rPr lang="en-US" sz="2000" i="1" dirty="0" err="1">
                <a:latin typeface="Times New Roman" panose="02020603050405020304" pitchFamily="18" charset="0"/>
                <a:cs typeface="Times New Roman" panose="02020603050405020304" pitchFamily="18" charset="0"/>
              </a:rPr>
              <a:t>Hanif</a:t>
            </a:r>
            <a:r>
              <a:rPr lang="en-US" sz="2000" i="1" dirty="0">
                <a:latin typeface="Times New Roman" panose="02020603050405020304" pitchFamily="18" charset="0"/>
                <a:cs typeface="Times New Roman" panose="02020603050405020304" pitchFamily="18" charset="0"/>
              </a:rPr>
              <a:t>, “</a:t>
            </a:r>
            <a:r>
              <a:rPr lang="en-US" sz="2000" i="1" dirty="0" err="1">
                <a:latin typeface="Times New Roman" panose="02020603050405020304" pitchFamily="18" charset="0"/>
                <a:cs typeface="Times New Roman" panose="02020603050405020304" pitchFamily="18" charset="0"/>
              </a:rPr>
              <a:t>Blockchain</a:t>
            </a:r>
            <a:r>
              <a:rPr lang="en-US" sz="2000" i="1" dirty="0">
                <a:latin typeface="Times New Roman" panose="02020603050405020304" pitchFamily="18" charset="0"/>
                <a:cs typeface="Times New Roman" panose="02020603050405020304" pitchFamily="18" charset="0"/>
              </a:rPr>
              <a:t>-Based Chain of Custody in Digital Forensics: Ensuring Integrity and Legal Admissibility of Evidence,” Forensics &amp; Security Journal, vol. 1, no. 1, 2025. </a:t>
            </a: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i="1" dirty="0">
                <a:latin typeface="Times New Roman" panose="02020603050405020304" pitchFamily="18" charset="0"/>
                <a:cs typeface="Times New Roman" panose="02020603050405020304" pitchFamily="18" charset="0"/>
              </a:rPr>
              <a:t>[5] M. Crosby, P. </a:t>
            </a:r>
            <a:r>
              <a:rPr lang="en-US" sz="2000" i="1" dirty="0" err="1">
                <a:latin typeface="Times New Roman" panose="02020603050405020304" pitchFamily="18" charset="0"/>
                <a:cs typeface="Times New Roman" panose="02020603050405020304" pitchFamily="18" charset="0"/>
              </a:rPr>
              <a:t>Pattanayak</a:t>
            </a:r>
            <a:r>
              <a:rPr lang="en-US" sz="2000" i="1" dirty="0">
                <a:latin typeface="Times New Roman" panose="02020603050405020304" pitchFamily="18" charset="0"/>
                <a:cs typeface="Times New Roman" panose="02020603050405020304" pitchFamily="18" charset="0"/>
              </a:rPr>
              <a:t>, S. </a:t>
            </a:r>
            <a:r>
              <a:rPr lang="en-US" sz="2000" i="1" dirty="0" err="1">
                <a:latin typeface="Times New Roman" panose="02020603050405020304" pitchFamily="18" charset="0"/>
                <a:cs typeface="Times New Roman" panose="02020603050405020304" pitchFamily="18" charset="0"/>
              </a:rPr>
              <a:t>Verma</a:t>
            </a:r>
            <a:r>
              <a:rPr lang="en-US" sz="2000" i="1" dirty="0">
                <a:latin typeface="Times New Roman" panose="02020603050405020304" pitchFamily="18" charset="0"/>
                <a:cs typeface="Times New Roman" panose="02020603050405020304" pitchFamily="18" charset="0"/>
              </a:rPr>
              <a:t>, and V. </a:t>
            </a:r>
            <a:r>
              <a:rPr lang="en-US" sz="2000" i="1" dirty="0" err="1">
                <a:latin typeface="Times New Roman" panose="02020603050405020304" pitchFamily="18" charset="0"/>
                <a:cs typeface="Times New Roman" panose="02020603050405020304" pitchFamily="18" charset="0"/>
              </a:rPr>
              <a:t>Kalyanaraman</a:t>
            </a:r>
            <a:r>
              <a:rPr lang="en-US" sz="2000" i="1" dirty="0">
                <a:latin typeface="Times New Roman" panose="02020603050405020304" pitchFamily="18" charset="0"/>
                <a:cs typeface="Times New Roman" panose="02020603050405020304" pitchFamily="18" charset="0"/>
              </a:rPr>
              <a:t>, “</a:t>
            </a:r>
            <a:r>
              <a:rPr lang="en-US" sz="2000" i="1" dirty="0" err="1">
                <a:latin typeface="Times New Roman" panose="02020603050405020304" pitchFamily="18" charset="0"/>
                <a:cs typeface="Times New Roman" panose="02020603050405020304" pitchFamily="18" charset="0"/>
              </a:rPr>
              <a:t>Blockchain</a:t>
            </a:r>
            <a:r>
              <a:rPr lang="en-US" sz="2000" i="1" dirty="0">
                <a:latin typeface="Times New Roman" panose="02020603050405020304" pitchFamily="18" charset="0"/>
                <a:cs typeface="Times New Roman" panose="02020603050405020304" pitchFamily="18" charset="0"/>
              </a:rPr>
              <a:t> Technology: Beyond </a:t>
            </a:r>
            <a:r>
              <a:rPr lang="en-US" sz="2000" i="1" dirty="0" err="1">
                <a:latin typeface="Times New Roman" panose="02020603050405020304" pitchFamily="18" charset="0"/>
                <a:cs typeface="Times New Roman" panose="02020603050405020304" pitchFamily="18" charset="0"/>
              </a:rPr>
              <a:t>Bitcoin</a:t>
            </a:r>
            <a:r>
              <a:rPr lang="en-US" sz="2000" i="1" dirty="0">
                <a:latin typeface="Times New Roman" panose="02020603050405020304" pitchFamily="18" charset="0"/>
                <a:cs typeface="Times New Roman" panose="02020603050405020304" pitchFamily="18" charset="0"/>
              </a:rPr>
              <a:t>,” Applied Innovation Review, vol. 2, pp. 6–19, 2016. </a:t>
            </a: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i="1" dirty="0"/>
              <a:t>[6] S. </a:t>
            </a:r>
            <a:r>
              <a:rPr lang="en-US" sz="2000" i="1" dirty="0" err="1"/>
              <a:t>Nakamoto</a:t>
            </a:r>
            <a:r>
              <a:rPr lang="en-US" sz="2000" i="1" dirty="0"/>
              <a:t>, “</a:t>
            </a:r>
            <a:r>
              <a:rPr lang="en-US" sz="2000" i="1" dirty="0" err="1"/>
              <a:t>Bitcoin</a:t>
            </a:r>
            <a:r>
              <a:rPr lang="en-US" sz="2000" i="1" dirty="0"/>
              <a:t>: A Peer-to-Peer Electronic Cash System,” 2008. </a:t>
            </a:r>
            <a:endParaRPr lang="en-US"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75658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B931819-BD2D-B786-D7DD-96ABD311A155}"/>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xmlns="" id="{FF65975D-5A32-3BA7-60A4-B0594FC93BE6}"/>
              </a:ext>
            </a:extLst>
          </p:cNvPr>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dirty="0"/>
          </a:p>
        </p:txBody>
      </p:sp>
      <p:sp>
        <p:nvSpPr>
          <p:cNvPr id="7" name="object 7">
            <a:extLst>
              <a:ext uri="{FF2B5EF4-FFF2-40B4-BE49-F238E27FC236}">
                <a16:creationId xmlns:a16="http://schemas.microsoft.com/office/drawing/2014/main" xmlns="" id="{FAB1C1B7-C0F0-849D-6176-F97252B53AFF}"/>
              </a:ext>
            </a:extLst>
          </p:cNvPr>
          <p:cNvSpPr/>
          <p:nvPr/>
        </p:nvSpPr>
        <p:spPr>
          <a:xfrm>
            <a:off x="0" y="6624856"/>
            <a:ext cx="762000" cy="231331"/>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a:t>
            </a:r>
            <a:r>
              <a:rPr lang="en-US" sz="1600" dirty="0">
                <a:solidFill>
                  <a:schemeClr val="bg1"/>
                </a:solidFill>
                <a:latin typeface="Times New Roman"/>
                <a:ea typeface="+mn-lt"/>
                <a:cs typeface="Times New Roman"/>
              </a:rPr>
              <a:t>B-16</a:t>
            </a:r>
          </a:p>
        </p:txBody>
      </p:sp>
      <p:sp>
        <p:nvSpPr>
          <p:cNvPr id="10" name="object 9">
            <a:extLst>
              <a:ext uri="{FF2B5EF4-FFF2-40B4-BE49-F238E27FC236}">
                <a16:creationId xmlns:a16="http://schemas.microsoft.com/office/drawing/2014/main" xmlns="" id="{A339265E-AAA8-4E00-E070-740FC72A3D5E}"/>
              </a:ext>
            </a:extLst>
          </p:cNvPr>
          <p:cNvSpPr txBox="1">
            <a:spLocks noGrp="1"/>
          </p:cNvSpPr>
          <p:nvPr>
            <p:ph type="dt" sz="half" idx="6"/>
          </p:nvPr>
        </p:nvSpPr>
        <p:spPr>
          <a:xfrm>
            <a:off x="1123125" y="6629792"/>
            <a:ext cx="1061167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r>
              <a:rPr lang="en-US" cap="small" spc="-95" dirty="0"/>
              <a:t>                             Srinivasa Ramanujan Institute of Technology  </a:t>
            </a:r>
            <a:endParaRPr cap="small" spc="-95" dirty="0"/>
          </a:p>
        </p:txBody>
      </p:sp>
      <p:sp>
        <p:nvSpPr>
          <p:cNvPr id="22" name="object 5">
            <a:extLst>
              <a:ext uri="{FF2B5EF4-FFF2-40B4-BE49-F238E27FC236}">
                <a16:creationId xmlns:a16="http://schemas.microsoft.com/office/drawing/2014/main" xmlns="" id="{EB71B47D-3E69-3777-AECE-78AAAE31E5D7}"/>
              </a:ext>
            </a:extLst>
          </p:cNvPr>
          <p:cNvSpPr/>
          <p:nvPr/>
        </p:nvSpPr>
        <p:spPr>
          <a:xfrm>
            <a:off x="-8107" y="233044"/>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6" name="object 6">
            <a:extLst>
              <a:ext uri="{FF2B5EF4-FFF2-40B4-BE49-F238E27FC236}">
                <a16:creationId xmlns:a16="http://schemas.microsoft.com/office/drawing/2014/main" xmlns="" id="{E1CBF879-DD70-0900-2E31-B5401B0A5274}"/>
              </a:ext>
            </a:extLst>
          </p:cNvPr>
          <p:cNvSpPr txBox="1">
            <a:spLocks noGrp="1"/>
          </p:cNvSpPr>
          <p:nvPr>
            <p:ph type="title"/>
          </p:nvPr>
        </p:nvSpPr>
        <p:spPr>
          <a:xfrm>
            <a:off x="20182" y="331753"/>
            <a:ext cx="3561218" cy="689932"/>
          </a:xfrm>
          <a:prstGeom prst="rect">
            <a:avLst/>
          </a:prstGeom>
        </p:spPr>
        <p:txBody>
          <a:bodyPr vert="horz" wrap="square" lIns="0" tIns="12700" rIns="0" bIns="0" rtlCol="0">
            <a:spAutoFit/>
          </a:bodyPr>
          <a:lstStyle/>
          <a:p>
            <a:pPr marL="12700" algn="ctr">
              <a:lnSpc>
                <a:spcPct val="100000"/>
              </a:lnSpc>
            </a:pPr>
            <a:r>
              <a:rPr lang="en-IN" b="1" spc="-10" dirty="0" smtClean="0"/>
              <a:t>References</a:t>
            </a:r>
            <a:endParaRPr b="1" spc="-10" dirty="0"/>
          </a:p>
        </p:txBody>
      </p:sp>
      <p:sp>
        <p:nvSpPr>
          <p:cNvPr id="28" name="object 2">
            <a:extLst>
              <a:ext uri="{FF2B5EF4-FFF2-40B4-BE49-F238E27FC236}">
                <a16:creationId xmlns:a16="http://schemas.microsoft.com/office/drawing/2014/main" xmlns="" id="{C86D60A3-51E7-EDDD-14B9-611D39CA2A7C}"/>
              </a:ext>
            </a:extLst>
          </p:cNvPr>
          <p:cNvSpPr txBox="1"/>
          <p:nvPr/>
        </p:nvSpPr>
        <p:spPr>
          <a:xfrm>
            <a:off x="3429000" y="5249"/>
            <a:ext cx="4890061" cy="228268"/>
          </a:xfrm>
          <a:prstGeom prst="rect">
            <a:avLst/>
          </a:prstGeom>
        </p:spPr>
        <p:txBody>
          <a:bodyPr vert="horz" wrap="square" lIns="0" tIns="12700" rIns="0" bIns="0" rtlCol="0" anchor="t">
            <a:spAutoFit/>
          </a:bodyPr>
          <a:lstStyle/>
          <a:p>
            <a:pPr marL="12700" algn="ctr">
              <a:spcBef>
                <a:spcPts val="100"/>
              </a:spcBef>
            </a:pPr>
            <a:r>
              <a:rPr lang="en-US" sz="1400" dirty="0">
                <a:solidFill>
                  <a:schemeClr val="bg1"/>
                </a:solidFill>
              </a:rPr>
              <a:t>Secure Digital Forensic Evidence Storage System</a:t>
            </a:r>
            <a:endParaRPr lang="en-US" sz="1600" dirty="0">
              <a:solidFill>
                <a:schemeClr val="bg1"/>
              </a:solidFill>
              <a:latin typeface="Times New Roman"/>
              <a:cs typeface="Times New Roman"/>
            </a:endParaRPr>
          </a:p>
        </p:txBody>
      </p:sp>
      <p:sp>
        <p:nvSpPr>
          <p:cNvPr id="29" name="object 12">
            <a:extLst>
              <a:ext uri="{FF2B5EF4-FFF2-40B4-BE49-F238E27FC236}">
                <a16:creationId xmlns:a16="http://schemas.microsoft.com/office/drawing/2014/main" xmlns="" id="{170CA6EE-45D2-B17E-8404-AE48F1B3E780}"/>
              </a:ext>
            </a:extLst>
          </p:cNvPr>
          <p:cNvSpPr txBox="1">
            <a:spLocks noGrp="1"/>
          </p:cNvSpPr>
          <p:nvPr>
            <p:ph type="sldNum" sz="quarter" idx="7"/>
          </p:nvPr>
        </p:nvSpPr>
        <p:spPr>
          <a:xfrm>
            <a:off x="11858823" y="6629309"/>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23</a:t>
            </a:fld>
            <a:endParaRPr spc="-25" dirty="0"/>
          </a:p>
        </p:txBody>
      </p:sp>
      <p:sp>
        <p:nvSpPr>
          <p:cNvPr id="16" name="Rectangle 7">
            <a:extLst>
              <a:ext uri="{FF2B5EF4-FFF2-40B4-BE49-F238E27FC236}">
                <a16:creationId xmlns:a16="http://schemas.microsoft.com/office/drawing/2014/main" xmlns="" id="{5577AE71-B96D-FE4C-F625-166DDA0E0270}"/>
              </a:ext>
            </a:extLst>
          </p:cNvPr>
          <p:cNvSpPr>
            <a:spLocks noChangeArrowheads="1"/>
          </p:cNvSpPr>
          <p:nvPr/>
        </p:nvSpPr>
        <p:spPr bwMode="auto">
          <a:xfrm>
            <a:off x="683513" y="1406169"/>
            <a:ext cx="10381034" cy="3730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000" i="1" dirty="0">
                <a:latin typeface="Times New Roman" panose="02020603050405020304" pitchFamily="18" charset="0"/>
                <a:cs typeface="Times New Roman" panose="02020603050405020304" pitchFamily="18" charset="0"/>
              </a:rPr>
              <a:t>[7] M. Kohn, M. </a:t>
            </a:r>
            <a:r>
              <a:rPr lang="en-US" sz="2000" i="1" dirty="0" err="1">
                <a:latin typeface="Times New Roman" panose="02020603050405020304" pitchFamily="18" charset="0"/>
                <a:cs typeface="Times New Roman" panose="02020603050405020304" pitchFamily="18" charset="0"/>
              </a:rPr>
              <a:t>Eloff</a:t>
            </a:r>
            <a:r>
              <a:rPr lang="en-US" sz="2000" i="1" dirty="0">
                <a:latin typeface="Times New Roman" panose="02020603050405020304" pitchFamily="18" charset="0"/>
                <a:cs typeface="Times New Roman" panose="02020603050405020304" pitchFamily="18" charset="0"/>
              </a:rPr>
              <a:t>, and J. </a:t>
            </a:r>
            <a:r>
              <a:rPr lang="en-US" sz="2000" i="1" dirty="0" err="1">
                <a:latin typeface="Times New Roman" panose="02020603050405020304" pitchFamily="18" charset="0"/>
                <a:cs typeface="Times New Roman" panose="02020603050405020304" pitchFamily="18" charset="0"/>
              </a:rPr>
              <a:t>Eloff</a:t>
            </a:r>
            <a:r>
              <a:rPr lang="en-US" sz="2000" i="1" dirty="0">
                <a:latin typeface="Times New Roman" panose="02020603050405020304" pitchFamily="18" charset="0"/>
                <a:cs typeface="Times New Roman" panose="02020603050405020304" pitchFamily="18" charset="0"/>
              </a:rPr>
              <a:t>, “Integrated Digital Forensic Process Model,” Computers &amp; Security, vol. 38, pp. 103–115, 2013.</a:t>
            </a: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i="1" dirty="0">
                <a:latin typeface="Times New Roman" panose="02020603050405020304" pitchFamily="18" charset="0"/>
                <a:cs typeface="Times New Roman" panose="02020603050405020304" pitchFamily="18" charset="0"/>
              </a:rPr>
              <a:t> [8] D. R. Kuhn, E. J. Coyne, and T. R. Weil, “Adding Attributes to Role Based Access Control,” Computer, vol. 43, no. 6, pp. 79–81, 2010. </a:t>
            </a: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i="1" dirty="0">
                <a:latin typeface="Times New Roman" panose="02020603050405020304" pitchFamily="18" charset="0"/>
                <a:cs typeface="Times New Roman" panose="02020603050405020304" pitchFamily="18" charset="0"/>
              </a:rPr>
              <a:t>[9] National Institute of Standards and Technology, “Security and Privacy Controls for Information Systems,” NIST SP 800-53 Rev.5, 2020. </a:t>
            </a: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i="1" dirty="0">
                <a:latin typeface="Times New Roman" panose="02020603050405020304" pitchFamily="18" charset="0"/>
                <a:cs typeface="Times New Roman" panose="02020603050405020304" pitchFamily="18" charset="0"/>
              </a:rPr>
              <a:t>[10] P. </a:t>
            </a:r>
            <a:r>
              <a:rPr lang="en-US" sz="2000" i="1" dirty="0" err="1">
                <a:latin typeface="Times New Roman" panose="02020603050405020304" pitchFamily="18" charset="0"/>
                <a:cs typeface="Times New Roman" panose="02020603050405020304" pitchFamily="18" charset="0"/>
              </a:rPr>
              <a:t>Mell</a:t>
            </a:r>
            <a:r>
              <a:rPr lang="en-US" sz="2000" i="1" dirty="0">
                <a:latin typeface="Times New Roman" panose="02020603050405020304" pitchFamily="18" charset="0"/>
                <a:cs typeface="Times New Roman" panose="02020603050405020304" pitchFamily="18" charset="0"/>
              </a:rPr>
              <a:t> and T. </a:t>
            </a:r>
            <a:r>
              <a:rPr lang="en-US" sz="2000" i="1" dirty="0" err="1">
                <a:latin typeface="Times New Roman" panose="02020603050405020304" pitchFamily="18" charset="0"/>
                <a:cs typeface="Times New Roman" panose="02020603050405020304" pitchFamily="18" charset="0"/>
              </a:rPr>
              <a:t>Grance</a:t>
            </a:r>
            <a:r>
              <a:rPr lang="en-US" sz="2000" i="1" dirty="0">
                <a:latin typeface="Times New Roman" panose="02020603050405020304" pitchFamily="18" charset="0"/>
                <a:cs typeface="Times New Roman" panose="02020603050405020304" pitchFamily="18" charset="0"/>
              </a:rPr>
              <a:t>, “The NIST Definition of Cloud Computing,” NIST SP 800-145, 2011. </a:t>
            </a: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18161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E4989EC-E189-335A-F237-F01995E1DB17}"/>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xmlns="" id="{7A69AB61-70F8-0F9E-2D64-50A74E7103A3}"/>
              </a:ext>
            </a:extLst>
          </p:cNvPr>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dirty="0"/>
          </a:p>
        </p:txBody>
      </p:sp>
      <p:sp>
        <p:nvSpPr>
          <p:cNvPr id="7" name="object 7">
            <a:extLst>
              <a:ext uri="{FF2B5EF4-FFF2-40B4-BE49-F238E27FC236}">
                <a16:creationId xmlns:a16="http://schemas.microsoft.com/office/drawing/2014/main" xmlns="" id="{2EBFC1CA-2F19-3580-EB4B-7ED18CC47A98}"/>
              </a:ext>
            </a:extLst>
          </p:cNvPr>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a:t>
            </a:r>
            <a:r>
              <a:rPr lang="en-US" sz="1600" dirty="0">
                <a:solidFill>
                  <a:schemeClr val="bg1"/>
                </a:solidFill>
                <a:latin typeface="Times New Roman"/>
                <a:ea typeface="+mn-lt"/>
                <a:cs typeface="Times New Roman"/>
              </a:rPr>
              <a:t>B-16</a:t>
            </a:r>
          </a:p>
        </p:txBody>
      </p:sp>
      <p:sp>
        <p:nvSpPr>
          <p:cNvPr id="10" name="object 9">
            <a:extLst>
              <a:ext uri="{FF2B5EF4-FFF2-40B4-BE49-F238E27FC236}">
                <a16:creationId xmlns:a16="http://schemas.microsoft.com/office/drawing/2014/main" xmlns="" id="{6CD096F8-8F7D-C729-0A6D-A2723A09300F}"/>
              </a:ext>
            </a:extLst>
          </p:cNvPr>
          <p:cNvSpPr txBox="1">
            <a:spLocks noGrp="1"/>
          </p:cNvSpPr>
          <p:nvPr>
            <p:ph type="dt" sz="half" idx="6"/>
          </p:nvPr>
        </p:nvSpPr>
        <p:spPr>
          <a:xfrm>
            <a:off x="1138993" y="6634572"/>
            <a:ext cx="1068787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r>
              <a:rPr lang="en-IN" cap="small" spc="-95" dirty="0"/>
              <a:t>                      	 </a:t>
            </a:r>
            <a:r>
              <a:rPr lang="en-US" cap="small" spc="-95" dirty="0"/>
              <a:t> Srinivasa Ramanujan Institute of Technology</a:t>
            </a:r>
            <a:endParaRPr cap="small" spc="-95" dirty="0"/>
          </a:p>
        </p:txBody>
      </p:sp>
      <p:sp>
        <p:nvSpPr>
          <p:cNvPr id="22" name="object 5">
            <a:extLst>
              <a:ext uri="{FF2B5EF4-FFF2-40B4-BE49-F238E27FC236}">
                <a16:creationId xmlns:a16="http://schemas.microsoft.com/office/drawing/2014/main" xmlns="" id="{1ACBC29F-027F-DBF0-FA9E-DBE2D48F1DDD}"/>
              </a:ext>
            </a:extLst>
          </p:cNvPr>
          <p:cNvSpPr/>
          <p:nvPr/>
        </p:nvSpPr>
        <p:spPr>
          <a:xfrm>
            <a:off x="-1" y="233044"/>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6" name="object 6">
            <a:extLst>
              <a:ext uri="{FF2B5EF4-FFF2-40B4-BE49-F238E27FC236}">
                <a16:creationId xmlns:a16="http://schemas.microsoft.com/office/drawing/2014/main" xmlns="" id="{5A730D9C-6CC0-0BC4-E2C8-C39AAC4B318E}"/>
              </a:ext>
            </a:extLst>
          </p:cNvPr>
          <p:cNvSpPr txBox="1">
            <a:spLocks noGrp="1"/>
          </p:cNvSpPr>
          <p:nvPr>
            <p:ph type="title"/>
          </p:nvPr>
        </p:nvSpPr>
        <p:spPr>
          <a:xfrm>
            <a:off x="20182" y="331753"/>
            <a:ext cx="6152018" cy="689932"/>
          </a:xfrm>
          <a:prstGeom prst="rect">
            <a:avLst/>
          </a:prstGeom>
        </p:spPr>
        <p:txBody>
          <a:bodyPr vert="horz" wrap="square" lIns="0" tIns="12700" rIns="0" bIns="0" rtlCol="0">
            <a:spAutoFit/>
          </a:bodyPr>
          <a:lstStyle/>
          <a:p>
            <a:pPr marL="12700" algn="ctr">
              <a:lnSpc>
                <a:spcPct val="100000"/>
              </a:lnSpc>
            </a:pPr>
            <a:r>
              <a:rPr lang="en-IN" b="1" spc="-10" dirty="0" smtClean="0"/>
              <a:t>Paper Submission Proof</a:t>
            </a:r>
            <a:endParaRPr b="1" spc="-10" dirty="0"/>
          </a:p>
        </p:txBody>
      </p:sp>
      <p:sp>
        <p:nvSpPr>
          <p:cNvPr id="28" name="object 2">
            <a:extLst>
              <a:ext uri="{FF2B5EF4-FFF2-40B4-BE49-F238E27FC236}">
                <a16:creationId xmlns:a16="http://schemas.microsoft.com/office/drawing/2014/main" xmlns="" id="{C195DF4B-C3B0-4F7B-DA13-13B4A167AA02}"/>
              </a:ext>
            </a:extLst>
          </p:cNvPr>
          <p:cNvSpPr txBox="1"/>
          <p:nvPr/>
        </p:nvSpPr>
        <p:spPr>
          <a:xfrm>
            <a:off x="3604386" y="-10897"/>
            <a:ext cx="4780417" cy="259045"/>
          </a:xfrm>
          <a:prstGeom prst="rect">
            <a:avLst/>
          </a:prstGeom>
        </p:spPr>
        <p:txBody>
          <a:bodyPr vert="horz" wrap="square" lIns="0" tIns="12700" rIns="0" bIns="0" rtlCol="0" anchor="t">
            <a:spAutoFit/>
          </a:bodyPr>
          <a:lstStyle/>
          <a:p>
            <a:pPr marL="12700" algn="ctr">
              <a:spcBef>
                <a:spcPts val="100"/>
              </a:spcBef>
            </a:pPr>
            <a:r>
              <a:rPr lang="en-US" sz="1600" dirty="0">
                <a:solidFill>
                  <a:schemeClr val="bg1"/>
                </a:solidFill>
              </a:rPr>
              <a:t>Secure Digital Forensic Evidence Storage System</a:t>
            </a:r>
            <a:endParaRPr lang="en-US" sz="1600" dirty="0">
              <a:solidFill>
                <a:schemeClr val="bg1"/>
              </a:solidFill>
              <a:latin typeface="Times New Roman"/>
              <a:cs typeface="Times New Roman"/>
            </a:endParaRPr>
          </a:p>
        </p:txBody>
      </p:sp>
      <p:sp>
        <p:nvSpPr>
          <p:cNvPr id="29" name="object 12">
            <a:extLst>
              <a:ext uri="{FF2B5EF4-FFF2-40B4-BE49-F238E27FC236}">
                <a16:creationId xmlns:a16="http://schemas.microsoft.com/office/drawing/2014/main" xmlns="" id="{09864754-2FF8-4B81-6358-D3AC9D361849}"/>
              </a:ext>
            </a:extLst>
          </p:cNvPr>
          <p:cNvSpPr txBox="1">
            <a:spLocks noGrp="1"/>
          </p:cNvSpPr>
          <p:nvPr>
            <p:ph type="sldNum" sz="quarter" idx="7"/>
          </p:nvPr>
        </p:nvSpPr>
        <p:spPr>
          <a:xfrm>
            <a:off x="11858823" y="6629309"/>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24</a:t>
            </a:fld>
            <a:endParaRPr spc="-25"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335654"/>
            <a:ext cx="10058400" cy="4836546"/>
          </a:xfrm>
          <a:prstGeom prst="rect">
            <a:avLst/>
          </a:prstGeom>
        </p:spPr>
      </p:pic>
    </p:spTree>
    <p:extLst>
      <p:ext uri="{BB962C8B-B14F-4D97-AF65-F5344CB8AC3E}">
        <p14:creationId xmlns:p14="http://schemas.microsoft.com/office/powerpoint/2010/main" val="7877837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6754444" y="6624710"/>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25</a:t>
            </a:fld>
            <a:endParaRPr spc="-25" dirty="0"/>
          </a:p>
        </p:txBody>
      </p:sp>
      <p:sp>
        <p:nvSpPr>
          <p:cNvPr id="3" name="object 3"/>
          <p:cNvSpPr txBox="1">
            <a:spLocks noGrp="1"/>
          </p:cNvSpPr>
          <p:nvPr>
            <p:ph type="title"/>
          </p:nvPr>
        </p:nvSpPr>
        <p:spPr>
          <a:xfrm>
            <a:off x="414198" y="1600200"/>
            <a:ext cx="6692265" cy="320601"/>
          </a:xfrm>
          <a:prstGeom prst="rect">
            <a:avLst/>
          </a:prstGeom>
        </p:spPr>
        <p:txBody>
          <a:bodyPr vert="horz" wrap="square" lIns="0" tIns="12700" rIns="0" bIns="0" rtlCol="0">
            <a:spAutoFit/>
          </a:bodyPr>
          <a:lstStyle/>
          <a:p>
            <a:pPr marL="12700">
              <a:lnSpc>
                <a:spcPct val="100000"/>
              </a:lnSpc>
              <a:spcBef>
                <a:spcPts val="100"/>
              </a:spcBef>
            </a:pPr>
            <a:r>
              <a:rPr lang="en-US" sz="2000" dirty="0">
                <a:solidFill>
                  <a:schemeClr val="tx1"/>
                </a:solidFill>
                <a:hlinkClick r:id="rId3" action="ppaction://hlinkfile"/>
              </a:rPr>
              <a:t>https://github.com/Rashmikondeti/CSM-2025-26-BATCH-B16</a:t>
            </a:r>
            <a:endParaRPr sz="2000" dirty="0">
              <a:solidFill>
                <a:schemeClr val="tx1"/>
              </a:solidFill>
            </a:endParaRPr>
          </a:p>
        </p:txBody>
      </p:sp>
      <p:sp>
        <p:nvSpPr>
          <p:cNvPr id="8" name="object 9">
            <a:extLst>
              <a:ext uri="{FF2B5EF4-FFF2-40B4-BE49-F238E27FC236}">
                <a16:creationId xmlns:a16="http://schemas.microsoft.com/office/drawing/2014/main" xmlns="" id="{38036199-2B51-9B00-5280-3FB15D955DE6}"/>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5" name="object 2">
            <a:extLst>
              <a:ext uri="{FF2B5EF4-FFF2-40B4-BE49-F238E27FC236}">
                <a16:creationId xmlns:a16="http://schemas.microsoft.com/office/drawing/2014/main" xmlns="" id="{5D94190F-02FA-303B-279B-F732CC88B753}"/>
              </a:ext>
            </a:extLst>
          </p:cNvPr>
          <p:cNvSpPr txBox="1"/>
          <p:nvPr/>
        </p:nvSpPr>
        <p:spPr>
          <a:xfrm>
            <a:off x="3604386" y="-10897"/>
            <a:ext cx="5082413" cy="259045"/>
          </a:xfrm>
          <a:prstGeom prst="rect">
            <a:avLst/>
          </a:prstGeom>
        </p:spPr>
        <p:txBody>
          <a:bodyPr vert="horz" wrap="square" lIns="0" tIns="12700" rIns="0" bIns="0" rtlCol="0" anchor="t">
            <a:spAutoFit/>
          </a:bodyPr>
          <a:lstStyle/>
          <a:p>
            <a:pPr marL="12700" algn="ctr">
              <a:spcBef>
                <a:spcPts val="100"/>
              </a:spcBef>
            </a:pPr>
            <a:r>
              <a:rPr lang="en-US" sz="1600" dirty="0">
                <a:solidFill>
                  <a:schemeClr val="bg1"/>
                </a:solidFill>
              </a:rPr>
              <a:t>Secure Digital Forensic Evidence Storage System</a:t>
            </a:r>
            <a:endParaRPr lang="en-US" sz="1600" dirty="0">
              <a:solidFill>
                <a:schemeClr val="bg1"/>
              </a:solidFill>
              <a:latin typeface="Times New Roman"/>
              <a:cs typeface="Times New Roman"/>
            </a:endParaRPr>
          </a:p>
        </p:txBody>
      </p:sp>
      <p:sp>
        <p:nvSpPr>
          <p:cNvPr id="9" name="object 8">
            <a:extLst>
              <a:ext uri="{FF2B5EF4-FFF2-40B4-BE49-F238E27FC236}">
                <a16:creationId xmlns:a16="http://schemas.microsoft.com/office/drawing/2014/main" xmlns="" id="{244C6EFB-B7DE-99D3-22A4-6086FD307999}"/>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nchor="t">
            <a:spAutoFit/>
          </a:bodyPr>
          <a:lstStyle/>
          <a:p>
            <a:pPr marL="12700">
              <a:lnSpc>
                <a:spcPts val="1845"/>
              </a:lnSpc>
            </a:pPr>
            <a:r>
              <a:rPr lang="en-IN" spc="-25" dirty="0"/>
              <a:t>B - 16</a:t>
            </a:r>
            <a:endParaRPr spc="-25" dirty="0"/>
          </a:p>
        </p:txBody>
      </p:sp>
      <p:sp>
        <p:nvSpPr>
          <p:cNvPr id="10" name="object 5">
            <a:extLst>
              <a:ext uri="{FF2B5EF4-FFF2-40B4-BE49-F238E27FC236}">
                <a16:creationId xmlns:a16="http://schemas.microsoft.com/office/drawing/2014/main" xmlns="" id="{1ACBC29F-027F-DBF0-FA9E-DBE2D48F1DDD}"/>
              </a:ext>
            </a:extLst>
          </p:cNvPr>
          <p:cNvSpPr/>
          <p:nvPr/>
        </p:nvSpPr>
        <p:spPr>
          <a:xfrm>
            <a:off x="-1" y="233044"/>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lang="en-US" sz="2800" dirty="0" smtClean="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   </a:t>
            </a:r>
            <a:r>
              <a:rPr lang="en-US" sz="2800" b="1" dirty="0" smtClean="0">
                <a:solidFill>
                  <a:schemeClr val="bg1"/>
                </a:solidFill>
                <a:latin typeface="Times New Roman" panose="02020603050405020304" pitchFamily="18" charset="0"/>
                <a:cs typeface="Times New Roman" panose="02020603050405020304" pitchFamily="18" charset="0"/>
              </a:rPr>
              <a:t>GITHUB LINK</a:t>
            </a:r>
          </a:p>
          <a:p>
            <a:endParaRPr sz="2800" dirty="0">
              <a:latin typeface="Times New Roman" panose="02020603050405020304" pitchFamily="18" charset="0"/>
              <a:cs typeface="Times New Roman" panose="02020603050405020304" pitchFamily="18" charset="0"/>
            </a:endParaRPr>
          </a:p>
        </p:txBody>
      </p:sp>
      <p:sp>
        <p:nvSpPr>
          <p:cNvPr id="2" name="TextBox 1"/>
          <p:cNvSpPr txBox="1"/>
          <p:nvPr/>
        </p:nvSpPr>
        <p:spPr>
          <a:xfrm>
            <a:off x="399607" y="394784"/>
            <a:ext cx="4419600" cy="769441"/>
          </a:xfrm>
          <a:prstGeom prst="rect">
            <a:avLst/>
          </a:prstGeom>
          <a:noFill/>
        </p:spPr>
        <p:txBody>
          <a:bodyPr wrap="square" rtlCol="0">
            <a:spAutoFit/>
          </a:bodyPr>
          <a:lstStyle/>
          <a:p>
            <a:endParaRPr lang="en-US" sz="4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7147577" y="6629311"/>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26</a:t>
            </a:fld>
            <a:endParaRPr spc="-25" dirty="0"/>
          </a:p>
        </p:txBody>
      </p:sp>
      <p:sp>
        <p:nvSpPr>
          <p:cNvPr id="3" name="object 3"/>
          <p:cNvSpPr txBox="1">
            <a:spLocks noGrp="1"/>
          </p:cNvSpPr>
          <p:nvPr>
            <p:ph type="title"/>
          </p:nvPr>
        </p:nvSpPr>
        <p:spPr>
          <a:xfrm>
            <a:off x="2826638" y="2249889"/>
            <a:ext cx="6698362" cy="1486946"/>
          </a:xfrm>
          <a:prstGeom prst="rect">
            <a:avLst/>
          </a:prstGeom>
        </p:spPr>
        <p:txBody>
          <a:bodyPr vert="horz" wrap="square" lIns="0" tIns="12700" rIns="0" bIns="0" rtlCol="0">
            <a:spAutoFit/>
          </a:bodyPr>
          <a:lstStyle/>
          <a:p>
            <a:pPr marL="12700" marR="5080" algn="l">
              <a:lnSpc>
                <a:spcPct val="107000"/>
              </a:lnSpc>
              <a:spcBef>
                <a:spcPts val="100"/>
              </a:spcBef>
            </a:pPr>
            <a:r>
              <a:rPr sz="9600" i="1" spc="-10" dirty="0">
                <a:solidFill>
                  <a:srgbClr val="FF6600"/>
                </a:solidFill>
                <a:latin typeface="Times New Roman"/>
                <a:cs typeface="Times New Roman"/>
              </a:rPr>
              <a:t>Thank</a:t>
            </a:r>
            <a:r>
              <a:rPr lang="en-IN" sz="9600" i="1" spc="-10" dirty="0">
                <a:solidFill>
                  <a:srgbClr val="FF6600"/>
                </a:solidFill>
                <a:latin typeface="Times New Roman"/>
                <a:cs typeface="Times New Roman"/>
              </a:rPr>
              <a:t> </a:t>
            </a:r>
            <a:r>
              <a:rPr sz="9600" i="1" spc="-10" dirty="0">
                <a:solidFill>
                  <a:srgbClr val="FF6600"/>
                </a:solidFill>
                <a:latin typeface="Times New Roman"/>
                <a:cs typeface="Times New Roman"/>
              </a:rPr>
              <a:t>You!!!</a:t>
            </a:r>
            <a:endParaRPr sz="9600" dirty="0">
              <a:latin typeface="Times New Roman"/>
              <a:cs typeface="Times New Roman"/>
            </a:endParaRPr>
          </a:p>
        </p:txBody>
      </p:sp>
      <p:sp>
        <p:nvSpPr>
          <p:cNvPr id="8" name="object 9">
            <a:extLst>
              <a:ext uri="{FF2B5EF4-FFF2-40B4-BE49-F238E27FC236}">
                <a16:creationId xmlns:a16="http://schemas.microsoft.com/office/drawing/2014/main" xmlns="" id="{54D73473-8B89-25C7-80BC-FF44172E7C40}"/>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9" name="object 8">
            <a:extLst>
              <a:ext uri="{FF2B5EF4-FFF2-40B4-BE49-F238E27FC236}">
                <a16:creationId xmlns:a16="http://schemas.microsoft.com/office/drawing/2014/main" xmlns="" id="{FA43E41F-06F6-DED8-0E94-DA7D49A8DDAE}"/>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nchor="t">
            <a:spAutoFit/>
          </a:bodyPr>
          <a:lstStyle/>
          <a:p>
            <a:pPr marL="12700">
              <a:lnSpc>
                <a:spcPts val="1845"/>
              </a:lnSpc>
            </a:pPr>
            <a:r>
              <a:rPr lang="en-IN" spc="-25" dirty="0"/>
              <a:t>B - 16</a:t>
            </a:r>
            <a:endParaRPr spc="-25" dirty="0"/>
          </a:p>
        </p:txBody>
      </p:sp>
      <p:sp>
        <p:nvSpPr>
          <p:cNvPr id="2" name="TextBox 1">
            <a:extLst>
              <a:ext uri="{FF2B5EF4-FFF2-40B4-BE49-F238E27FC236}">
                <a16:creationId xmlns:a16="http://schemas.microsoft.com/office/drawing/2014/main" xmlns="" id="{14D708BE-FDB5-5582-CE10-A217CBCEBA85}"/>
              </a:ext>
            </a:extLst>
          </p:cNvPr>
          <p:cNvSpPr txBox="1"/>
          <p:nvPr/>
        </p:nvSpPr>
        <p:spPr>
          <a:xfrm>
            <a:off x="3280219" y="-17206"/>
            <a:ext cx="5791200" cy="307777"/>
          </a:xfrm>
          <a:prstGeom prst="rect">
            <a:avLst/>
          </a:prstGeom>
          <a:noFill/>
        </p:spPr>
        <p:txBody>
          <a:bodyPr wrap="square" rtlCol="0">
            <a:spAutoFit/>
          </a:bodyPr>
          <a:lstStyle/>
          <a:p>
            <a:pPr algn="ctr"/>
            <a:r>
              <a:rPr lang="en-US" sz="1400" dirty="0">
                <a:solidFill>
                  <a:schemeClr val="bg1"/>
                </a:solidFill>
              </a:rPr>
              <a:t>Secure Digital Forensic Evidence Storage System</a:t>
            </a:r>
            <a:endParaRPr lang="en-US" sz="1400" dirty="0">
              <a:solidFill>
                <a:schemeClr val="bg1"/>
              </a:solidFill>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563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2123</TotalTime>
  <Words>2259</Words>
  <Application>Microsoft Office PowerPoint</Application>
  <PresentationFormat>Widescreen</PresentationFormat>
  <Paragraphs>300</Paragraphs>
  <Slides>26</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Times New Roman</vt:lpstr>
      <vt:lpstr>Office Theme</vt:lpstr>
      <vt:lpstr>A Blockchain-Integrated Hybrid Cryptographic Framework For Secure and Tamper-Resistant Digital Forensic Evidence Storage System</vt:lpstr>
      <vt:lpstr>Abstract</vt:lpstr>
      <vt:lpstr>Contents</vt:lpstr>
      <vt:lpstr>Introduction</vt:lpstr>
      <vt:lpstr>Existing System</vt:lpstr>
      <vt:lpstr>Literature Survey for Objectives</vt:lpstr>
      <vt:lpstr>Objectives</vt:lpstr>
      <vt:lpstr>Proposed System</vt:lpstr>
      <vt:lpstr>Proposed System</vt:lpstr>
      <vt:lpstr>Requirements</vt:lpstr>
      <vt:lpstr>Requirements</vt:lpstr>
      <vt:lpstr>Requirements</vt:lpstr>
      <vt:lpstr>Proposed System</vt:lpstr>
      <vt:lpstr>Workflow and Implementation</vt:lpstr>
      <vt:lpstr>Contd..</vt:lpstr>
      <vt:lpstr>Contd..</vt:lpstr>
      <vt:lpstr>Contd..</vt:lpstr>
      <vt:lpstr>Contd..</vt:lpstr>
      <vt:lpstr>Contd..</vt:lpstr>
      <vt:lpstr>Result</vt:lpstr>
      <vt:lpstr>Conclusion</vt:lpstr>
      <vt:lpstr>References</vt:lpstr>
      <vt:lpstr>References</vt:lpstr>
      <vt:lpstr>Paper Submission Proof</vt:lpstr>
      <vt:lpstr>https://github.com/Rashmikondeti/CSM-2025-26-BATCH-B16</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Biofloc Aquaculture: ML predictions with IOT Based Monitoring and Alerts</dc:title>
  <dc:creator>Revathi Reddy</dc:creator>
  <cp:lastModifiedBy>USER</cp:lastModifiedBy>
  <cp:revision>804</cp:revision>
  <dcterms:created xsi:type="dcterms:W3CDTF">2025-09-12T04:18:11Z</dcterms:created>
  <dcterms:modified xsi:type="dcterms:W3CDTF">2026-04-09T04:53:49Z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Creator">
    <vt:lpwstr>Google</vt:lpwstr>
  </property>
  <property fmtid="{D5CDD505-2E9C-101B-9397-08002B2CF9AE}" pid="4" name="LastSaved">
    <vt:filetime>2025-09-12T00:00:00Z</vt:filetime>
  </property>
</Properties>
</file>